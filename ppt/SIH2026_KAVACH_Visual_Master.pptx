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KAVACH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2563EB"/>
                </a:solidFill>
                <a:latin typeface="Arial"/>
              </a:defRPr>
            </a:pPr>
            <a:r>
              <a:t>Sovereign Agentic AI Workbench for Confidential Industrial Work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>
              <a:defRPr sz="1200" b="1">
                <a:solidFill>
                  <a:srgbClr val="64748B"/>
                </a:solidFill>
                <a:latin typeface="Arial"/>
              </a:defRPr>
            </a:pPr>
            <a:r>
              <a:t>Problem Statement ID: </a:t>
            </a:r>
            <a:r>
              <a:rPr sz="1200" b="1">
                <a:solidFill>
                  <a:srgbClr val="EA580C"/>
                </a:solidFill>
                <a:latin typeface="Arial"/>
              </a:rPr>
              <a:t>SIH26117</a:t>
            </a:r>
          </a:p>
          <a:p>
            <a:pPr>
              <a:defRPr sz="1200" b="1">
                <a:solidFill>
                  <a:srgbClr val="64748B"/>
                </a:solidFill>
                <a:latin typeface="Arial"/>
              </a:defRPr>
            </a:pPr>
            <a:r>
              <a:t>Theme: </a:t>
            </a:r>
            <a:r>
              <a:rPr sz="1200" b="0">
                <a:solidFill>
                  <a:srgbClr val="0F172A"/>
                </a:solidFill>
                <a:latin typeface="Arial"/>
              </a:rPr>
              <a:t>Smart Automation</a:t>
            </a:r>
          </a:p>
          <a:p>
            <a:pPr>
              <a:defRPr sz="1200" b="1">
                <a:solidFill>
                  <a:srgbClr val="64748B"/>
                </a:solidFill>
                <a:latin typeface="Arial"/>
              </a:defRPr>
            </a:pPr>
            <a:r>
              <a:t>PS Category: </a:t>
            </a:r>
            <a:r>
              <a:rPr sz="1200" b="0">
                <a:solidFill>
                  <a:srgbClr val="0F172A"/>
                </a:solidFill>
                <a:latin typeface="Arial"/>
              </a:rPr>
              <a:t>Software</a:t>
            </a:r>
          </a:p>
          <a:p>
            <a:pPr>
              <a:defRPr sz="1200" b="1">
                <a:solidFill>
                  <a:srgbClr val="64748B"/>
                </a:solidFill>
                <a:latin typeface="Arial"/>
              </a:defRPr>
            </a:pPr>
            <a:r>
              <a:t>Organization: </a:t>
            </a:r>
            <a:r>
              <a:rPr sz="1200" b="1">
                <a:solidFill>
                  <a:srgbClr val="0D9488"/>
                </a:solidFill>
                <a:latin typeface="Arial"/>
              </a:rPr>
              <a:t>Mangalore Refinery &amp; Petrochemicals Ltd. (MRPL)</a:t>
            </a:r>
          </a:p>
          <a:p>
            <a:pPr>
              <a:defRPr sz="1200" b="1">
                <a:solidFill>
                  <a:srgbClr val="64748B"/>
                </a:solidFill>
                <a:latin typeface="Arial"/>
              </a:defRPr>
            </a:pPr>
            <a:r>
              <a:t>Team ID: </a:t>
            </a:r>
            <a:r>
              <a:rPr sz="1200" b="0">
                <a:solidFill>
                  <a:srgbClr val="2563EB"/>
                </a:solidFill>
                <a:latin typeface="Arial"/>
              </a:rPr>
              <a:t>[TEAM ID]</a:t>
            </a:r>
          </a:p>
          <a:p>
            <a:pPr>
              <a:defRPr sz="1200" b="1">
                <a:solidFill>
                  <a:srgbClr val="64748B"/>
                </a:solidFill>
                <a:latin typeface="Arial"/>
              </a:defRPr>
            </a:pPr>
            <a:r>
              <a:t>Team Name: </a:t>
            </a:r>
            <a:r>
              <a:rPr sz="1200" b="0">
                <a:solidFill>
                  <a:srgbClr val="2563EB"/>
                </a:solidFill>
                <a:latin typeface="Arial"/>
              </a:rPr>
              <a:t>[TEAM NAME]</a:t>
            </a:r>
          </a:p>
          <a:p>
            <a:pPr>
              <a:defRPr sz="1100" i="1">
                <a:solidFill>
                  <a:srgbClr val="10B981"/>
                </a:solidFill>
                <a:latin typeface="Arial"/>
              </a:defRPr>
            </a:pPr>
            <a:r>
              <a:t>"Claude/Codex-grade intelligence. Zero data leaves the fence."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1900" b="1">
                <a:solidFill>
                  <a:srgbClr val="0F172A"/>
                </a:solidFill>
                <a:latin typeface="Arial"/>
              </a:defRPr>
            </a:pPr>
            <a:r>
              <a:t>PROPOSED SOLUTION: KAVACH SOVEREIGN WORKBENCH</a:t>
            </a:r>
          </a:p>
          <a:p>
            <a:pPr>
              <a:defRPr sz="1050" b="0">
                <a:solidFill>
                  <a:srgbClr val="2563EB"/>
                </a:solidFill>
                <a:latin typeface="Arial"/>
              </a:defRPr>
            </a:pPr>
            <a:r>
              <a:t>From Confidential Industrial Data to Verified Deliverable — 100% On-Premise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2" name="Picture 15361" descr="slide2_solution_h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88720"/>
            <a:ext cx="11274552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1900" b="1">
                <a:solidFill>
                  <a:srgbClr val="0F172A"/>
                </a:solidFill>
                <a:latin typeface="Arial"/>
              </a:defRPr>
            </a:pPr>
            <a:r>
              <a:t>TECHNICAL APPROACH: AIR-GAPPED SYSTEM ARCHITECTURE</a:t>
            </a:r>
          </a:p>
          <a:p>
            <a:pPr>
              <a:defRPr sz="1050" b="0">
                <a:solidFill>
                  <a:srgbClr val="2563EB"/>
                </a:solidFill>
                <a:latin typeface="Arial"/>
              </a:defRPr>
            </a:pPr>
            <a:r>
              <a:t>End-to-End Multimodal Layer Stack with Zero External Data Egress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lide3_architecture_h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88720"/>
            <a:ext cx="11274552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1900" b="1">
                <a:solidFill>
                  <a:srgbClr val="0F172A"/>
                </a:solidFill>
                <a:latin typeface="Arial"/>
              </a:defRPr>
            </a:pPr>
            <a:r>
              <a:t>FEASIBILITY, RISK MITIGATION &amp; SCALABILITY ROADMAP</a:t>
            </a:r>
          </a:p>
          <a:p>
            <a:pPr>
              <a:defRPr sz="1050" b="0">
                <a:solidFill>
                  <a:srgbClr val="2563EB"/>
                </a:solidFill>
                <a:latin typeface="Arial"/>
              </a:defRPr>
            </a:pPr>
            <a:r>
              <a:t>Practical On-Premise Deployment Validated for Industrial Infrastructure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280160"/>
            <a:ext cx="539496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0F172A"/>
                </a:solidFill>
                <a:latin typeface="Arial"/>
              </a:defRPr>
            </a:pPr>
            <a:r>
              <a:t>⚙️ Technical Feasibility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• Open-weight models deployable locally today via Ollama runtime.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• Runs efficiently on standard workstations (Intel i7/i9, 16-32GB RAM).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• In-memory cosine vector store eliminates database setup burden.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79" y="1280160"/>
            <a:ext cx="539496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0F172A"/>
                </a:solidFill>
                <a:latin typeface="Arial"/>
              </a:defRPr>
            </a:pPr>
            <a:r>
              <a:t>🚀 Deployment Feasibility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• Standalone MVP operable on single industrial PC or GPU workstation.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• Seamlessly scales to multi-GPU server clusters without code change.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• 100% offline installation; air-gapped LAN deployment ready.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3291840"/>
            <a:ext cx="539496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0F172A"/>
                </a:solidFill>
                <a:latin typeface="Arial"/>
              </a:defRPr>
            </a:pPr>
            <a:r>
              <a:t>🛡️ Operational Feasibility &amp; Risk Strategy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• Risk: CPU latency ➔ Mitigation: 4-bit/8-bit quantization (Q8_0/Q4_K_M).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• Risk: Document noise ➔ Mitigation: GLM-OCR structured text filtering.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• Risk: Hallucination ➔ Mitigation: Strict grounded prompt with source citations.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26479" y="3291840"/>
            <a:ext cx="539496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0F172A"/>
                </a:solidFill>
                <a:latin typeface="Arial"/>
              </a:defRPr>
            </a:pPr>
            <a:r>
              <a:t>📈 Scalability &amp; Future Growth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• Modular model swapping: upgrade to 14B/32B models as hardware scales.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• Extendable tool catalogue: add Python sandbox, SQL connectors, CAD viewers.</a:t>
            </a:r>
          </a:p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• Enterprise scale: Single PC ➔ On-Prem Server ➔ Multi-User Refinery Cluster.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48640" y="5303520"/>
            <a:ext cx="1106424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0B981"/>
                </a:solidFill>
                <a:latin typeface="Arial"/>
              </a:defRPr>
            </a:pPr>
            <a:r>
              <a:t>DEPLOYMENT MATURITY TIMELINE: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[MVP PHASE: Single Workstation / Local PC]  ➔  [PRODUCTION PHASE: On-Premise GPU Server]  ➔  [ENTERPRISE: Multi-User Air-Gapped Cluster]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1900" b="1">
                <a:solidFill>
                  <a:srgbClr val="0F172A"/>
                </a:solidFill>
                <a:latin typeface="Arial"/>
              </a:defRPr>
            </a:pPr>
            <a:r>
              <a:t>IMPACT, BENEFICIARIES &amp; VALUE FOR MRPL REFINERY</a:t>
            </a:r>
          </a:p>
          <a:p>
            <a:pPr>
              <a:defRPr sz="1050" b="0">
                <a:solidFill>
                  <a:srgbClr val="2563EB"/>
                </a:solidFill>
                <a:latin typeface="Arial"/>
              </a:defRPr>
            </a:pPr>
            <a:r>
              <a:t>Tangible Operational, Safety &amp; Economic Gains Across Industrial Operations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lide5_workflow_h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88720"/>
            <a:ext cx="11274552" cy="489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1900" b="1">
                <a:solidFill>
                  <a:srgbClr val="0F172A"/>
                </a:solidFill>
                <a:latin typeface="Arial"/>
              </a:defRPr>
            </a:pPr>
            <a:r>
              <a:t>RESEARCH, DIFFERENTIATION MATRIX &amp; REFERENCES</a:t>
            </a:r>
          </a:p>
          <a:p>
            <a:pPr>
              <a:defRPr sz="1050" b="0">
                <a:solidFill>
                  <a:srgbClr val="2563EB"/>
                </a:solidFill>
                <a:latin typeface="Arial"/>
              </a:defRPr>
            </a:pPr>
            <a:r>
              <a:t>Academic Foundations, Model Benchmarks &amp; Competitive Differentiators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234440"/>
            <a:ext cx="269748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Open-Weight LLMs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337560" y="1234440"/>
            <a:ext cx="269748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Local Inference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79" y="1234440"/>
            <a:ext cx="269748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Agent Orchestration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915399" y="1234440"/>
            <a:ext cx="269748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Grounded RAG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48640" y="1645920"/>
            <a:ext cx="269748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Multimodal Vision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337560" y="1645920"/>
            <a:ext cx="269748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GLM-OCR Engine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26479" y="1645920"/>
            <a:ext cx="269748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Sandboxed Tools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915399" y="1645920"/>
            <a:ext cx="269748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Real Deliverables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48640" y="2148840"/>
            <a:ext cx="110642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COMPETITIVE DIFFERENTIATION: KAVACH vs. GENERIC CLOUD COPILOTS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• 100% On-Premise Execution: [KAVACH: YES (Local HW)] vs [Cloud Copilots: NO (Remote Data Egress)]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• Strict Air-Gapped Network Operation: [KAVACH: YES (No Internet Needed)] vs [Cloud Copilots: NO (Always Online)]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• Multi-Model Dynamic Task Routing: [KAVACH: YES (Specialist Coder/OCR)] vs [Cloud Copilots: NO (Single Monolith)]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• Scanned Document &amp; Image OCR: [KAVACH: YES (Integrated GLM-OCR)] vs [Cloud Copilots: ⚠️ Limited/Paid Cloud Addon]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• Verified Real File Deliverables: [KAVACH: YES (DOCX, PPTX, XLSX, Code)] vs [Cloud Copilots: ❌ Chatbot Text Only]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• Network Audit &amp; Zero-Egress Proof: [KAVACH: YES (Tamper-Proof Logs)] vs [Cloud Copilots: ❌ Third-Party Blackbox]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48640" y="4343400"/>
            <a:ext cx="11064240" cy="17830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  <a:latin typeface="Arial"/>
              </a:defRPr>
            </a:pPr>
            <a:r>
              <a:t>KEY RESEARCH &amp; BENCHMARK REFERENCES: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• Qwen 3.5 &amp; Qwen 2.5-Coder: Open-Weight Large Language Models for Reasoning &amp; Code (Alibaba Cloud Research, 2024-2025)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• GLM-OCR: Generalized Multimodal Model for Visual Document Understanding and Text Extraction (Zhipu AI, 2025)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• Nomic Embed Text: High-Dimensional Contextual Vector Representations for Dense Retrieval (Nussbaum et al., 2024)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• Retrieval-Augmented Generation for Knowledge-Intensive NLP Tasks (Lewis et al., NeurIPS Research Standards)</a:t>
            </a:r>
          </a:p>
          <a:p>
            <a:pPr>
              <a:defRPr sz="850">
                <a:solidFill>
                  <a:srgbClr val="E2E8F0"/>
                </a:solidFill>
                <a:latin typeface="Arial"/>
              </a:defRPr>
            </a:pPr>
            <a:r>
              <a:t>• Mangalore Refinery and Petrochemicals Limited (MRPL) — PS 26117 On-Premise Industrial AI Workbench Requirements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