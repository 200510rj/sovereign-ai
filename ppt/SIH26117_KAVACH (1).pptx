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image" Target="../media/image-3-1.png"/><Relationship Id="rId7" Type="http://schemas.openxmlformats.org/officeDocument/2006/relationships/image" Target="../media/image-3-1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image" Target="../media/image-6-1.png"/><Relationship Id="rId8" Type="http://schemas.openxmlformats.org/officeDocument/2006/relationships/image" Target="../media/image-6-1.png"/><Relationship Id="rId9" Type="http://schemas.openxmlformats.org/officeDocument/2006/relationships/image" Target="../media/image-6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943600" cy="59436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4206240" cy="4206240"/>
          </a:xfrm>
          <a:prstGeom prst="ellipse">
            <a:avLst/>
          </a:prstGeom>
          <a:solidFill>
            <a:srgbClr val="2C477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KAVACH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Agentic AI Workbench for Confidential Industrial Work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054096"/>
            <a:ext cx="54864" cy="310896"/>
          </a:xfrm>
          <a:prstGeom prst="rect">
            <a:avLst/>
          </a:prstGeom>
          <a:solidFill>
            <a:srgbClr val="00E5A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46120" y="2971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SIH26117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3438144"/>
            <a:ext cx="54864" cy="310896"/>
          </a:xfrm>
          <a:prstGeom prst="rect">
            <a:avLst/>
          </a:prstGeom>
          <a:solidFill>
            <a:srgbClr val="00E5A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558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46120" y="335584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Automation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3822192"/>
            <a:ext cx="54864" cy="310896"/>
          </a:xfrm>
          <a:prstGeom prst="rect">
            <a:avLst/>
          </a:prstGeom>
          <a:solidFill>
            <a:srgbClr val="00E5A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7398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46120" y="373989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4206240"/>
            <a:ext cx="54864" cy="310896"/>
          </a:xfrm>
          <a:prstGeom prst="rect">
            <a:avLst/>
          </a:prstGeom>
          <a:solidFill>
            <a:srgbClr val="00E5A8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12394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46120" y="412394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Mangalore Refinery &amp; Petrochemicals Ltd. (MRPL)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" y="4590288"/>
            <a:ext cx="54864" cy="310896"/>
          </a:xfrm>
          <a:prstGeom prst="rect">
            <a:avLst/>
          </a:prstGeom>
          <a:solidFill>
            <a:srgbClr val="00E5A8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5079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46120" y="45079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ID]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8368" y="4974336"/>
            <a:ext cx="54864" cy="310896"/>
          </a:xfrm>
          <a:prstGeom prst="rect">
            <a:avLst/>
          </a:prstGeom>
          <a:solidFill>
            <a:srgbClr val="00E5A8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892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246120" y="4892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818120" y="1691640"/>
            <a:ext cx="3931920" cy="3931920"/>
          </a:xfrm>
          <a:prstGeom prst="ellipse">
            <a:avLst/>
          </a:prstGeom>
          <a:solidFill>
            <a:srgbClr val="16264F"/>
          </a:solidFill>
          <a:ln w="19050">
            <a:solidFill>
              <a:srgbClr val="2C4770"/>
            </a:solidFill>
            <a:prstDash val="solid"/>
          </a:ln>
        </p:spPr>
      </p:sp>
      <p:pic>
        <p:nvPicPr>
          <p:cNvPr id="26" name="Image 0" descr="/home/claude/sih/icons/shield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2606040"/>
            <a:ext cx="1920240" cy="1920240"/>
          </a:xfrm>
          <a:prstGeom prst="rect">
            <a:avLst/>
          </a:prstGeom>
        </p:spPr>
      </p:pic>
      <p:pic>
        <p:nvPicPr>
          <p:cNvPr id="27" name="Image 1" descr="/home/claude/sih/icons/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3273552"/>
            <a:ext cx="768096" cy="768096"/>
          </a:xfrm>
          <a:prstGeom prst="rect">
            <a:avLst/>
          </a:prstGeom>
        </p:spPr>
      </p:pic>
      <p:pic>
        <p:nvPicPr>
          <p:cNvPr id="28" name="Image 2" descr="/home/claude/sih/icons/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1965960"/>
            <a:ext cx="566928" cy="566928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10716768" y="1965960"/>
            <a:ext cx="566928" cy="566928"/>
          </a:xfrm>
          <a:prstGeom prst="line">
            <a:avLst/>
          </a:prstGeom>
          <a:noFill/>
          <a:ln w="38100">
            <a:solidFill>
              <a:srgbClr val="E5484D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818120" y="5623560"/>
            <a:ext cx="3977640" cy="566928"/>
          </a:xfrm>
          <a:prstGeom prst="roundRect">
            <a:avLst>
              <a:gd name="adj" fmla="val 50000"/>
            </a:avLst>
          </a:prstGeom>
          <a:solidFill>
            <a:srgbClr val="16264F"/>
          </a:solidFill>
          <a:ln w="15875">
            <a:solidFill>
              <a:srgbClr val="00E5A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818120" y="562356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DATA NEVER LEAVES PREMISES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640080" y="598932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"Claude/Codex-grade intelligence. Zero data leaves the fence."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Confidential Data to a Verified Deliverable — Fully On-Premise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331720" cy="841248"/>
          </a:xfrm>
          <a:prstGeom prst="roundRect">
            <a:avLst>
              <a:gd name="adj" fmla="val 10870"/>
            </a:avLst>
          </a:prstGeom>
          <a:solidFill>
            <a:srgbClr val="1F3A5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2148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50" dirty="0"/>
          </a:p>
        </p:txBody>
      </p:sp>
      <p:pic>
        <p:nvPicPr>
          <p:cNvPr id="6" name="Image 0" descr="/home/claude/sih/icons/arrowdown_s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628" y="2103120"/>
            <a:ext cx="237744" cy="2377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368296"/>
            <a:ext cx="2331720" cy="841248"/>
          </a:xfrm>
          <a:prstGeom prst="roundRect">
            <a:avLst>
              <a:gd name="adj" fmla="val 10870"/>
            </a:avLst>
          </a:prstGeom>
          <a:solidFill>
            <a:srgbClr val="1F3A5F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68296"/>
            <a:ext cx="2148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DATA</a:t>
            </a:r>
            <a:endParaRPr lang="en-US" sz="1250" dirty="0"/>
          </a:p>
        </p:txBody>
      </p:sp>
      <p:pic>
        <p:nvPicPr>
          <p:cNvPr id="9" name="Image 1" descr="/home/claude/sih/icons/arrowdown_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" y="3236976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3502152"/>
            <a:ext cx="2331720" cy="841248"/>
          </a:xfrm>
          <a:prstGeom prst="roundRect">
            <a:avLst>
              <a:gd name="adj" fmla="val 10870"/>
            </a:avLst>
          </a:prstGeom>
          <a:solidFill>
            <a:srgbClr val="00A87D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" y="3502152"/>
            <a:ext cx="2148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 — SOVEREIGN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WORKBENCH</a:t>
            </a:r>
            <a:endParaRPr lang="en-US" sz="1250" dirty="0"/>
          </a:p>
        </p:txBody>
      </p:sp>
      <p:pic>
        <p:nvPicPr>
          <p:cNvPr id="12" name="Image 2" descr="/home/claude/sih/icons/arrowdown_sl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4370832"/>
            <a:ext cx="237744" cy="23774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48640" y="4636008"/>
            <a:ext cx="2331720" cy="841248"/>
          </a:xfrm>
          <a:prstGeom prst="roundRect">
            <a:avLst>
              <a:gd name="adj" fmla="val 10870"/>
            </a:avLst>
          </a:prstGeom>
          <a:solidFill>
            <a:srgbClr val="0F1B3C"/>
          </a:solidFill>
          <a:ln/>
        </p:spPr>
      </p:sp>
      <p:sp>
        <p:nvSpPr>
          <p:cNvPr id="14" name="Text 9"/>
          <p:cNvSpPr/>
          <p:nvPr/>
        </p:nvSpPr>
        <p:spPr>
          <a:xfrm>
            <a:off x="640080" y="4636008"/>
            <a:ext cx="2148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INDUSTRIAL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3246120" y="1234440"/>
            <a:ext cx="41148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CACC7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410712" y="1399032"/>
            <a:ext cx="512064" cy="512064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17" name="Image 3" descr="/home/claude/sih/icons/chip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151790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032504" y="134416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Local AI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4032504" y="1655064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org GPUs · no cloud inference · air-gapped</a:t>
            </a:r>
            <a:endParaRPr lang="en-US" sz="1030" dirty="0"/>
          </a:p>
        </p:txBody>
      </p:sp>
      <p:sp>
        <p:nvSpPr>
          <p:cNvPr id="20" name="Shape 14"/>
          <p:cNvSpPr/>
          <p:nvPr/>
        </p:nvSpPr>
        <p:spPr>
          <a:xfrm>
            <a:off x="7616952" y="1234440"/>
            <a:ext cx="41148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CACC7">
                <a:alpha val="3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781544" y="1399032"/>
            <a:ext cx="512064" cy="512064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22" name="Image 4" descr="/home/claude/sih/icons/router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416" y="1517904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403336" y="134416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Model Router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8403336" y="1655064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Auto-selects Reasoning / Coding / Vision model per task</a:t>
            </a:r>
            <a:endParaRPr lang="en-US" sz="1030" dirty="0"/>
          </a:p>
        </p:txBody>
      </p:sp>
      <p:sp>
        <p:nvSpPr>
          <p:cNvPr id="25" name="Shape 18"/>
          <p:cNvSpPr/>
          <p:nvPr/>
        </p:nvSpPr>
        <p:spPr>
          <a:xfrm>
            <a:off x="3246120" y="2587752"/>
            <a:ext cx="41148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CACC7">
                <a:alpha val="3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410712" y="2752344"/>
            <a:ext cx="512064" cy="512064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27" name="Image 5" descr="/home/claude/sih/icons/gear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9584" y="2871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032504" y="269748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Execution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4032504" y="3008376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Plans, acts and verifies multi-step tasks autonomously</a:t>
            </a:r>
            <a:endParaRPr lang="en-US" sz="1030" dirty="0"/>
          </a:p>
        </p:txBody>
      </p:sp>
      <p:sp>
        <p:nvSpPr>
          <p:cNvPr id="30" name="Shape 22"/>
          <p:cNvSpPr/>
          <p:nvPr/>
        </p:nvSpPr>
        <p:spPr>
          <a:xfrm>
            <a:off x="7616952" y="2587752"/>
            <a:ext cx="41148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CACC7">
                <a:alpha val="35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7781544" y="2752344"/>
            <a:ext cx="512064" cy="512064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32" name="Image 6" descr="/home/claude/sih/icons/scan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0416" y="2871216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403336" y="269748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Understanding</a:t>
            </a:r>
            <a:endParaRPr lang="en-US" sz="1250" dirty="0"/>
          </a:p>
        </p:txBody>
      </p:sp>
      <p:sp>
        <p:nvSpPr>
          <p:cNvPr id="34" name="Text 25"/>
          <p:cNvSpPr/>
          <p:nvPr/>
        </p:nvSpPr>
        <p:spPr>
          <a:xfrm>
            <a:off x="8403336" y="3008376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Scans, handwriting, drawings, photos via local OCR + vision</a:t>
            </a:r>
            <a:endParaRPr lang="en-US" sz="1030" dirty="0"/>
          </a:p>
        </p:txBody>
      </p:sp>
      <p:sp>
        <p:nvSpPr>
          <p:cNvPr id="35" name="Shape 26"/>
          <p:cNvSpPr/>
          <p:nvPr/>
        </p:nvSpPr>
        <p:spPr>
          <a:xfrm>
            <a:off x="3246120" y="3941064"/>
            <a:ext cx="41148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CACC7">
                <a:alpha val="35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3410712" y="4105656"/>
            <a:ext cx="512064" cy="512064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37" name="Image 7" descr="/home/claude/sih/icons/database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9584" y="4224528"/>
            <a:ext cx="274320" cy="27432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4032504" y="405079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Enterprise Knowledge</a:t>
            </a:r>
            <a:endParaRPr lang="en-US" sz="1250" dirty="0"/>
          </a:p>
        </p:txBody>
      </p:sp>
      <p:sp>
        <p:nvSpPr>
          <p:cNvPr id="39" name="Text 29"/>
          <p:cNvSpPr/>
          <p:nvPr/>
        </p:nvSpPr>
        <p:spPr>
          <a:xfrm>
            <a:off x="4032504" y="436168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SOPs, manuals, correspondence via on-prem RAG</a:t>
            </a:r>
            <a:endParaRPr lang="en-US" sz="1030" dirty="0"/>
          </a:p>
        </p:txBody>
      </p:sp>
      <p:sp>
        <p:nvSpPr>
          <p:cNvPr id="40" name="Shape 30"/>
          <p:cNvSpPr/>
          <p:nvPr/>
        </p:nvSpPr>
        <p:spPr>
          <a:xfrm>
            <a:off x="7616952" y="3941064"/>
            <a:ext cx="41148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CACC7">
                <a:alpha val="35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7781544" y="4105656"/>
            <a:ext cx="512064" cy="512064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42" name="Image 8" descr="/home/claude/sih/icons/docx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0416" y="4224528"/>
            <a:ext cx="274320" cy="27432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8403336" y="405079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Deliverables</a:t>
            </a:r>
            <a:endParaRPr lang="en-US" sz="1250" dirty="0"/>
          </a:p>
        </p:txBody>
      </p:sp>
      <p:sp>
        <p:nvSpPr>
          <p:cNvPr id="44" name="Text 33"/>
          <p:cNvSpPr/>
          <p:nvPr/>
        </p:nvSpPr>
        <p:spPr>
          <a:xfrm>
            <a:off x="8403336" y="436168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DOCX, PPTX, XLSX, code and calculations — not just chat</a:t>
            </a:r>
            <a:endParaRPr lang="en-US" sz="1030" dirty="0"/>
          </a:p>
        </p:txBody>
      </p:sp>
      <p:sp>
        <p:nvSpPr>
          <p:cNvPr id="45" name="Shape 34"/>
          <p:cNvSpPr/>
          <p:nvPr/>
        </p:nvSpPr>
        <p:spPr>
          <a:xfrm>
            <a:off x="457200" y="5532120"/>
            <a:ext cx="11292840" cy="914400"/>
          </a:xfrm>
          <a:prstGeom prst="roundRect">
            <a:avLst>
              <a:gd name="adj" fmla="val 8000"/>
            </a:avLst>
          </a:prstGeom>
          <a:solidFill>
            <a:srgbClr val="E9F0F7"/>
          </a:solidFill>
          <a:ln/>
        </p:spPr>
      </p:sp>
      <p:sp>
        <p:nvSpPr>
          <p:cNvPr id="46" name="Shape 35"/>
          <p:cNvSpPr/>
          <p:nvPr/>
        </p:nvSpPr>
        <p:spPr>
          <a:xfrm>
            <a:off x="594360" y="5650992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594360" y="5650992"/>
            <a:ext cx="157276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</a:t>
            </a:r>
            <a:endParaRPr lang="en-US" sz="100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2167128" y="5650992"/>
            <a:ext cx="2148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9" name="Shape 38"/>
          <p:cNvSpPr/>
          <p:nvPr/>
        </p:nvSpPr>
        <p:spPr>
          <a:xfrm>
            <a:off x="2382012" y="5650992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0" name="Text 39"/>
          <p:cNvSpPr/>
          <p:nvPr/>
        </p:nvSpPr>
        <p:spPr>
          <a:xfrm>
            <a:off x="2382012" y="5650992"/>
            <a:ext cx="157276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</a:t>
            </a:r>
            <a:endParaRPr lang="en-US" sz="100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00" dirty="0"/>
          </a:p>
        </p:txBody>
      </p:sp>
      <p:sp>
        <p:nvSpPr>
          <p:cNvPr id="51" name="Text 40"/>
          <p:cNvSpPr/>
          <p:nvPr/>
        </p:nvSpPr>
        <p:spPr>
          <a:xfrm>
            <a:off x="3954780" y="5650992"/>
            <a:ext cx="2148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2" name="Shape 41"/>
          <p:cNvSpPr/>
          <p:nvPr/>
        </p:nvSpPr>
        <p:spPr>
          <a:xfrm>
            <a:off x="4169664" y="5650992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4169664" y="5650992"/>
            <a:ext cx="157276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54" name="Text 43"/>
          <p:cNvSpPr/>
          <p:nvPr/>
        </p:nvSpPr>
        <p:spPr>
          <a:xfrm>
            <a:off x="5742432" y="5650992"/>
            <a:ext cx="2148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5" name="Shape 44"/>
          <p:cNvSpPr/>
          <p:nvPr/>
        </p:nvSpPr>
        <p:spPr>
          <a:xfrm>
            <a:off x="5957316" y="5650992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6" name="Text 45"/>
          <p:cNvSpPr/>
          <p:nvPr/>
        </p:nvSpPr>
        <p:spPr>
          <a:xfrm>
            <a:off x="5957316" y="5650992"/>
            <a:ext cx="157276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00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/ RAG</a:t>
            </a:r>
            <a:endParaRPr lang="en-US" sz="1000" dirty="0"/>
          </a:p>
        </p:txBody>
      </p:sp>
      <p:sp>
        <p:nvSpPr>
          <p:cNvPr id="57" name="Text 46"/>
          <p:cNvSpPr/>
          <p:nvPr/>
        </p:nvSpPr>
        <p:spPr>
          <a:xfrm>
            <a:off x="7530084" y="5650992"/>
            <a:ext cx="2148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8" name="Shape 47"/>
          <p:cNvSpPr/>
          <p:nvPr/>
        </p:nvSpPr>
        <p:spPr>
          <a:xfrm>
            <a:off x="7744968" y="5650992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7744968" y="5650992"/>
            <a:ext cx="157276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00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60" name="Text 49"/>
          <p:cNvSpPr/>
          <p:nvPr/>
        </p:nvSpPr>
        <p:spPr>
          <a:xfrm>
            <a:off x="9317736" y="5650992"/>
            <a:ext cx="2148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1" name="Shape 50"/>
          <p:cNvSpPr/>
          <p:nvPr/>
        </p:nvSpPr>
        <p:spPr>
          <a:xfrm>
            <a:off x="9532620" y="5650992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00E5A8"/>
          </a:solidFill>
          <a:ln w="12700">
            <a:solidFill>
              <a:srgbClr val="00E5A8"/>
            </a:solidFill>
            <a:prstDash val="solid"/>
          </a:ln>
        </p:spPr>
      </p:sp>
      <p:sp>
        <p:nvSpPr>
          <p:cNvPr id="62" name="Text 51"/>
          <p:cNvSpPr/>
          <p:nvPr/>
        </p:nvSpPr>
        <p:spPr>
          <a:xfrm>
            <a:off x="9532620" y="5650992"/>
            <a:ext cx="157276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00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NOTE.DOCX</a:t>
            </a:r>
            <a:endParaRPr lang="en-US" sz="1000" dirty="0"/>
          </a:p>
        </p:txBody>
      </p:sp>
      <p:sp>
        <p:nvSpPr>
          <p:cNvPr id="63" name="Text 52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SIH26117  ·  KAVACH — Sovereign Agentic AI Workbench</a:t>
            </a:r>
            <a:endParaRPr lang="en-US" sz="900" dirty="0"/>
          </a:p>
        </p:txBody>
      </p:sp>
      <p:sp>
        <p:nvSpPr>
          <p:cNvPr id="64" name="Text 5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Every Layer Stays Inside the Fence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732520" cy="457200"/>
          </a:xfrm>
          <a:prstGeom prst="roundRect">
            <a:avLst>
              <a:gd name="adj" fmla="val 14000"/>
            </a:avLst>
          </a:prstGeom>
          <a:solidFill>
            <a:srgbClr val="5A6B85"/>
          </a:solidFill>
          <a:ln/>
        </p:spPr>
      </p:sp>
      <p:sp>
        <p:nvSpPr>
          <p:cNvPr id="5" name="Text 3"/>
          <p:cNvSpPr/>
          <p:nvPr/>
        </p:nvSpPr>
        <p:spPr>
          <a:xfrm>
            <a:off x="557784" y="1234440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WORKBENCH</a:t>
            </a:r>
            <a:endParaRPr lang="en-US" sz="1100" dirty="0"/>
          </a:p>
        </p:txBody>
      </p:sp>
      <p:pic>
        <p:nvPicPr>
          <p:cNvPr id="6" name="Image 0" descr="/home/claude/sih/icons/arrowdown_s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7740" y="1691640"/>
            <a:ext cx="182880" cy="182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892808"/>
            <a:ext cx="8732520" cy="457200"/>
          </a:xfrm>
          <a:prstGeom prst="roundRect">
            <a:avLst>
              <a:gd name="adj" fmla="val 14000"/>
            </a:avLst>
          </a:prstGeom>
          <a:solidFill>
            <a:srgbClr val="1F3A5F"/>
          </a:solidFill>
          <a:ln/>
        </p:spPr>
      </p:sp>
      <p:sp>
        <p:nvSpPr>
          <p:cNvPr id="8" name="Text 5"/>
          <p:cNvSpPr/>
          <p:nvPr/>
        </p:nvSpPr>
        <p:spPr>
          <a:xfrm>
            <a:off x="557784" y="1920240"/>
            <a:ext cx="86227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ORCHESTRATOR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57784" y="2157984"/>
            <a:ext cx="86227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 →  Act  →  Verify</a:t>
            </a:r>
            <a:endParaRPr lang="en-US" sz="830" dirty="0"/>
          </a:p>
        </p:txBody>
      </p:sp>
      <p:pic>
        <p:nvPicPr>
          <p:cNvPr id="10" name="Image 1" descr="/home/claude/sih/icons/arrowdown_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2350008"/>
            <a:ext cx="182880" cy="182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2920" y="2551176"/>
            <a:ext cx="8732520" cy="457200"/>
          </a:xfrm>
          <a:prstGeom prst="roundRect">
            <a:avLst>
              <a:gd name="adj" fmla="val 14000"/>
            </a:avLst>
          </a:prstGeom>
          <a:solidFill>
            <a:srgbClr val="1F3A5F"/>
          </a:solidFill>
          <a:ln/>
        </p:spPr>
      </p:sp>
      <p:sp>
        <p:nvSpPr>
          <p:cNvPr id="12" name="Text 8"/>
          <p:cNvSpPr/>
          <p:nvPr/>
        </p:nvSpPr>
        <p:spPr>
          <a:xfrm>
            <a:off x="557784" y="2551176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ROUTER</a:t>
            </a:r>
            <a:endParaRPr lang="en-US" sz="1100" dirty="0"/>
          </a:p>
        </p:txBody>
      </p:sp>
      <p:pic>
        <p:nvPicPr>
          <p:cNvPr id="13" name="Image 2" descr="/home/claude/sih/icons/arrowdown_sl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740" y="3008376"/>
            <a:ext cx="182880" cy="18288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02920" y="3209544"/>
            <a:ext cx="2819400" cy="457200"/>
          </a:xfrm>
          <a:prstGeom prst="roundRect">
            <a:avLst>
              <a:gd name="adj" fmla="val 14000"/>
            </a:avLst>
          </a:prstGeom>
          <a:solidFill>
            <a:srgbClr val="00A87D"/>
          </a:solidFill>
          <a:ln/>
        </p:spPr>
      </p:sp>
      <p:sp>
        <p:nvSpPr>
          <p:cNvPr id="15" name="Text 10"/>
          <p:cNvSpPr/>
          <p:nvPr/>
        </p:nvSpPr>
        <p:spPr>
          <a:xfrm>
            <a:off x="557784" y="3209544"/>
            <a:ext cx="2709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459480" y="3209544"/>
            <a:ext cx="2819400" cy="457200"/>
          </a:xfrm>
          <a:prstGeom prst="roundRect">
            <a:avLst>
              <a:gd name="adj" fmla="val 14000"/>
            </a:avLst>
          </a:prstGeom>
          <a:solidFill>
            <a:srgbClr val="00A87D"/>
          </a:solidFill>
          <a:ln/>
        </p:spPr>
      </p:sp>
      <p:sp>
        <p:nvSpPr>
          <p:cNvPr id="17" name="Text 12"/>
          <p:cNvSpPr/>
          <p:nvPr/>
        </p:nvSpPr>
        <p:spPr>
          <a:xfrm>
            <a:off x="3514344" y="3209544"/>
            <a:ext cx="2709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16040" y="3209544"/>
            <a:ext cx="2819400" cy="457200"/>
          </a:xfrm>
          <a:prstGeom prst="roundRect">
            <a:avLst>
              <a:gd name="adj" fmla="val 14000"/>
            </a:avLst>
          </a:prstGeom>
          <a:solidFill>
            <a:srgbClr val="00A87D"/>
          </a:solidFill>
          <a:ln/>
        </p:spPr>
      </p:sp>
      <p:sp>
        <p:nvSpPr>
          <p:cNvPr id="19" name="Text 14"/>
          <p:cNvSpPr/>
          <p:nvPr/>
        </p:nvSpPr>
        <p:spPr>
          <a:xfrm>
            <a:off x="6470904" y="3209544"/>
            <a:ext cx="2709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pic>
        <p:nvPicPr>
          <p:cNvPr id="20" name="Image 3" descr="/home/claude/sih/icons/arrowdown_sl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740" y="3666744"/>
            <a:ext cx="182880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02920" y="3867912"/>
            <a:ext cx="8732520" cy="457200"/>
          </a:xfrm>
          <a:prstGeom prst="roundRect">
            <a:avLst>
              <a:gd name="adj" fmla="val 14000"/>
            </a:avLst>
          </a:prstGeom>
          <a:solidFill>
            <a:srgbClr val="00A87D"/>
          </a:solidFill>
          <a:ln/>
        </p:spPr>
      </p:sp>
      <p:sp>
        <p:nvSpPr>
          <p:cNvPr id="22" name="Text 16"/>
          <p:cNvSpPr/>
          <p:nvPr/>
        </p:nvSpPr>
        <p:spPr>
          <a:xfrm>
            <a:off x="557784" y="3867912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 — Ollama / vLLM</a:t>
            </a:r>
            <a:endParaRPr lang="en-US" sz="1100" dirty="0"/>
          </a:p>
        </p:txBody>
      </p:sp>
      <p:pic>
        <p:nvPicPr>
          <p:cNvPr id="23" name="Image 4" descr="/home/claude/sih/icons/arrowdown_sla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4325112"/>
            <a:ext cx="182880" cy="18288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502920" y="4526280"/>
            <a:ext cx="2819400" cy="457200"/>
          </a:xfrm>
          <a:prstGeom prst="roundRect">
            <a:avLst>
              <a:gd name="adj" fmla="val 14000"/>
            </a:avLst>
          </a:prstGeom>
          <a:solidFill>
            <a:srgbClr val="3B6E91"/>
          </a:solidFill>
          <a:ln/>
        </p:spPr>
      </p:sp>
      <p:sp>
        <p:nvSpPr>
          <p:cNvPr id="25" name="Text 18"/>
          <p:cNvSpPr/>
          <p:nvPr/>
        </p:nvSpPr>
        <p:spPr>
          <a:xfrm>
            <a:off x="557784" y="4526280"/>
            <a:ext cx="2709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RAG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3459480" y="4526280"/>
            <a:ext cx="2819400" cy="457200"/>
          </a:xfrm>
          <a:prstGeom prst="roundRect">
            <a:avLst>
              <a:gd name="adj" fmla="val 14000"/>
            </a:avLst>
          </a:prstGeom>
          <a:solidFill>
            <a:srgbClr val="3B6E91"/>
          </a:solidFill>
          <a:ln/>
        </p:spPr>
      </p:sp>
      <p:sp>
        <p:nvSpPr>
          <p:cNvPr id="27" name="Text 20"/>
          <p:cNvSpPr/>
          <p:nvPr/>
        </p:nvSpPr>
        <p:spPr>
          <a:xfrm>
            <a:off x="3514344" y="4526280"/>
            <a:ext cx="2709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TOOLS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416040" y="4526280"/>
            <a:ext cx="2819400" cy="457200"/>
          </a:xfrm>
          <a:prstGeom prst="roundRect">
            <a:avLst>
              <a:gd name="adj" fmla="val 14000"/>
            </a:avLst>
          </a:prstGeom>
          <a:solidFill>
            <a:srgbClr val="3B6E91"/>
          </a:solidFill>
          <a:ln/>
        </p:spPr>
      </p:sp>
      <p:sp>
        <p:nvSpPr>
          <p:cNvPr id="29" name="Text 22"/>
          <p:cNvSpPr/>
          <p:nvPr/>
        </p:nvSpPr>
        <p:spPr>
          <a:xfrm>
            <a:off x="6470904" y="4526280"/>
            <a:ext cx="2709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pic>
        <p:nvPicPr>
          <p:cNvPr id="30" name="Image 5" descr="/home/claude/sih/icons/arrowdown_sla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7740" y="4983480"/>
            <a:ext cx="182880" cy="18288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502920" y="5184648"/>
            <a:ext cx="8732520" cy="457200"/>
          </a:xfrm>
          <a:prstGeom prst="roundRect">
            <a:avLst>
              <a:gd name="adj" fmla="val 14000"/>
            </a:avLst>
          </a:prstGeom>
          <a:solidFill>
            <a:srgbClr val="0F1B3C"/>
          </a:solidFill>
          <a:ln/>
        </p:spPr>
      </p:sp>
      <p:sp>
        <p:nvSpPr>
          <p:cNvPr id="32" name="Text 24"/>
          <p:cNvSpPr/>
          <p:nvPr/>
        </p:nvSpPr>
        <p:spPr>
          <a:xfrm>
            <a:off x="557784" y="5212080"/>
            <a:ext cx="86227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ENGINE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557784" y="5449824"/>
            <a:ext cx="86227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  ·   PPTX   ·   XLSX   ·   Code</a:t>
            </a:r>
            <a:endParaRPr lang="en-US" sz="830" dirty="0"/>
          </a:p>
        </p:txBody>
      </p:sp>
      <p:pic>
        <p:nvPicPr>
          <p:cNvPr id="34" name="Image 6" descr="/home/claude/sih/icons/arrowdown_sla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7740" y="5641848"/>
            <a:ext cx="182880" cy="182880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502920" y="5843016"/>
            <a:ext cx="8732520" cy="512064"/>
          </a:xfrm>
          <a:prstGeom prst="roundRect">
            <a:avLst>
              <a:gd name="adj" fmla="val 12500"/>
            </a:avLst>
          </a:prstGeom>
          <a:solidFill>
            <a:srgbClr val="0A1230"/>
          </a:solidFill>
          <a:ln/>
        </p:spPr>
      </p:sp>
      <p:sp>
        <p:nvSpPr>
          <p:cNvPr id="36" name="Text 27"/>
          <p:cNvSpPr/>
          <p:nvPr/>
        </p:nvSpPr>
        <p:spPr>
          <a:xfrm>
            <a:off x="557784" y="5870448"/>
            <a:ext cx="8622792" cy="31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ORGANIZATION LAN (MRPL)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557784" y="6140013"/>
            <a:ext cx="8622792" cy="2048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· Zero external calls</a:t>
            </a:r>
            <a:endParaRPr lang="en-US" sz="830" dirty="0"/>
          </a:p>
        </p:txBody>
      </p:sp>
      <p:sp>
        <p:nvSpPr>
          <p:cNvPr id="38" name="Shape 29"/>
          <p:cNvSpPr/>
          <p:nvPr/>
        </p:nvSpPr>
        <p:spPr>
          <a:xfrm>
            <a:off x="9464040" y="123444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DECEC"/>
          </a:solidFill>
          <a:ln w="15875">
            <a:solidFill>
              <a:srgbClr val="E5484D"/>
            </a:solidFill>
            <a:prstDash val="solid"/>
          </a:ln>
        </p:spPr>
      </p:sp>
      <p:pic>
        <p:nvPicPr>
          <p:cNvPr id="39" name="Image 7" descr="/home/claude/sih/icons/lock_r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28148" y="1371600"/>
            <a:ext cx="512064" cy="512064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9555480" y="1920240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API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100" dirty="0"/>
          </a:p>
        </p:txBody>
      </p:sp>
      <p:sp>
        <p:nvSpPr>
          <p:cNvPr id="41" name="Text 31"/>
          <p:cNvSpPr/>
          <p:nvPr/>
        </p:nvSpPr>
        <p:spPr>
          <a:xfrm>
            <a:off x="9464040" y="28803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STACK</a:t>
            </a:r>
            <a:endParaRPr lang="en-US" sz="1050" dirty="0"/>
          </a:p>
        </p:txBody>
      </p:sp>
      <p:sp>
        <p:nvSpPr>
          <p:cNvPr id="42" name="Shape 32"/>
          <p:cNvSpPr/>
          <p:nvPr/>
        </p:nvSpPr>
        <p:spPr>
          <a:xfrm>
            <a:off x="9464040" y="3200400"/>
            <a:ext cx="365760" cy="36576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43" name="Image 8" descr="/home/claude/sih/icons/chip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46336" y="3282696"/>
            <a:ext cx="201168" cy="201168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9921240" y="32004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/ vLLM inference</a:t>
            </a:r>
            <a:endParaRPr lang="en-US" sz="970" dirty="0"/>
          </a:p>
        </p:txBody>
      </p:sp>
      <p:sp>
        <p:nvSpPr>
          <p:cNvPr id="45" name="Shape 34"/>
          <p:cNvSpPr/>
          <p:nvPr/>
        </p:nvSpPr>
        <p:spPr>
          <a:xfrm>
            <a:off x="9464040" y="3639312"/>
            <a:ext cx="365760" cy="36576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46" name="Image 9" descr="/home/claude/sih/icons/database_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6336" y="3721608"/>
            <a:ext cx="201168" cy="201168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9921240" y="363931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vector DB (RAG)</a:t>
            </a:r>
            <a:endParaRPr lang="en-US" sz="970" dirty="0"/>
          </a:p>
        </p:txBody>
      </p:sp>
      <p:sp>
        <p:nvSpPr>
          <p:cNvPr id="48" name="Shape 36"/>
          <p:cNvSpPr/>
          <p:nvPr/>
        </p:nvSpPr>
        <p:spPr>
          <a:xfrm>
            <a:off x="9464040" y="4078224"/>
            <a:ext cx="365760" cy="36576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49" name="Image 10" descr="/home/claude/sih/icons/eye_tea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6336" y="4160520"/>
            <a:ext cx="201168" cy="201168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9921240" y="407822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open vision model</a:t>
            </a:r>
            <a:endParaRPr lang="en-US" sz="970" dirty="0"/>
          </a:p>
        </p:txBody>
      </p:sp>
      <p:sp>
        <p:nvSpPr>
          <p:cNvPr id="51" name="Shape 38"/>
          <p:cNvSpPr/>
          <p:nvPr/>
        </p:nvSpPr>
        <p:spPr>
          <a:xfrm>
            <a:off x="9464040" y="4517136"/>
            <a:ext cx="365760" cy="36576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52" name="Image 11" descr="/home/claude/sih/icons/sandbox_tea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46336" y="4599432"/>
            <a:ext cx="201168" cy="201168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9921240" y="451713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code exec</a:t>
            </a:r>
            <a:endParaRPr lang="en-US" sz="970" dirty="0"/>
          </a:p>
        </p:txBody>
      </p:sp>
      <p:sp>
        <p:nvSpPr>
          <p:cNvPr id="54" name="Shape 40"/>
          <p:cNvSpPr/>
          <p:nvPr/>
        </p:nvSpPr>
        <p:spPr>
          <a:xfrm>
            <a:off x="9464040" y="4956048"/>
            <a:ext cx="365760" cy="36576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55" name="Image 12" descr="/home/claude/sih/icons/audit_teal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46336" y="5038344"/>
            <a:ext cx="201168" cy="201168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9921240" y="49560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audit / zero-egress log</a:t>
            </a:r>
            <a:endParaRPr lang="en-US" sz="970" dirty="0"/>
          </a:p>
        </p:txBody>
      </p:sp>
      <p:sp>
        <p:nvSpPr>
          <p:cNvPr id="57" name="Text 42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SIH26117  ·  KAVACH — Sovereign Agentic AI Workbench</a:t>
            </a:r>
            <a:endParaRPr lang="en-US" sz="900" dirty="0"/>
          </a:p>
        </p:txBody>
      </p:sp>
      <p:sp>
        <p:nvSpPr>
          <p:cNvPr id="58" name="Text 4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Buildable Today, Scalable Tomorrow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CACC7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417320"/>
            <a:ext cx="457200" cy="45720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6" name="Image 0" descr="/home/claude/sih/icons/gea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5270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35024" y="143560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04672" y="2029968"/>
            <a:ext cx="73152" cy="73152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9" name="Text 6"/>
          <p:cNvSpPr/>
          <p:nvPr/>
        </p:nvSpPr>
        <p:spPr>
          <a:xfrm>
            <a:off x="987552" y="19476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models deployable locally today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804672" y="2359152"/>
            <a:ext cx="73152" cy="73152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11" name="Text 8"/>
          <p:cNvSpPr/>
          <p:nvPr/>
        </p:nvSpPr>
        <p:spPr>
          <a:xfrm>
            <a:off x="987552" y="2276856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inference runtimes + local vector DBs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804672" y="2688336"/>
            <a:ext cx="73152" cy="73152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13" name="Text 10"/>
          <p:cNvSpPr/>
          <p:nvPr/>
        </p:nvSpPr>
        <p:spPr>
          <a:xfrm>
            <a:off x="987552" y="2606040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OCR/vision models run on modest GPUs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6309360" y="123444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CACC7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10528" y="1417320"/>
            <a:ext cx="457200" cy="45720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16" name="Image 1" descr="/home/claude/sih/icons/server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1527048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95744" y="143560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Feasibility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565392" y="2029968"/>
            <a:ext cx="73152" cy="73152"/>
          </a:xfrm>
          <a:prstGeom prst="ellipse">
            <a:avLst/>
          </a:prstGeom>
          <a:solidFill>
            <a:srgbClr val="5AB0FF"/>
          </a:solidFill>
          <a:ln/>
        </p:spPr>
      </p:sp>
      <p:sp>
        <p:nvSpPr>
          <p:cNvPr id="19" name="Text 15"/>
          <p:cNvSpPr/>
          <p:nvPr/>
        </p:nvSpPr>
        <p:spPr>
          <a:xfrm>
            <a:off x="6748272" y="19476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on a single workstation / server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6565392" y="2359152"/>
            <a:ext cx="73152" cy="73152"/>
          </a:xfrm>
          <a:prstGeom prst="ellipse">
            <a:avLst/>
          </a:prstGeom>
          <a:solidFill>
            <a:srgbClr val="5AB0FF"/>
          </a:solidFill>
          <a:ln/>
        </p:spPr>
      </p:sp>
      <p:sp>
        <p:nvSpPr>
          <p:cNvPr id="21" name="Text 17"/>
          <p:cNvSpPr/>
          <p:nvPr/>
        </p:nvSpPr>
        <p:spPr>
          <a:xfrm>
            <a:off x="6748272" y="2276856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multi-GPU infrastructure</a:t>
            </a:r>
            <a:endParaRPr lang="en-US" sz="1080" dirty="0"/>
          </a:p>
        </p:txBody>
      </p:sp>
      <p:sp>
        <p:nvSpPr>
          <p:cNvPr id="22" name="Shape 18"/>
          <p:cNvSpPr/>
          <p:nvPr/>
        </p:nvSpPr>
        <p:spPr>
          <a:xfrm>
            <a:off x="6565392" y="2688336"/>
            <a:ext cx="73152" cy="73152"/>
          </a:xfrm>
          <a:prstGeom prst="ellipse">
            <a:avLst/>
          </a:prstGeom>
          <a:solidFill>
            <a:srgbClr val="5AB0FF"/>
          </a:solidFill>
          <a:ln/>
        </p:spPr>
      </p:sp>
      <p:sp>
        <p:nvSpPr>
          <p:cNvPr id="23" name="Text 19"/>
          <p:cNvSpPr/>
          <p:nvPr/>
        </p:nvSpPr>
        <p:spPr>
          <a:xfrm>
            <a:off x="6748272" y="2606040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air-gapped LAN deployment</a:t>
            </a:r>
            <a:endParaRPr lang="en-US" sz="1080" dirty="0"/>
          </a:p>
        </p:txBody>
      </p:sp>
      <p:sp>
        <p:nvSpPr>
          <p:cNvPr id="24" name="Shape 20"/>
          <p:cNvSpPr/>
          <p:nvPr/>
        </p:nvSpPr>
        <p:spPr>
          <a:xfrm>
            <a:off x="548640" y="329184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CACC7">
                <a:alpha val="3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49808" y="3474720"/>
            <a:ext cx="457200" cy="45720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26" name="Image 2" descr="/home/claude/sih/icons/lo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584448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335024" y="349300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Feasibility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804672" y="4087368"/>
            <a:ext cx="73152" cy="73152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9" name="Text 24"/>
          <p:cNvSpPr/>
          <p:nvPr/>
        </p:nvSpPr>
        <p:spPr>
          <a:xfrm>
            <a:off x="987552" y="40050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080" dirty="0"/>
          </a:p>
        </p:txBody>
      </p:sp>
      <p:sp>
        <p:nvSpPr>
          <p:cNvPr id="30" name="Shape 25"/>
          <p:cNvSpPr/>
          <p:nvPr/>
        </p:nvSpPr>
        <p:spPr>
          <a:xfrm>
            <a:off x="804672" y="4416552"/>
            <a:ext cx="73152" cy="73152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31" name="Text 26"/>
          <p:cNvSpPr/>
          <p:nvPr/>
        </p:nvSpPr>
        <p:spPr>
          <a:xfrm>
            <a:off x="987552" y="4334256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logs of every agent action</a:t>
            </a:r>
            <a:endParaRPr lang="en-US" sz="1080" dirty="0"/>
          </a:p>
        </p:txBody>
      </p:sp>
      <p:sp>
        <p:nvSpPr>
          <p:cNvPr id="32" name="Shape 27"/>
          <p:cNvSpPr/>
          <p:nvPr/>
        </p:nvSpPr>
        <p:spPr>
          <a:xfrm>
            <a:off x="804672" y="4745736"/>
            <a:ext cx="73152" cy="73152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33" name="Text 28"/>
          <p:cNvSpPr/>
          <p:nvPr/>
        </p:nvSpPr>
        <p:spPr>
          <a:xfrm>
            <a:off x="987552" y="4663440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Sandboxed, permission-scoped execution</a:t>
            </a:r>
            <a:endParaRPr lang="en-US" sz="1080" dirty="0"/>
          </a:p>
        </p:txBody>
      </p:sp>
      <p:sp>
        <p:nvSpPr>
          <p:cNvPr id="34" name="Shape 29"/>
          <p:cNvSpPr/>
          <p:nvPr/>
        </p:nvSpPr>
        <p:spPr>
          <a:xfrm>
            <a:off x="6309360" y="329184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CACC7">
                <a:alpha val="3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6510528" y="3474720"/>
            <a:ext cx="457200" cy="45720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36" name="Image 3" descr="/home/claude/sih/icons/expand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3584448"/>
            <a:ext cx="237744" cy="23774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095744" y="349300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/ Future</a:t>
            </a:r>
            <a:endParaRPr lang="en-US" sz="1400" dirty="0"/>
          </a:p>
        </p:txBody>
      </p:sp>
      <p:sp>
        <p:nvSpPr>
          <p:cNvPr id="38" name="Shape 32"/>
          <p:cNvSpPr/>
          <p:nvPr/>
        </p:nvSpPr>
        <p:spPr>
          <a:xfrm>
            <a:off x="6565392" y="4087368"/>
            <a:ext cx="73152" cy="73152"/>
          </a:xfrm>
          <a:prstGeom prst="ellipse">
            <a:avLst/>
          </a:prstGeom>
          <a:solidFill>
            <a:srgbClr val="C792EA"/>
          </a:solidFill>
          <a:ln/>
        </p:spPr>
      </p:sp>
      <p:sp>
        <p:nvSpPr>
          <p:cNvPr id="39" name="Text 33"/>
          <p:cNvSpPr/>
          <p:nvPr/>
        </p:nvSpPr>
        <p:spPr>
          <a:xfrm>
            <a:off x="6748272" y="40050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open-weight models, no re-architecture</a:t>
            </a:r>
            <a:endParaRPr lang="en-US" sz="1080" dirty="0"/>
          </a:p>
        </p:txBody>
      </p:sp>
      <p:sp>
        <p:nvSpPr>
          <p:cNvPr id="40" name="Shape 34"/>
          <p:cNvSpPr/>
          <p:nvPr/>
        </p:nvSpPr>
        <p:spPr>
          <a:xfrm>
            <a:off x="6565392" y="4416552"/>
            <a:ext cx="73152" cy="73152"/>
          </a:xfrm>
          <a:prstGeom prst="ellipse">
            <a:avLst/>
          </a:prstGeom>
          <a:solidFill>
            <a:srgbClr val="C792EA"/>
          </a:solidFill>
          <a:ln/>
        </p:spPr>
      </p:sp>
      <p:sp>
        <p:nvSpPr>
          <p:cNvPr id="41" name="Text 35"/>
          <p:cNvSpPr/>
          <p:nvPr/>
        </p:nvSpPr>
        <p:spPr>
          <a:xfrm>
            <a:off x="6748272" y="4334256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tools, formats, knowledge bases</a:t>
            </a:r>
            <a:endParaRPr lang="en-US" sz="1080" dirty="0"/>
          </a:p>
        </p:txBody>
      </p:sp>
      <p:sp>
        <p:nvSpPr>
          <p:cNvPr id="42" name="Shape 36"/>
          <p:cNvSpPr/>
          <p:nvPr/>
        </p:nvSpPr>
        <p:spPr>
          <a:xfrm>
            <a:off x="6565392" y="4745736"/>
            <a:ext cx="73152" cy="73152"/>
          </a:xfrm>
          <a:prstGeom prst="ellipse">
            <a:avLst/>
          </a:prstGeom>
          <a:solidFill>
            <a:srgbClr val="C792EA"/>
          </a:solidFill>
          <a:ln/>
        </p:spPr>
      </p:sp>
      <p:sp>
        <p:nvSpPr>
          <p:cNvPr id="43" name="Text 37"/>
          <p:cNvSpPr/>
          <p:nvPr/>
        </p:nvSpPr>
        <p:spPr>
          <a:xfrm>
            <a:off x="6748272" y="4663440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Grows: workstation → server → cluster</a:t>
            </a:r>
            <a:endParaRPr lang="en-US" sz="1080" dirty="0"/>
          </a:p>
        </p:txBody>
      </p:sp>
      <p:sp>
        <p:nvSpPr>
          <p:cNvPr id="44" name="Shape 38"/>
          <p:cNvSpPr/>
          <p:nvPr/>
        </p:nvSpPr>
        <p:spPr>
          <a:xfrm>
            <a:off x="457200" y="5623560"/>
            <a:ext cx="11292840" cy="822960"/>
          </a:xfrm>
          <a:prstGeom prst="roundRect">
            <a:avLst>
              <a:gd name="adj" fmla="val 8889"/>
            </a:avLst>
          </a:prstGeom>
          <a:solidFill>
            <a:srgbClr val="E9F0F7"/>
          </a:solidFill>
          <a:ln/>
        </p:spPr>
      </p:sp>
      <p:sp>
        <p:nvSpPr>
          <p:cNvPr id="45" name="Shape 39"/>
          <p:cNvSpPr/>
          <p:nvPr/>
        </p:nvSpPr>
        <p:spPr>
          <a:xfrm>
            <a:off x="777240" y="5742432"/>
            <a:ext cx="3429000" cy="585216"/>
          </a:xfrm>
          <a:prstGeom prst="roundRect">
            <a:avLst>
              <a:gd name="adj" fmla="val 12500"/>
            </a:avLst>
          </a:prstGeom>
          <a:solidFill>
            <a:srgbClr val="1F3A5F"/>
          </a:solidFill>
          <a:ln/>
        </p:spPr>
      </p:sp>
      <p:sp>
        <p:nvSpPr>
          <p:cNvPr id="46" name="Text 40"/>
          <p:cNvSpPr/>
          <p:nvPr/>
        </p:nvSpPr>
        <p:spPr>
          <a:xfrm>
            <a:off x="914400" y="5797296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950" dirty="0"/>
          </a:p>
        </p:txBody>
      </p:sp>
      <p:sp>
        <p:nvSpPr>
          <p:cNvPr id="47" name="Text 41"/>
          <p:cNvSpPr/>
          <p:nvPr/>
        </p:nvSpPr>
        <p:spPr>
          <a:xfrm>
            <a:off x="914400" y="60076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Workstation</a:t>
            </a:r>
            <a:endParaRPr lang="en-US" sz="1200" dirty="0"/>
          </a:p>
        </p:txBody>
      </p:sp>
      <p:sp>
        <p:nvSpPr>
          <p:cNvPr id="48" name="Text 42"/>
          <p:cNvSpPr/>
          <p:nvPr/>
        </p:nvSpPr>
        <p:spPr>
          <a:xfrm>
            <a:off x="4206240" y="5742432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9" name="Shape 43"/>
          <p:cNvSpPr/>
          <p:nvPr/>
        </p:nvSpPr>
        <p:spPr>
          <a:xfrm>
            <a:off x="4663440" y="5742432"/>
            <a:ext cx="3429000" cy="585216"/>
          </a:xfrm>
          <a:prstGeom prst="roundRect">
            <a:avLst>
              <a:gd name="adj" fmla="val 12500"/>
            </a:avLst>
          </a:prstGeom>
          <a:solidFill>
            <a:srgbClr val="00A87D"/>
          </a:solidFill>
          <a:ln/>
        </p:spPr>
      </p:sp>
      <p:sp>
        <p:nvSpPr>
          <p:cNvPr id="50" name="Text 44"/>
          <p:cNvSpPr/>
          <p:nvPr/>
        </p:nvSpPr>
        <p:spPr>
          <a:xfrm>
            <a:off x="4800600" y="5797296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50" dirty="0"/>
          </a:p>
        </p:txBody>
      </p:sp>
      <p:sp>
        <p:nvSpPr>
          <p:cNvPr id="51" name="Text 45"/>
          <p:cNvSpPr/>
          <p:nvPr/>
        </p:nvSpPr>
        <p:spPr>
          <a:xfrm>
            <a:off x="4800600" y="60076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GPU Server</a:t>
            </a:r>
            <a:endParaRPr lang="en-US" sz="1200" dirty="0"/>
          </a:p>
        </p:txBody>
      </p:sp>
      <p:sp>
        <p:nvSpPr>
          <p:cNvPr id="52" name="Text 46"/>
          <p:cNvSpPr/>
          <p:nvPr/>
        </p:nvSpPr>
        <p:spPr>
          <a:xfrm>
            <a:off x="8092440" y="5742432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3" name="Shape 47"/>
          <p:cNvSpPr/>
          <p:nvPr/>
        </p:nvSpPr>
        <p:spPr>
          <a:xfrm>
            <a:off x="8549640" y="5742432"/>
            <a:ext cx="3429000" cy="585216"/>
          </a:xfrm>
          <a:prstGeom prst="roundRect">
            <a:avLst>
              <a:gd name="adj" fmla="val 12500"/>
            </a:avLst>
          </a:prstGeom>
          <a:solidFill>
            <a:srgbClr val="0F1B3C"/>
          </a:solidFill>
          <a:ln/>
        </p:spPr>
      </p:sp>
      <p:sp>
        <p:nvSpPr>
          <p:cNvPr id="54" name="Text 48"/>
          <p:cNvSpPr/>
          <p:nvPr/>
        </p:nvSpPr>
        <p:spPr>
          <a:xfrm>
            <a:off x="8686800" y="5797296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50" dirty="0"/>
          </a:p>
        </p:txBody>
      </p:sp>
      <p:sp>
        <p:nvSpPr>
          <p:cNvPr id="55" name="Text 49"/>
          <p:cNvSpPr/>
          <p:nvPr/>
        </p:nvSpPr>
        <p:spPr>
          <a:xfrm>
            <a:off x="8686800" y="60076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Multi-User Deployment</a:t>
            </a:r>
            <a:endParaRPr lang="en-US" sz="1200" dirty="0"/>
          </a:p>
        </p:txBody>
      </p:sp>
      <p:sp>
        <p:nvSpPr>
          <p:cNvPr id="56" name="Text 50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SIH26117  ·  KAVACH — Sovereign Agentic AI Workbench</a:t>
            </a:r>
            <a:endParaRPr lang="en-US" sz="900" dirty="0"/>
          </a:p>
        </p:txBody>
      </p:sp>
      <p:sp>
        <p:nvSpPr>
          <p:cNvPr id="57" name="Text 51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for MRPL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62456"/>
            <a:ext cx="566928" cy="566928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6" name="Image 0" descr="/home/claude/sih/icons/lo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49047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13075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44168" y="16184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stays on-premise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4334256" y="1188720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71416" y="1362456"/>
            <a:ext cx="566928" cy="566928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11" name="Image 1" descr="/home/claude/sih/icons/bol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149047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75504" y="13075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175504" y="16184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repetitive knowledge work</a:t>
            </a:r>
            <a:endParaRPr lang="en-US" sz="970" dirty="0"/>
          </a:p>
        </p:txBody>
      </p:sp>
      <p:sp>
        <p:nvSpPr>
          <p:cNvPr id="14" name="Shape 10"/>
          <p:cNvSpPr/>
          <p:nvPr/>
        </p:nvSpPr>
        <p:spPr>
          <a:xfrm>
            <a:off x="8165592" y="1188720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02752" y="1362456"/>
            <a:ext cx="566928" cy="566928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16" name="Image 2" descr="/home/claude/sih/icons/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49047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13075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Traceability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9006840" y="16184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 with source refs</a:t>
            </a:r>
            <a:endParaRPr lang="en-US" sz="970" dirty="0"/>
          </a:p>
        </p:txBody>
      </p:sp>
      <p:sp>
        <p:nvSpPr>
          <p:cNvPr id="19" name="Shape 14"/>
          <p:cNvSpPr/>
          <p:nvPr/>
        </p:nvSpPr>
        <p:spPr>
          <a:xfrm>
            <a:off x="502920" y="2423160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" y="2596896"/>
            <a:ext cx="566928" cy="566928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21" name="Image 3" descr="/home/claude/sih/icons/gea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272491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44168" y="25420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344168" y="28529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tasks execute end-to-end</a:t>
            </a:r>
            <a:endParaRPr lang="en-US" sz="970" dirty="0"/>
          </a:p>
        </p:txBody>
      </p:sp>
      <p:sp>
        <p:nvSpPr>
          <p:cNvPr id="24" name="Shape 18"/>
          <p:cNvSpPr/>
          <p:nvPr/>
        </p:nvSpPr>
        <p:spPr>
          <a:xfrm>
            <a:off x="4334256" y="2423160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71416" y="2596896"/>
            <a:ext cx="566928" cy="566928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26" name="Image 4" descr="/home/claude/sih/icons/scan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272491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75504" y="25420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Access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175504" y="28529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scans/visuals into usable data</a:t>
            </a:r>
            <a:endParaRPr lang="en-US" sz="970" dirty="0"/>
          </a:p>
        </p:txBody>
      </p:sp>
      <p:sp>
        <p:nvSpPr>
          <p:cNvPr id="29" name="Shape 22"/>
          <p:cNvSpPr/>
          <p:nvPr/>
        </p:nvSpPr>
        <p:spPr>
          <a:xfrm>
            <a:off x="8165592" y="2423160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02752" y="2596896"/>
            <a:ext cx="566928" cy="566928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31" name="Image 5" descr="/home/claude/sih/icons/chip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2724912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6840" y="25420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Control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9006840" y="28529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per-request cloud API dependence</a:t>
            </a:r>
            <a:endParaRPr lang="en-US" sz="970" dirty="0"/>
          </a:p>
        </p:txBody>
      </p:sp>
      <p:sp>
        <p:nvSpPr>
          <p:cNvPr id="34" name="Text 26"/>
          <p:cNvSpPr/>
          <p:nvPr/>
        </p:nvSpPr>
        <p:spPr>
          <a:xfrm>
            <a:off x="502920" y="3749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WORKFLOWS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502920" y="4041648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6" name="Text 28"/>
          <p:cNvSpPr/>
          <p:nvPr/>
        </p:nvSpPr>
        <p:spPr>
          <a:xfrm>
            <a:off x="502920" y="40416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Report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2880360" y="404164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Shape 30"/>
          <p:cNvSpPr/>
          <p:nvPr/>
        </p:nvSpPr>
        <p:spPr>
          <a:xfrm>
            <a:off x="3246120" y="4041648"/>
            <a:ext cx="3520440" cy="365760"/>
          </a:xfrm>
          <a:prstGeom prst="roundRect">
            <a:avLst>
              <a:gd name="adj" fmla="val 50000"/>
            </a:avLst>
          </a:prstGeom>
          <a:solidFill>
            <a:srgbClr val="00E5A8"/>
          </a:solidFill>
          <a:ln/>
        </p:spPr>
      </p:sp>
      <p:sp>
        <p:nvSpPr>
          <p:cNvPr id="39" name="Text 31"/>
          <p:cNvSpPr/>
          <p:nvPr/>
        </p:nvSpPr>
        <p:spPr>
          <a:xfrm>
            <a:off x="3246120" y="404164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Note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502920" y="4498848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41" name="Text 33"/>
          <p:cNvSpPr/>
          <p:nvPr/>
        </p:nvSpPr>
        <p:spPr>
          <a:xfrm>
            <a:off x="502920" y="44988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SOP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2880360" y="449884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3" name="Shape 35"/>
          <p:cNvSpPr/>
          <p:nvPr/>
        </p:nvSpPr>
        <p:spPr>
          <a:xfrm>
            <a:off x="3246120" y="4498848"/>
            <a:ext cx="3520440" cy="365760"/>
          </a:xfrm>
          <a:prstGeom prst="roundRect">
            <a:avLst>
              <a:gd name="adj" fmla="val 50000"/>
            </a:avLst>
          </a:prstGeom>
          <a:solidFill>
            <a:srgbClr val="00E5A8"/>
          </a:solidFill>
          <a:ln/>
        </p:spPr>
      </p:sp>
      <p:sp>
        <p:nvSpPr>
          <p:cNvPr id="44" name="Text 36"/>
          <p:cNvSpPr/>
          <p:nvPr/>
        </p:nvSpPr>
        <p:spPr>
          <a:xfrm>
            <a:off x="3246120" y="449884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Q&amp;A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502920" y="4956048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46" name="Text 38"/>
          <p:cNvSpPr/>
          <p:nvPr/>
        </p:nvSpPr>
        <p:spPr>
          <a:xfrm>
            <a:off x="502920" y="49560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Request</a:t>
            </a:r>
            <a:endParaRPr lang="en-US" sz="1000" dirty="0"/>
          </a:p>
        </p:txBody>
      </p:sp>
      <p:sp>
        <p:nvSpPr>
          <p:cNvPr id="47" name="Text 39"/>
          <p:cNvSpPr/>
          <p:nvPr/>
        </p:nvSpPr>
        <p:spPr>
          <a:xfrm>
            <a:off x="2880360" y="495604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8" name="Shape 40"/>
          <p:cNvSpPr/>
          <p:nvPr/>
        </p:nvSpPr>
        <p:spPr>
          <a:xfrm>
            <a:off x="3246120" y="4956048"/>
            <a:ext cx="3520440" cy="365760"/>
          </a:xfrm>
          <a:prstGeom prst="roundRect">
            <a:avLst>
              <a:gd name="adj" fmla="val 50000"/>
            </a:avLst>
          </a:prstGeom>
          <a:solidFill>
            <a:srgbClr val="00E5A8"/>
          </a:solidFill>
          <a:ln/>
        </p:spPr>
      </p:sp>
      <p:sp>
        <p:nvSpPr>
          <p:cNvPr id="49" name="Text 41"/>
          <p:cNvSpPr/>
          <p:nvPr/>
        </p:nvSpPr>
        <p:spPr>
          <a:xfrm>
            <a:off x="3246120" y="495604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→ Sandbox → Verification</a:t>
            </a:r>
            <a:endParaRPr lang="en-US" sz="1000" dirty="0"/>
          </a:p>
        </p:txBody>
      </p:sp>
      <p:sp>
        <p:nvSpPr>
          <p:cNvPr id="50" name="Text 42"/>
          <p:cNvSpPr/>
          <p:nvPr/>
        </p:nvSpPr>
        <p:spPr>
          <a:xfrm>
            <a:off x="7178040" y="3749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WORKFLOW  vs  KAVACH</a:t>
            </a:r>
            <a:endParaRPr lang="en-US" sz="1050" dirty="0"/>
          </a:p>
        </p:txBody>
      </p:sp>
      <p:sp>
        <p:nvSpPr>
          <p:cNvPr id="51" name="Shape 43"/>
          <p:cNvSpPr/>
          <p:nvPr/>
        </p:nvSpPr>
        <p:spPr>
          <a:xfrm>
            <a:off x="7178040" y="4041648"/>
            <a:ext cx="4572000" cy="566928"/>
          </a:xfrm>
          <a:prstGeom prst="roundRect">
            <a:avLst>
              <a:gd name="adj" fmla="val 11290"/>
            </a:avLst>
          </a:prstGeom>
          <a:solidFill>
            <a:srgbClr val="EDEFF3"/>
          </a:solidFill>
          <a:ln/>
        </p:spPr>
      </p:sp>
      <p:sp>
        <p:nvSpPr>
          <p:cNvPr id="52" name="Text 44"/>
          <p:cNvSpPr/>
          <p:nvPr/>
        </p:nvSpPr>
        <p:spPr>
          <a:xfrm>
            <a:off x="7315200" y="4041648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3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reading → manual analysis → manual drafting</a:t>
            </a:r>
            <a:endParaRPr lang="en-US" sz="1030" dirty="0"/>
          </a:p>
        </p:txBody>
      </p:sp>
      <p:sp>
        <p:nvSpPr>
          <p:cNvPr id="53" name="Shape 45"/>
          <p:cNvSpPr/>
          <p:nvPr/>
        </p:nvSpPr>
        <p:spPr>
          <a:xfrm>
            <a:off x="7178040" y="4700016"/>
            <a:ext cx="4572000" cy="658368"/>
          </a:xfrm>
          <a:prstGeom prst="roundRect">
            <a:avLst>
              <a:gd name="adj" fmla="val 9722"/>
            </a:avLst>
          </a:prstGeom>
          <a:solidFill>
            <a:srgbClr val="0F1B3C"/>
          </a:solidFill>
          <a:ln/>
        </p:spPr>
      </p:sp>
      <p:sp>
        <p:nvSpPr>
          <p:cNvPr id="54" name="Text 46"/>
          <p:cNvSpPr/>
          <p:nvPr/>
        </p:nvSpPr>
        <p:spPr>
          <a:xfrm>
            <a:off x="7315200" y="4700016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Agent → Local Knowledge → Execute → Verify → Deliverable</a:t>
            </a:r>
            <a:endParaRPr lang="en-US" sz="1030" dirty="0"/>
          </a:p>
        </p:txBody>
      </p:sp>
      <p:sp>
        <p:nvSpPr>
          <p:cNvPr id="55" name="Shape 47"/>
          <p:cNvSpPr/>
          <p:nvPr/>
        </p:nvSpPr>
        <p:spPr>
          <a:xfrm>
            <a:off x="502920" y="5806440"/>
            <a:ext cx="11201400" cy="594360"/>
          </a:xfrm>
          <a:prstGeom prst="roundRect">
            <a:avLst>
              <a:gd name="adj" fmla="val 13846"/>
            </a:avLst>
          </a:prstGeom>
          <a:solidFill>
            <a:srgbClr val="0F1B3C"/>
          </a:solidFill>
          <a:ln/>
        </p:spPr>
      </p:sp>
      <p:sp>
        <p:nvSpPr>
          <p:cNvPr id="56" name="Shape 48"/>
          <p:cNvSpPr/>
          <p:nvPr/>
        </p:nvSpPr>
        <p:spPr>
          <a:xfrm>
            <a:off x="685800" y="5902452"/>
            <a:ext cx="402336" cy="402336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57" name="Image 6" descr="/home/claude/sih/icons/shield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993892"/>
            <a:ext cx="219456" cy="219456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1234440" y="580644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manual, risk-laden knowledge work becomes automated, verified and fully sovereign.</a:t>
            </a:r>
            <a:endParaRPr lang="en-US" sz="1250" dirty="0"/>
          </a:p>
        </p:txBody>
      </p:sp>
      <p:sp>
        <p:nvSpPr>
          <p:cNvPr id="59" name="Text 50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SIH26117  ·  KAVACH — Sovereign Agentic AI Workbench</a:t>
            </a:r>
            <a:endParaRPr lang="en-US" sz="900" dirty="0"/>
          </a:p>
        </p:txBody>
      </p:sp>
      <p:sp>
        <p:nvSpPr>
          <p:cNvPr id="60" name="Text 51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669280" cy="56692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DIFFERENTIATION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Foundations, Comparison &amp; References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651760" cy="402336"/>
          </a:xfrm>
          <a:prstGeom prst="roundRect">
            <a:avLst>
              <a:gd name="adj" fmla="val 50000"/>
            </a:avLst>
          </a:prstGeom>
          <a:solidFill>
            <a:srgbClr val="16264F"/>
          </a:solidFill>
          <a:ln w="12700">
            <a:solidFill>
              <a:srgbClr val="2C47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LLMs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3346704" y="1234440"/>
            <a:ext cx="2651760" cy="402336"/>
          </a:xfrm>
          <a:prstGeom prst="roundRect">
            <a:avLst>
              <a:gd name="adj" fmla="val 50000"/>
            </a:avLst>
          </a:prstGeom>
          <a:solidFill>
            <a:srgbClr val="16264F"/>
          </a:solidFill>
          <a:ln w="12700">
            <a:solidFill>
              <a:srgbClr val="2C47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46704" y="123444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6144768" y="1234440"/>
            <a:ext cx="2651760" cy="402336"/>
          </a:xfrm>
          <a:prstGeom prst="roundRect">
            <a:avLst>
              <a:gd name="adj" fmla="val 50000"/>
            </a:avLst>
          </a:prstGeom>
          <a:solidFill>
            <a:srgbClr val="16264F"/>
          </a:solidFill>
          <a:ln w="12700">
            <a:solidFill>
              <a:srgbClr val="2C47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44768" y="123444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8942832" y="1234440"/>
            <a:ext cx="2651760" cy="402336"/>
          </a:xfrm>
          <a:prstGeom prst="roundRect">
            <a:avLst>
              <a:gd name="adj" fmla="val 50000"/>
            </a:avLst>
          </a:prstGeom>
          <a:solidFill>
            <a:srgbClr val="16264F"/>
          </a:solidFill>
          <a:ln w="12700">
            <a:solidFill>
              <a:srgbClr val="2C47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42832" y="123444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48640" y="1755648"/>
            <a:ext cx="2651760" cy="402336"/>
          </a:xfrm>
          <a:prstGeom prst="roundRect">
            <a:avLst>
              <a:gd name="adj" fmla="val 50000"/>
            </a:avLst>
          </a:prstGeom>
          <a:solidFill>
            <a:srgbClr val="16264F"/>
          </a:solidFill>
          <a:ln w="12700">
            <a:solidFill>
              <a:srgbClr val="2C47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75564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3346704" y="1755648"/>
            <a:ext cx="2651760" cy="402336"/>
          </a:xfrm>
          <a:prstGeom prst="roundRect">
            <a:avLst>
              <a:gd name="adj" fmla="val 50000"/>
            </a:avLst>
          </a:prstGeom>
          <a:solidFill>
            <a:srgbClr val="16264F"/>
          </a:solidFill>
          <a:ln w="12700">
            <a:solidFill>
              <a:srgbClr val="2C47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46704" y="175564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6144768" y="1755648"/>
            <a:ext cx="2651760" cy="402336"/>
          </a:xfrm>
          <a:prstGeom prst="roundRect">
            <a:avLst>
              <a:gd name="adj" fmla="val 50000"/>
            </a:avLst>
          </a:prstGeom>
          <a:solidFill>
            <a:srgbClr val="16264F"/>
          </a:solidFill>
          <a:ln w="12700">
            <a:solidFill>
              <a:srgbClr val="2C47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175564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Execution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8942832" y="1755648"/>
            <a:ext cx="2651760" cy="402336"/>
          </a:xfrm>
          <a:prstGeom prst="roundRect">
            <a:avLst>
              <a:gd name="adj" fmla="val 50000"/>
            </a:avLst>
          </a:prstGeom>
          <a:solidFill>
            <a:srgbClr val="16264F"/>
          </a:solidFill>
          <a:ln w="12700">
            <a:solidFill>
              <a:srgbClr val="2C47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42832" y="175564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Generation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548640" y="2423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 vs. GENERIC CLOUD COPILOTS / CONVENTIONAL RAG TOOLS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788920"/>
            <a:ext cx="5074920" cy="306324"/>
          </a:xfrm>
          <a:prstGeom prst="rect">
            <a:avLst/>
          </a:prstGeom>
          <a:solidFill>
            <a:srgbClr val="121F42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2788920"/>
            <a:ext cx="44805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endParaRPr lang="en-US" sz="1030" dirty="0"/>
          </a:p>
        </p:txBody>
      </p:sp>
      <p:pic>
        <p:nvPicPr>
          <p:cNvPr id="24" name="Image 0" descr="/home/claude/sih/icons/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1224" y="2830068"/>
            <a:ext cx="228600" cy="2286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58368" y="3095244"/>
            <a:ext cx="44805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</a:t>
            </a:r>
            <a:endParaRPr lang="en-US" sz="1030" dirty="0"/>
          </a:p>
        </p:txBody>
      </p:sp>
      <p:pic>
        <p:nvPicPr>
          <p:cNvPr id="26" name="Image 1" descr="/home/claude/sih/icon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224" y="3136392"/>
            <a:ext cx="228600" cy="22860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548640" y="3401568"/>
            <a:ext cx="5074920" cy="306324"/>
          </a:xfrm>
          <a:prstGeom prst="rect">
            <a:avLst/>
          </a:prstGeom>
          <a:solidFill>
            <a:srgbClr val="121F42"/>
          </a:solidFill>
          <a:ln/>
        </p:spPr>
      </p:sp>
      <p:sp>
        <p:nvSpPr>
          <p:cNvPr id="28" name="Text 24"/>
          <p:cNvSpPr/>
          <p:nvPr/>
        </p:nvSpPr>
        <p:spPr>
          <a:xfrm>
            <a:off x="658368" y="3401568"/>
            <a:ext cx="44805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Auto-Routing</a:t>
            </a:r>
            <a:endParaRPr lang="en-US" sz="1030" dirty="0"/>
          </a:p>
        </p:txBody>
      </p:sp>
      <p:pic>
        <p:nvPicPr>
          <p:cNvPr id="29" name="Image 2" descr="/home/claude/sih/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224" y="3442716"/>
            <a:ext cx="228600" cy="2286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58368" y="3707892"/>
            <a:ext cx="44805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Workflows</a:t>
            </a:r>
            <a:endParaRPr lang="en-US" sz="1030" dirty="0"/>
          </a:p>
        </p:txBody>
      </p:sp>
      <p:pic>
        <p:nvPicPr>
          <p:cNvPr id="31" name="Image 3" descr="/home/claude/sih/icon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224" y="3749040"/>
            <a:ext cx="228600" cy="22860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548640" y="4014216"/>
            <a:ext cx="5074920" cy="306324"/>
          </a:xfrm>
          <a:prstGeom prst="rect">
            <a:avLst/>
          </a:prstGeom>
          <a:solidFill>
            <a:srgbClr val="121F42"/>
          </a:solidFill>
          <a:ln/>
        </p:spPr>
      </p:sp>
      <p:sp>
        <p:nvSpPr>
          <p:cNvPr id="33" name="Text 27"/>
          <p:cNvSpPr/>
          <p:nvPr/>
        </p:nvSpPr>
        <p:spPr>
          <a:xfrm>
            <a:off x="658368" y="4014216"/>
            <a:ext cx="44805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(OCR + Vision)</a:t>
            </a:r>
            <a:endParaRPr lang="en-US" sz="1030" dirty="0"/>
          </a:p>
        </p:txBody>
      </p:sp>
      <p:pic>
        <p:nvPicPr>
          <p:cNvPr id="34" name="Image 4" descr="/home/claude/sih/icon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1224" y="4055364"/>
            <a:ext cx="228600" cy="22860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5943600" y="2788920"/>
            <a:ext cx="5074920" cy="306324"/>
          </a:xfrm>
          <a:prstGeom prst="rect">
            <a:avLst/>
          </a:prstGeom>
          <a:solidFill>
            <a:srgbClr val="121F42"/>
          </a:solidFill>
          <a:ln/>
        </p:spPr>
      </p:sp>
      <p:sp>
        <p:nvSpPr>
          <p:cNvPr id="36" name="Text 29"/>
          <p:cNvSpPr/>
          <p:nvPr/>
        </p:nvSpPr>
        <p:spPr>
          <a:xfrm>
            <a:off x="6053328" y="2788920"/>
            <a:ext cx="44805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RAG</a:t>
            </a:r>
            <a:endParaRPr lang="en-US" sz="1030" dirty="0"/>
          </a:p>
        </p:txBody>
      </p:sp>
      <p:pic>
        <p:nvPicPr>
          <p:cNvPr id="37" name="Image 5" descr="/home/claude/sih/icons/check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6184" y="2830068"/>
            <a:ext cx="228600" cy="2286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053328" y="3095244"/>
            <a:ext cx="44805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Tool Execution</a:t>
            </a:r>
            <a:endParaRPr lang="en-US" sz="1030" dirty="0"/>
          </a:p>
        </p:txBody>
      </p:sp>
      <p:pic>
        <p:nvPicPr>
          <p:cNvPr id="39" name="Image 6" descr="/home/claude/sih/icons/chec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6184" y="3136392"/>
            <a:ext cx="228600" cy="228600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5943600" y="3401568"/>
            <a:ext cx="5074920" cy="306324"/>
          </a:xfrm>
          <a:prstGeom prst="rect">
            <a:avLst/>
          </a:prstGeom>
          <a:solidFill>
            <a:srgbClr val="121F42"/>
          </a:solidFill>
          <a:ln/>
        </p:spPr>
      </p:sp>
      <p:sp>
        <p:nvSpPr>
          <p:cNvPr id="41" name="Text 32"/>
          <p:cNvSpPr/>
          <p:nvPr/>
        </p:nvSpPr>
        <p:spPr>
          <a:xfrm>
            <a:off x="6053328" y="3401568"/>
            <a:ext cx="44805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File Outputs (DOCX/PPTX/XLSX)</a:t>
            </a:r>
            <a:endParaRPr lang="en-US" sz="1030" dirty="0"/>
          </a:p>
        </p:txBody>
      </p:sp>
      <p:pic>
        <p:nvPicPr>
          <p:cNvPr id="42" name="Image 7" descr="/home/claude/sih/icons/check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6184" y="3442716"/>
            <a:ext cx="228600" cy="22860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053328" y="3707892"/>
            <a:ext cx="44805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Audit / Zero-Egress Proof</a:t>
            </a:r>
            <a:endParaRPr lang="en-US" sz="1030" dirty="0"/>
          </a:p>
        </p:txBody>
      </p:sp>
      <p:pic>
        <p:nvPicPr>
          <p:cNvPr id="44" name="Image 8" descr="/home/claude/sih/icons/check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16184" y="3749040"/>
            <a:ext cx="228600" cy="228600"/>
          </a:xfrm>
          <a:prstGeom prst="rect">
            <a:avLst/>
          </a:prstGeom>
        </p:spPr>
      </p:pic>
      <p:sp>
        <p:nvSpPr>
          <p:cNvPr id="45" name="Shape 34"/>
          <p:cNvSpPr/>
          <p:nvPr/>
        </p:nvSpPr>
        <p:spPr>
          <a:xfrm>
            <a:off x="548640" y="4709160"/>
            <a:ext cx="11064240" cy="0"/>
          </a:xfrm>
          <a:prstGeom prst="line">
            <a:avLst/>
          </a:prstGeom>
          <a:noFill/>
          <a:ln w="12700">
            <a:solidFill>
              <a:srgbClr val="2C4770"/>
            </a:solidFill>
            <a:prstDash val="solid"/>
          </a:ln>
        </p:spPr>
      </p:sp>
      <p:sp>
        <p:nvSpPr>
          <p:cNvPr id="46" name="Text 35"/>
          <p:cNvSpPr/>
          <p:nvPr/>
        </p:nvSpPr>
        <p:spPr>
          <a:xfrm>
            <a:off x="548640" y="48188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50" dirty="0"/>
          </a:p>
        </p:txBody>
      </p:sp>
      <p:sp>
        <p:nvSpPr>
          <p:cNvPr id="47" name="Text 36"/>
          <p:cNvSpPr/>
          <p:nvPr/>
        </p:nvSpPr>
        <p:spPr>
          <a:xfrm>
            <a:off x="548640" y="509320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Ollama / vLLM — open-weight local inference documentation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548640" y="534924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Open-source vector database documentation (local RAG)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548640" y="5605272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PaddleOCR / open vision-language model documentation</a:t>
            </a:r>
            <a:endParaRPr lang="en-US" sz="1000" dirty="0"/>
          </a:p>
        </p:txBody>
      </p:sp>
      <p:sp>
        <p:nvSpPr>
          <p:cNvPr id="50" name="Text 39"/>
          <p:cNvSpPr/>
          <p:nvPr/>
        </p:nvSpPr>
        <p:spPr>
          <a:xfrm>
            <a:off x="548640" y="5861304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 orchestration (plan–act–verify) design references</a:t>
            </a:r>
            <a:endParaRPr lang="en-US" sz="1000" dirty="0"/>
          </a:p>
        </p:txBody>
      </p:sp>
      <p:sp>
        <p:nvSpPr>
          <p:cNvPr id="51" name="Shape 40"/>
          <p:cNvSpPr/>
          <p:nvPr/>
        </p:nvSpPr>
        <p:spPr>
          <a:xfrm>
            <a:off x="8549640" y="5093208"/>
            <a:ext cx="3063240" cy="1051560"/>
          </a:xfrm>
          <a:prstGeom prst="roundRect">
            <a:avLst>
              <a:gd name="adj" fmla="val 7826"/>
            </a:avLst>
          </a:prstGeom>
          <a:solidFill>
            <a:srgbClr val="16264F"/>
          </a:solidFill>
          <a:ln w="12700">
            <a:solidFill>
              <a:srgbClr val="00E5A8"/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8686800" y="5093208"/>
            <a:ext cx="2788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i="1" dirty="0">
                <a:solidFill>
                  <a:srgbClr val="00E5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"Claude/Codex-grade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i="1" dirty="0">
                <a:solidFill>
                  <a:srgbClr val="00E5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intelligence, fully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i="1" dirty="0">
                <a:solidFill>
                  <a:srgbClr val="00E5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fence."</a:t>
            </a:r>
            <a:endParaRPr lang="en-US" sz="1300" dirty="0"/>
          </a:p>
        </p:txBody>
      </p:sp>
      <p:sp>
        <p:nvSpPr>
          <p:cNvPr id="53" name="Text 42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SIH26117  ·  KAVACH — Sovereign Agentic AI Workbench</a:t>
            </a:r>
            <a:endParaRPr lang="en-US" sz="900" dirty="0"/>
          </a:p>
        </p:txBody>
      </p:sp>
      <p:sp>
        <p:nvSpPr>
          <p:cNvPr id="54" name="Text 4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2026-09-06T13:31:42Z</dcterms:created>
  <dcterms:modified xsi:type="dcterms:W3CDTF">2026-09-06T13:31:42Z</dcterms:modified>
</cp:coreProperties>
</file>