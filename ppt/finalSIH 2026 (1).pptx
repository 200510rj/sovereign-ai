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1" r:id="rId8"/>
    <p:sldId id="260" r:id="rId9"/>
  </p:sldIdLst>
  <p:sldSz cx="18288000" cy="10287000"/>
  <p:notesSz cx="6858000" cy="12192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E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>
        <p:scale>
          <a:sx n="50" d="100"/>
          <a:sy n="50" d="100"/>
        </p:scale>
        <p:origin x="540" y="3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248285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4318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4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19927" y="-128"/>
            <a:ext cx="12130405" cy="14844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3084" y="2936774"/>
            <a:ext cx="11777980" cy="6156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420648" y="9657783"/>
            <a:ext cx="3733802" cy="4515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248285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203140" y="9798935"/>
            <a:ext cx="221646" cy="2881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4318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4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005.11401" TargetMode="External"/><Relationship Id="rId3" Type="http://schemas.openxmlformats.org/officeDocument/2006/relationships/hyperlink" Target="https://ollama.com" TargetMode="External"/><Relationship Id="rId7" Type="http://schemas.openxmlformats.org/officeDocument/2006/relationships/hyperlink" Target="https://qdrant.tech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hub.com/PaddlePaddle/PaddleOCR" TargetMode="External"/><Relationship Id="rId5" Type="http://schemas.openxmlformats.org/officeDocument/2006/relationships/hyperlink" Target="https://github.com/langchain-ai/langgraph" TargetMode="External"/><Relationship Id="rId10" Type="http://schemas.openxmlformats.org/officeDocument/2006/relationships/image" Target="../media/image5.png"/><Relationship Id="rId4" Type="http://schemas.openxmlformats.org/officeDocument/2006/relationships/hyperlink" Target="https://huggingface.co/Qwen" TargetMode="External"/><Relationship Id="rId9" Type="http://schemas.openxmlformats.org/officeDocument/2006/relationships/hyperlink" Target="https://www.meity.gov.in/writereaddata/files/Digital%20Personal%20Data%20Protection%20Act%202023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85223" y="1277281"/>
            <a:ext cx="9147175" cy="7734300"/>
            <a:chOff x="8485223" y="1277281"/>
            <a:chExt cx="9147175" cy="7734300"/>
          </a:xfrm>
        </p:grpSpPr>
        <p:sp>
          <p:nvSpPr>
            <p:cNvPr id="3" name="object 3"/>
            <p:cNvSpPr/>
            <p:nvPr/>
          </p:nvSpPr>
          <p:spPr>
            <a:xfrm>
              <a:off x="8485223" y="1277281"/>
              <a:ext cx="6953250" cy="7734300"/>
            </a:xfrm>
            <a:custGeom>
              <a:avLst/>
              <a:gdLst/>
              <a:ahLst/>
              <a:cxnLst/>
              <a:rect l="l" t="t" r="r" b="b"/>
              <a:pathLst>
                <a:path w="6953250" h="7734300">
                  <a:moveTo>
                    <a:pt x="5273432" y="7734299"/>
                  </a:moveTo>
                  <a:lnTo>
                    <a:pt x="2798804" y="7734299"/>
                  </a:lnTo>
                  <a:lnTo>
                    <a:pt x="2755486" y="7731510"/>
                  </a:lnTo>
                  <a:lnTo>
                    <a:pt x="2713181" y="7723274"/>
                  </a:lnTo>
                  <a:lnTo>
                    <a:pt x="2672110" y="7709783"/>
                  </a:lnTo>
                  <a:lnTo>
                    <a:pt x="2632490" y="7691230"/>
                  </a:lnTo>
                  <a:lnTo>
                    <a:pt x="2594538" y="7667807"/>
                  </a:lnTo>
                  <a:lnTo>
                    <a:pt x="2558471" y="7639707"/>
                  </a:lnTo>
                  <a:lnTo>
                    <a:pt x="2524505" y="7607124"/>
                  </a:lnTo>
                  <a:lnTo>
                    <a:pt x="2492855" y="7570250"/>
                  </a:lnTo>
                  <a:lnTo>
                    <a:pt x="2463739" y="7529278"/>
                  </a:lnTo>
                  <a:lnTo>
                    <a:pt x="2437372" y="7484400"/>
                  </a:lnTo>
                  <a:lnTo>
                    <a:pt x="2413970" y="7435810"/>
                  </a:lnTo>
                  <a:lnTo>
                    <a:pt x="1179322" y="4586121"/>
                  </a:lnTo>
                  <a:lnTo>
                    <a:pt x="1160955" y="4540722"/>
                  </a:lnTo>
                  <a:lnTo>
                    <a:pt x="1145927" y="4493597"/>
                  </a:lnTo>
                  <a:lnTo>
                    <a:pt x="1134239" y="4445090"/>
                  </a:lnTo>
                  <a:lnTo>
                    <a:pt x="1125891" y="4395549"/>
                  </a:lnTo>
                  <a:lnTo>
                    <a:pt x="1120882" y="4345318"/>
                  </a:lnTo>
                  <a:lnTo>
                    <a:pt x="1119212" y="4294743"/>
                  </a:lnTo>
                  <a:lnTo>
                    <a:pt x="1120882" y="4244170"/>
                  </a:lnTo>
                  <a:lnTo>
                    <a:pt x="1125891" y="4193945"/>
                  </a:lnTo>
                  <a:lnTo>
                    <a:pt x="1134239" y="4144414"/>
                  </a:lnTo>
                  <a:lnTo>
                    <a:pt x="1145927" y="4095921"/>
                  </a:lnTo>
                  <a:lnTo>
                    <a:pt x="1160955" y="4048813"/>
                  </a:lnTo>
                  <a:lnTo>
                    <a:pt x="1179322" y="4003436"/>
                  </a:lnTo>
                  <a:lnTo>
                    <a:pt x="1676379" y="2856167"/>
                  </a:lnTo>
                  <a:lnTo>
                    <a:pt x="1675047" y="2855405"/>
                  </a:lnTo>
                  <a:lnTo>
                    <a:pt x="1636865" y="2815963"/>
                  </a:lnTo>
                  <a:lnTo>
                    <a:pt x="1606894" y="2763658"/>
                  </a:lnTo>
                  <a:lnTo>
                    <a:pt x="1088420" y="1566943"/>
                  </a:lnTo>
                  <a:lnTo>
                    <a:pt x="1072246" y="1520004"/>
                  </a:lnTo>
                  <a:lnTo>
                    <a:pt x="1064159" y="1470047"/>
                  </a:lnTo>
                  <a:lnTo>
                    <a:pt x="1064159" y="1419084"/>
                  </a:lnTo>
                  <a:lnTo>
                    <a:pt x="1072246" y="1369127"/>
                  </a:lnTo>
                  <a:lnTo>
                    <a:pt x="1088420" y="1322188"/>
                  </a:lnTo>
                  <a:lnTo>
                    <a:pt x="1606946" y="125378"/>
                  </a:lnTo>
                  <a:lnTo>
                    <a:pt x="1630265" y="82571"/>
                  </a:lnTo>
                  <a:lnTo>
                    <a:pt x="1659083" y="47722"/>
                  </a:lnTo>
                  <a:lnTo>
                    <a:pt x="1692396" y="21776"/>
                  </a:lnTo>
                  <a:lnTo>
                    <a:pt x="1729255" y="5586"/>
                  </a:lnTo>
                  <a:lnTo>
                    <a:pt x="1768709" y="0"/>
                  </a:lnTo>
                  <a:lnTo>
                    <a:pt x="2807942" y="0"/>
                  </a:lnTo>
                  <a:lnTo>
                    <a:pt x="2855889" y="8671"/>
                  </a:lnTo>
                  <a:lnTo>
                    <a:pt x="2900248" y="33571"/>
                  </a:lnTo>
                  <a:lnTo>
                    <a:pt x="2938289" y="73030"/>
                  </a:lnTo>
                  <a:lnTo>
                    <a:pt x="2967282" y="125378"/>
                  </a:lnTo>
                  <a:lnTo>
                    <a:pt x="2984068" y="163963"/>
                  </a:lnTo>
                  <a:lnTo>
                    <a:pt x="1827534" y="163963"/>
                  </a:lnTo>
                  <a:lnTo>
                    <a:pt x="1784162" y="171647"/>
                  </a:lnTo>
                  <a:lnTo>
                    <a:pt x="1744699" y="193712"/>
                  </a:lnTo>
                  <a:lnTo>
                    <a:pt x="1710839" y="228674"/>
                  </a:lnTo>
                  <a:lnTo>
                    <a:pt x="1684280" y="275050"/>
                  </a:lnTo>
                  <a:lnTo>
                    <a:pt x="1224630" y="1336003"/>
                  </a:lnTo>
                  <a:lnTo>
                    <a:pt x="1210284" y="1377606"/>
                  </a:lnTo>
                  <a:lnTo>
                    <a:pt x="1203111" y="1421885"/>
                  </a:lnTo>
                  <a:lnTo>
                    <a:pt x="1203111" y="1467055"/>
                  </a:lnTo>
                  <a:lnTo>
                    <a:pt x="1210284" y="1511334"/>
                  </a:lnTo>
                  <a:lnTo>
                    <a:pt x="1224597" y="1552842"/>
                  </a:lnTo>
                  <a:lnTo>
                    <a:pt x="1684280" y="2613890"/>
                  </a:lnTo>
                  <a:lnTo>
                    <a:pt x="1710860" y="2660287"/>
                  </a:lnTo>
                  <a:lnTo>
                    <a:pt x="1744723" y="2695252"/>
                  </a:lnTo>
                  <a:lnTo>
                    <a:pt x="1751671" y="2699159"/>
                  </a:lnTo>
                  <a:lnTo>
                    <a:pt x="1686279" y="2850070"/>
                  </a:lnTo>
                  <a:lnTo>
                    <a:pt x="1727116" y="2870032"/>
                  </a:lnTo>
                  <a:lnTo>
                    <a:pt x="6401873" y="2874936"/>
                  </a:lnTo>
                  <a:lnTo>
                    <a:pt x="6892915" y="4003436"/>
                  </a:lnTo>
                  <a:lnTo>
                    <a:pt x="6911273" y="4048813"/>
                  </a:lnTo>
                  <a:lnTo>
                    <a:pt x="6926296" y="4095921"/>
                  </a:lnTo>
                  <a:lnTo>
                    <a:pt x="6937984" y="4144414"/>
                  </a:lnTo>
                  <a:lnTo>
                    <a:pt x="6946335" y="4193945"/>
                  </a:lnTo>
                  <a:lnTo>
                    <a:pt x="6951347" y="4244170"/>
                  </a:lnTo>
                  <a:lnTo>
                    <a:pt x="6953022" y="4294743"/>
                  </a:lnTo>
                  <a:lnTo>
                    <a:pt x="6951357" y="4345318"/>
                  </a:lnTo>
                  <a:lnTo>
                    <a:pt x="6946352" y="4395549"/>
                  </a:lnTo>
                  <a:lnTo>
                    <a:pt x="6938006" y="4445090"/>
                  </a:lnTo>
                  <a:lnTo>
                    <a:pt x="6926318" y="4493597"/>
                  </a:lnTo>
                  <a:lnTo>
                    <a:pt x="6911288" y="4540722"/>
                  </a:lnTo>
                  <a:lnTo>
                    <a:pt x="6892915" y="4586121"/>
                  </a:lnTo>
                  <a:lnTo>
                    <a:pt x="5652935" y="7435810"/>
                  </a:lnTo>
                  <a:lnTo>
                    <a:pt x="5630728" y="7484400"/>
                  </a:lnTo>
                  <a:lnTo>
                    <a:pt x="5605124" y="7529278"/>
                  </a:lnTo>
                  <a:lnTo>
                    <a:pt x="5576436" y="7570250"/>
                  </a:lnTo>
                  <a:lnTo>
                    <a:pt x="5544976" y="7607124"/>
                  </a:lnTo>
                  <a:lnTo>
                    <a:pt x="5511058" y="7639707"/>
                  </a:lnTo>
                  <a:lnTo>
                    <a:pt x="5474993" y="7667807"/>
                  </a:lnTo>
                  <a:lnTo>
                    <a:pt x="5437096" y="7691230"/>
                  </a:lnTo>
                  <a:lnTo>
                    <a:pt x="5397678" y="7709783"/>
                  </a:lnTo>
                  <a:lnTo>
                    <a:pt x="5357053" y="7723274"/>
                  </a:lnTo>
                  <a:lnTo>
                    <a:pt x="5315533" y="7731510"/>
                  </a:lnTo>
                  <a:lnTo>
                    <a:pt x="5273432" y="7734299"/>
                  </a:lnTo>
                  <a:close/>
                </a:path>
                <a:path w="6953250" h="7734300">
                  <a:moveTo>
                    <a:pt x="3278062" y="839825"/>
                  </a:moveTo>
                  <a:lnTo>
                    <a:pt x="3135855" y="839825"/>
                  </a:lnTo>
                  <a:lnTo>
                    <a:pt x="2890087" y="275050"/>
                  </a:lnTo>
                  <a:lnTo>
                    <a:pt x="2864362" y="228674"/>
                  </a:lnTo>
                  <a:lnTo>
                    <a:pt x="2830632" y="193712"/>
                  </a:lnTo>
                  <a:lnTo>
                    <a:pt x="2791316" y="171647"/>
                  </a:lnTo>
                  <a:lnTo>
                    <a:pt x="2748832" y="163963"/>
                  </a:lnTo>
                  <a:lnTo>
                    <a:pt x="2984068" y="163963"/>
                  </a:lnTo>
                  <a:lnTo>
                    <a:pt x="3278062" y="839825"/>
                  </a:lnTo>
                  <a:close/>
                </a:path>
                <a:path w="6953250" h="7734300">
                  <a:moveTo>
                    <a:pt x="2744644" y="2710972"/>
                  </a:moveTo>
                  <a:lnTo>
                    <a:pt x="1823345" y="2710972"/>
                  </a:lnTo>
                  <a:lnTo>
                    <a:pt x="1812213" y="2710477"/>
                  </a:lnTo>
                  <a:lnTo>
                    <a:pt x="1801250" y="2709007"/>
                  </a:lnTo>
                  <a:lnTo>
                    <a:pt x="1790484" y="2706591"/>
                  </a:lnTo>
                  <a:lnTo>
                    <a:pt x="1779941" y="2703255"/>
                  </a:lnTo>
                  <a:lnTo>
                    <a:pt x="1750053" y="2686678"/>
                  </a:lnTo>
                  <a:lnTo>
                    <a:pt x="2414256" y="1153747"/>
                  </a:lnTo>
                  <a:lnTo>
                    <a:pt x="2437681" y="1105136"/>
                  </a:lnTo>
                  <a:lnTo>
                    <a:pt x="2464070" y="1060245"/>
                  </a:lnTo>
                  <a:lnTo>
                    <a:pt x="2493205" y="1019266"/>
                  </a:lnTo>
                  <a:lnTo>
                    <a:pt x="2524870" y="982391"/>
                  </a:lnTo>
                  <a:lnTo>
                    <a:pt x="2558846" y="949812"/>
                  </a:lnTo>
                  <a:lnTo>
                    <a:pt x="2594917" y="921719"/>
                  </a:lnTo>
                  <a:lnTo>
                    <a:pt x="2632866" y="898304"/>
                  </a:lnTo>
                  <a:lnTo>
                    <a:pt x="2672475" y="879759"/>
                  </a:lnTo>
                  <a:lnTo>
                    <a:pt x="2713529" y="866275"/>
                  </a:lnTo>
                  <a:lnTo>
                    <a:pt x="2755814" y="858045"/>
                  </a:lnTo>
                  <a:lnTo>
                    <a:pt x="2799090" y="855259"/>
                  </a:lnTo>
                  <a:lnTo>
                    <a:pt x="3144422" y="855259"/>
                  </a:lnTo>
                  <a:lnTo>
                    <a:pt x="3347547" y="1321998"/>
                  </a:lnTo>
                  <a:lnTo>
                    <a:pt x="3361894" y="1363601"/>
                  </a:lnTo>
                  <a:lnTo>
                    <a:pt x="3369067" y="1407880"/>
                  </a:lnTo>
                  <a:lnTo>
                    <a:pt x="3369067" y="1453050"/>
                  </a:lnTo>
                  <a:lnTo>
                    <a:pt x="3361894" y="1497329"/>
                  </a:lnTo>
                  <a:lnTo>
                    <a:pt x="3347547" y="1538933"/>
                  </a:lnTo>
                  <a:lnTo>
                    <a:pt x="2885899" y="2599885"/>
                  </a:lnTo>
                  <a:lnTo>
                    <a:pt x="2860173" y="2646262"/>
                  </a:lnTo>
                  <a:lnTo>
                    <a:pt x="2826444" y="2681224"/>
                  </a:lnTo>
                  <a:lnTo>
                    <a:pt x="2787186" y="2703255"/>
                  </a:lnTo>
                  <a:lnTo>
                    <a:pt x="2744644" y="2710972"/>
                  </a:lnTo>
                  <a:close/>
                </a:path>
                <a:path w="6953250" h="7734300">
                  <a:moveTo>
                    <a:pt x="6401873" y="2874936"/>
                  </a:moveTo>
                  <a:lnTo>
                    <a:pt x="2803374" y="2874936"/>
                  </a:lnTo>
                  <a:lnTo>
                    <a:pt x="2851320" y="2866265"/>
                  </a:lnTo>
                  <a:lnTo>
                    <a:pt x="2895679" y="2841364"/>
                  </a:lnTo>
                  <a:lnTo>
                    <a:pt x="2933721" y="2801905"/>
                  </a:lnTo>
                  <a:lnTo>
                    <a:pt x="2962714" y="2749558"/>
                  </a:lnTo>
                  <a:lnTo>
                    <a:pt x="3483472" y="1552842"/>
                  </a:lnTo>
                  <a:lnTo>
                    <a:pt x="3499646" y="1505904"/>
                  </a:lnTo>
                  <a:lnTo>
                    <a:pt x="3507733" y="1455947"/>
                  </a:lnTo>
                  <a:lnTo>
                    <a:pt x="3507733" y="1404984"/>
                  </a:lnTo>
                  <a:lnTo>
                    <a:pt x="3499646" y="1355027"/>
                  </a:lnTo>
                  <a:lnTo>
                    <a:pt x="3483472" y="1308088"/>
                  </a:lnTo>
                  <a:lnTo>
                    <a:pt x="3286439" y="855259"/>
                  </a:lnTo>
                  <a:lnTo>
                    <a:pt x="5273430" y="855259"/>
                  </a:lnTo>
                  <a:lnTo>
                    <a:pt x="5315512" y="858045"/>
                  </a:lnTo>
                  <a:lnTo>
                    <a:pt x="5357018" y="866275"/>
                  </a:lnTo>
                  <a:lnTo>
                    <a:pt x="5397637" y="879759"/>
                  </a:lnTo>
                  <a:lnTo>
                    <a:pt x="5437054" y="898304"/>
                  </a:lnTo>
                  <a:lnTo>
                    <a:pt x="5474955" y="921719"/>
                  </a:lnTo>
                  <a:lnTo>
                    <a:pt x="5511026" y="949812"/>
                  </a:lnTo>
                  <a:lnTo>
                    <a:pt x="5544952" y="982391"/>
                  </a:lnTo>
                  <a:lnTo>
                    <a:pt x="5576421" y="1019266"/>
                  </a:lnTo>
                  <a:lnTo>
                    <a:pt x="5605117" y="1060245"/>
                  </a:lnTo>
                  <a:lnTo>
                    <a:pt x="5630726" y="1105136"/>
                  </a:lnTo>
                  <a:lnTo>
                    <a:pt x="5652935" y="1153747"/>
                  </a:lnTo>
                  <a:lnTo>
                    <a:pt x="6401873" y="2874936"/>
                  </a:lnTo>
                  <a:close/>
                </a:path>
                <a:path w="6953250" h="7734300">
                  <a:moveTo>
                    <a:pt x="1009892" y="6361235"/>
                  </a:moveTo>
                  <a:lnTo>
                    <a:pt x="408321" y="6361235"/>
                  </a:lnTo>
                  <a:lnTo>
                    <a:pt x="379957" y="6356201"/>
                  </a:lnTo>
                  <a:lnTo>
                    <a:pt x="332094" y="6318911"/>
                  </a:lnTo>
                  <a:lnTo>
                    <a:pt x="14634" y="5595912"/>
                  </a:lnTo>
                  <a:lnTo>
                    <a:pt x="0" y="5525077"/>
                  </a:lnTo>
                  <a:lnTo>
                    <a:pt x="3658" y="5488516"/>
                  </a:lnTo>
                  <a:lnTo>
                    <a:pt x="314753" y="4761518"/>
                  </a:lnTo>
                  <a:lnTo>
                    <a:pt x="354284" y="4708356"/>
                  </a:lnTo>
                  <a:lnTo>
                    <a:pt x="408321" y="4688920"/>
                  </a:lnTo>
                  <a:lnTo>
                    <a:pt x="1009892" y="4688920"/>
                  </a:lnTo>
                  <a:lnTo>
                    <a:pt x="1063326" y="4708356"/>
                  </a:lnTo>
                  <a:lnTo>
                    <a:pt x="1102126" y="4761518"/>
                  </a:lnTo>
                  <a:lnTo>
                    <a:pt x="1403578" y="5454242"/>
                  </a:lnTo>
                  <a:lnTo>
                    <a:pt x="1418213" y="5525077"/>
                  </a:lnTo>
                  <a:lnTo>
                    <a:pt x="1414554" y="5561638"/>
                  </a:lnTo>
                  <a:lnTo>
                    <a:pt x="1102126" y="6288637"/>
                  </a:lnTo>
                  <a:lnTo>
                    <a:pt x="1063326" y="6341763"/>
                  </a:lnTo>
                  <a:lnTo>
                    <a:pt x="1009892" y="6361235"/>
                  </a:lnTo>
                  <a:close/>
                </a:path>
              </a:pathLst>
            </a:custGeom>
            <a:solidFill>
              <a:srgbClr val="808080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26626" y="2152504"/>
              <a:ext cx="4805263" cy="5138301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734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25" dirty="0"/>
              <a:t>SMART</a:t>
            </a:r>
            <a:r>
              <a:rPr sz="6000" spc="-80" dirty="0"/>
              <a:t> </a:t>
            </a:r>
            <a:r>
              <a:rPr sz="6000" spc="140" dirty="0"/>
              <a:t>INDIA</a:t>
            </a:r>
            <a:r>
              <a:rPr sz="6000" spc="-80" dirty="0"/>
              <a:t> </a:t>
            </a:r>
            <a:r>
              <a:rPr sz="6000" dirty="0"/>
              <a:t>HACKATHON</a:t>
            </a:r>
            <a:r>
              <a:rPr sz="6000" spc="-75" dirty="0"/>
              <a:t> </a:t>
            </a:r>
            <a:r>
              <a:rPr sz="6000" spc="-90" dirty="0"/>
              <a:t>2025</a:t>
            </a:r>
            <a:endParaRPr sz="600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758" y="3200839"/>
            <a:ext cx="95250" cy="9524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723084" y="2936774"/>
            <a:ext cx="11777980" cy="62151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spc="-204" dirty="0"/>
              <a:t>Problem</a:t>
            </a:r>
            <a:r>
              <a:rPr spc="-270" dirty="0"/>
              <a:t> </a:t>
            </a:r>
            <a:r>
              <a:rPr spc="-180" dirty="0"/>
              <a:t>Statement</a:t>
            </a:r>
            <a:r>
              <a:rPr spc="-265" dirty="0"/>
              <a:t> </a:t>
            </a:r>
            <a:r>
              <a:rPr spc="-20" dirty="0"/>
              <a:t>ID</a:t>
            </a:r>
            <a:r>
              <a:rPr spc="-265" dirty="0"/>
              <a:t> </a:t>
            </a:r>
            <a:r>
              <a:rPr lang="en-US" spc="-265" dirty="0"/>
              <a:t>-</a:t>
            </a:r>
            <a:r>
              <a:rPr spc="-265" dirty="0"/>
              <a:t> </a:t>
            </a:r>
            <a:r>
              <a:rPr lang="en-IN" b="0" dirty="0"/>
              <a:t>26117</a:t>
            </a:r>
          </a:p>
          <a:p>
            <a:endParaRPr lang="en-IN" b="0" dirty="0"/>
          </a:p>
          <a:p>
            <a:pPr marL="12700" marR="5080">
              <a:lnSpc>
                <a:spcPct val="100000"/>
              </a:lnSpc>
            </a:pPr>
            <a:r>
              <a:rPr spc="-204" dirty="0"/>
              <a:t>Problem</a:t>
            </a:r>
            <a:r>
              <a:rPr spc="-50" dirty="0"/>
              <a:t> </a:t>
            </a:r>
            <a:r>
              <a:rPr spc="-180" dirty="0"/>
              <a:t>Statement</a:t>
            </a:r>
            <a:r>
              <a:rPr spc="-50" dirty="0"/>
              <a:t> </a:t>
            </a:r>
            <a:r>
              <a:rPr spc="-55" dirty="0"/>
              <a:t>Title</a:t>
            </a:r>
            <a:r>
              <a:rPr lang="en-US" spc="-55" dirty="0"/>
              <a:t> </a:t>
            </a:r>
            <a:r>
              <a:rPr spc="-55" dirty="0"/>
              <a:t>-</a:t>
            </a:r>
            <a:r>
              <a:rPr spc="540" dirty="0"/>
              <a:t> </a:t>
            </a:r>
            <a:r>
              <a:rPr lang="en-IN" b="0" dirty="0"/>
              <a:t>Sovereign On-Premise Agentic AI Workbench using Open-Weight Multimodal LLMs for Confidential Industrial Work</a:t>
            </a:r>
          </a:p>
          <a:p>
            <a:pPr marL="12700" marR="5080">
              <a:lnSpc>
                <a:spcPct val="100000"/>
              </a:lnSpc>
            </a:pPr>
            <a:endParaRPr spc="-10" dirty="0"/>
          </a:p>
          <a:p>
            <a:r>
              <a:rPr spc="-210" dirty="0"/>
              <a:t>Theme</a:t>
            </a:r>
            <a:r>
              <a:rPr lang="en-US" spc="-210" dirty="0"/>
              <a:t> </a:t>
            </a:r>
            <a:r>
              <a:rPr spc="-210" dirty="0"/>
              <a:t>-</a:t>
            </a:r>
            <a:r>
              <a:rPr spc="-254" dirty="0"/>
              <a:t> </a:t>
            </a:r>
            <a:r>
              <a:rPr lang="en-IN" b="0" dirty="0"/>
              <a:t>Smart Automation</a:t>
            </a:r>
          </a:p>
          <a:p>
            <a:endParaRPr lang="en-IN" b="0" dirty="0"/>
          </a:p>
          <a:p>
            <a:pPr marL="12700" marR="8296909">
              <a:lnSpc>
                <a:spcPct val="100000"/>
              </a:lnSpc>
            </a:pPr>
            <a:r>
              <a:rPr spc="75" dirty="0"/>
              <a:t>PS</a:t>
            </a:r>
            <a:r>
              <a:rPr spc="-265" dirty="0"/>
              <a:t> </a:t>
            </a:r>
            <a:r>
              <a:rPr spc="-170" dirty="0"/>
              <a:t>Category</a:t>
            </a:r>
            <a:r>
              <a:rPr lang="en-US" spc="-170" dirty="0"/>
              <a:t> - </a:t>
            </a:r>
            <a:r>
              <a:rPr lang="en-IN" b="0" spc="-170" dirty="0"/>
              <a:t>software</a:t>
            </a:r>
          </a:p>
          <a:p>
            <a:pPr marL="12700" marR="8296909">
              <a:lnSpc>
                <a:spcPct val="100000"/>
              </a:lnSpc>
            </a:pPr>
            <a:endParaRPr lang="en-IN" b="0" spc="-170" dirty="0"/>
          </a:p>
          <a:p>
            <a:pPr marL="12700" marR="8296909">
              <a:lnSpc>
                <a:spcPct val="100000"/>
              </a:lnSpc>
            </a:pPr>
            <a:r>
              <a:rPr spc="-180" dirty="0"/>
              <a:t>Team</a:t>
            </a:r>
            <a:r>
              <a:rPr spc="-300" dirty="0"/>
              <a:t> </a:t>
            </a:r>
            <a:r>
              <a:rPr dirty="0"/>
              <a:t>ID</a:t>
            </a:r>
            <a:r>
              <a:rPr lang="en-US" dirty="0"/>
              <a:t> </a:t>
            </a:r>
            <a:r>
              <a:rPr dirty="0"/>
              <a:t>-</a:t>
            </a:r>
            <a:r>
              <a:rPr lang="en-US" dirty="0"/>
              <a:t> </a:t>
            </a:r>
            <a:endParaRPr lang="en-US" spc="-10" dirty="0"/>
          </a:p>
          <a:p>
            <a:pPr marL="12700" marR="8296909">
              <a:lnSpc>
                <a:spcPct val="100000"/>
              </a:lnSpc>
            </a:pPr>
            <a:endParaRPr lang="en-US" spc="-10" dirty="0"/>
          </a:p>
          <a:p>
            <a:pPr marL="12700" marR="8296909">
              <a:lnSpc>
                <a:spcPct val="100000"/>
              </a:lnSpc>
            </a:pPr>
            <a:r>
              <a:rPr lang="en-US" spc="-180" dirty="0"/>
              <a:t>Team</a:t>
            </a:r>
            <a:r>
              <a:rPr lang="en-US" spc="-275" dirty="0"/>
              <a:t> </a:t>
            </a:r>
            <a:r>
              <a:rPr lang="en-US" spc="-145" dirty="0"/>
              <a:t>Name                  -   </a:t>
            </a:r>
            <a:r>
              <a:rPr lang="en-US" spc="-195" dirty="0">
                <a:solidFill>
                  <a:prstClr val="black"/>
                </a:solidFill>
              </a:rPr>
              <a:t>(Registered</a:t>
            </a:r>
            <a:r>
              <a:rPr lang="en-US" spc="-270" dirty="0">
                <a:solidFill>
                  <a:prstClr val="black"/>
                </a:solidFill>
              </a:rPr>
              <a:t> </a:t>
            </a:r>
            <a:r>
              <a:rPr lang="en-US" spc="-175" dirty="0">
                <a:solidFill>
                  <a:prstClr val="black"/>
                </a:solidFill>
              </a:rPr>
              <a:t>on</a:t>
            </a:r>
            <a:r>
              <a:rPr lang="en-US" spc="-270" dirty="0">
                <a:solidFill>
                  <a:prstClr val="black"/>
                </a:solidFill>
              </a:rPr>
              <a:t> </a:t>
            </a:r>
            <a:r>
              <a:rPr lang="en-US" spc="-195" dirty="0">
                <a:solidFill>
                  <a:prstClr val="black"/>
                </a:solidFill>
              </a:rPr>
              <a:t>portal)</a:t>
            </a:r>
            <a:r>
              <a:rPr lang="en-US" spc="-275" dirty="0">
                <a:solidFill>
                  <a:prstClr val="black"/>
                </a:solidFill>
              </a:rPr>
              <a:t> </a:t>
            </a:r>
            <a:endParaRPr lang="en-US" spc="-35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758" y="4143814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5652" y="6362700"/>
            <a:ext cx="95250" cy="95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0480" y="7290805"/>
            <a:ext cx="95250" cy="952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049" y="8486029"/>
            <a:ext cx="95250" cy="9524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7246600" y="9232962"/>
            <a:ext cx="1606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55" dirty="0">
                <a:solidFill>
                  <a:srgbClr val="8064A2"/>
                </a:solidFill>
                <a:latin typeface="Lucida Sans Unicode"/>
                <a:cs typeface="Lucida Sans Unicode"/>
              </a:rPr>
              <a:t>1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47710B3-31BF-A91D-63A8-86DEC652E3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0332" y="0"/>
            <a:ext cx="3603602" cy="18018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250D583-84AD-4483-A53B-4CAFB5382D05}"/>
              </a:ext>
            </a:extLst>
          </p:cNvPr>
          <p:cNvGrpSpPr/>
          <p:nvPr/>
        </p:nvGrpSpPr>
        <p:grpSpPr>
          <a:xfrm>
            <a:off x="0" y="-19050"/>
            <a:ext cx="18059399" cy="10207628"/>
            <a:chOff x="-107255" y="74299"/>
            <a:chExt cx="12192000" cy="6881547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3212EC3B-AB31-F48C-8DF2-432E15F41D9C}"/>
                </a:ext>
              </a:extLst>
            </p:cNvPr>
            <p:cNvSpPr/>
            <p:nvPr/>
          </p:nvSpPr>
          <p:spPr>
            <a:xfrm>
              <a:off x="-107255" y="97846"/>
              <a:ext cx="12192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u="sng" dirty="0"/>
            </a:p>
          </p:txBody>
        </p:sp>
        <p:sp>
          <p:nvSpPr>
            <p:cNvPr id="106" name="Text 0">
              <a:extLst>
                <a:ext uri="{FF2B5EF4-FFF2-40B4-BE49-F238E27FC236}">
                  <a16:creationId xmlns:a16="http://schemas.microsoft.com/office/drawing/2014/main" id="{521B6EC9-505E-C6BF-8EA9-64016710CB19}"/>
                </a:ext>
              </a:extLst>
            </p:cNvPr>
            <p:cNvSpPr txBox="1"/>
            <p:nvPr/>
          </p:nvSpPr>
          <p:spPr>
            <a:xfrm>
              <a:off x="457200" y="269748"/>
              <a:ext cx="5035435" cy="502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00FFFF"/>
                  </a:solidFill>
                  <a:ea typeface="Cambria" pitchFamily="34" charset="-122"/>
                  <a:cs typeface="Cambria" pitchFamily="34" charset="-120"/>
                </a:rPr>
                <a:t>From Data-Security Risk to a Sovereign AI Advantage</a:t>
              </a:r>
              <a:endParaRPr lang="en-US" dirty="0">
                <a:solidFill>
                  <a:srgbClr val="00FFFF"/>
                </a:solidFill>
              </a:endParaRPr>
            </a:p>
          </p:txBody>
        </p:sp>
        <p:sp>
          <p:nvSpPr>
            <p:cNvPr id="107" name="Text 1">
              <a:extLst>
                <a:ext uri="{FF2B5EF4-FFF2-40B4-BE49-F238E27FC236}">
                  <a16:creationId xmlns:a16="http://schemas.microsoft.com/office/drawing/2014/main" id="{73BECB84-B67C-F46D-7316-3E9540DDE9E6}"/>
                </a:ext>
              </a:extLst>
            </p:cNvPr>
            <p:cNvSpPr txBox="1"/>
            <p:nvPr/>
          </p:nvSpPr>
          <p:spPr>
            <a:xfrm>
              <a:off x="457200" y="850392"/>
              <a:ext cx="5120640" cy="292608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kern="0" spc="300" dirty="0">
                  <a:solidFill>
                    <a:srgbClr val="FF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PROBLEM</a:t>
              </a:r>
              <a:endParaRPr lang="en-US" sz="1500" dirty="0">
                <a:solidFill>
                  <a:srgbClr val="FF0000"/>
                </a:solidFill>
              </a:endParaRPr>
            </a:p>
          </p:txBody>
        </p:sp>
        <p:sp>
          <p:nvSpPr>
            <p:cNvPr id="108" name="Text 2">
              <a:extLst>
                <a:ext uri="{FF2B5EF4-FFF2-40B4-BE49-F238E27FC236}">
                  <a16:creationId xmlns:a16="http://schemas.microsoft.com/office/drawing/2014/main" id="{0B9C518C-ACE3-7856-0413-4E57DC2EB726}"/>
                </a:ext>
              </a:extLst>
            </p:cNvPr>
            <p:cNvSpPr txBox="1"/>
            <p:nvPr/>
          </p:nvSpPr>
          <p:spPr>
            <a:xfrm>
              <a:off x="6629400" y="868680"/>
              <a:ext cx="5120640" cy="292608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kern="0" spc="300" dirty="0">
                  <a:solidFill>
                    <a:srgbClr val="00B0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SOLUTION</a:t>
              </a:r>
              <a:endParaRPr lang="en-US" sz="1500" dirty="0">
                <a:solidFill>
                  <a:srgbClr val="00B050"/>
                </a:solidFill>
              </a:endParaRPr>
            </a:p>
          </p:txBody>
        </p:sp>
        <p:sp>
          <p:nvSpPr>
            <p:cNvPr id="109" name="Shape 3">
              <a:extLst>
                <a:ext uri="{FF2B5EF4-FFF2-40B4-BE49-F238E27FC236}">
                  <a16:creationId xmlns:a16="http://schemas.microsoft.com/office/drawing/2014/main" id="{6D944A7C-630E-2245-9BEC-4487CA07A2E7}"/>
                </a:ext>
              </a:extLst>
            </p:cNvPr>
            <p:cNvSpPr/>
            <p:nvPr/>
          </p:nvSpPr>
          <p:spPr>
            <a:xfrm>
              <a:off x="457200" y="1234440"/>
              <a:ext cx="5120640" cy="4754880"/>
            </a:xfrm>
            <a:prstGeom prst="roundRect">
              <a:avLst>
                <a:gd name="adj" fmla="val 2308"/>
              </a:avLst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10" name="Shape 4">
              <a:extLst>
                <a:ext uri="{FF2B5EF4-FFF2-40B4-BE49-F238E27FC236}">
                  <a16:creationId xmlns:a16="http://schemas.microsoft.com/office/drawing/2014/main" id="{47FD3094-91B9-038F-115E-A323D4566897}"/>
                </a:ext>
              </a:extLst>
            </p:cNvPr>
            <p:cNvSpPr/>
            <p:nvPr/>
          </p:nvSpPr>
          <p:spPr>
            <a:xfrm>
              <a:off x="6629400" y="1234440"/>
              <a:ext cx="5120640" cy="4754880"/>
            </a:xfrm>
            <a:prstGeom prst="roundRect">
              <a:avLst>
                <a:gd name="adj" fmla="val 2308"/>
              </a:avLst>
            </a:prstGeom>
            <a:noFill/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pic>
          <p:nvPicPr>
            <p:cNvPr id="111" name="Image 0" descr="/mnt/user-data/uploads/Screenshot__78_.png">
              <a:extLst>
                <a:ext uri="{FF2B5EF4-FFF2-40B4-BE49-F238E27FC236}">
                  <a16:creationId xmlns:a16="http://schemas.microsoft.com/office/drawing/2014/main" id="{C81C105F-97AD-D6C3-785D-0782FC714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1404" y="1231201"/>
              <a:ext cx="5547106" cy="4775901"/>
            </a:xfrm>
            <a:prstGeom prst="rect">
              <a:avLst/>
            </a:prstGeom>
            <a:ln>
              <a:noFill/>
            </a:ln>
          </p:spPr>
        </p:pic>
        <p:sp>
          <p:nvSpPr>
            <p:cNvPr id="112" name="Shape 5">
              <a:extLst>
                <a:ext uri="{FF2B5EF4-FFF2-40B4-BE49-F238E27FC236}">
                  <a16:creationId xmlns:a16="http://schemas.microsoft.com/office/drawing/2014/main" id="{BD521E11-F026-8B81-CD67-82834EE115A6}"/>
                </a:ext>
              </a:extLst>
            </p:cNvPr>
            <p:cNvSpPr/>
            <p:nvPr/>
          </p:nvSpPr>
          <p:spPr>
            <a:xfrm>
              <a:off x="5692140" y="3355848"/>
              <a:ext cx="822960" cy="512064"/>
            </a:xfrm>
            <a:prstGeom prst="rightArrow">
              <a:avLst/>
            </a:prstGeom>
            <a:solidFill>
              <a:srgbClr val="FFC145"/>
            </a:solidFill>
            <a:ln>
              <a:noFill/>
            </a:ln>
          </p:spPr>
        </p:sp>
        <p:sp>
          <p:nvSpPr>
            <p:cNvPr id="113" name="Text 6">
              <a:extLst>
                <a:ext uri="{FF2B5EF4-FFF2-40B4-BE49-F238E27FC236}">
                  <a16:creationId xmlns:a16="http://schemas.microsoft.com/office/drawing/2014/main" id="{F9D8AC59-5BBE-3FCD-21C2-112133430257}"/>
                </a:ext>
              </a:extLst>
            </p:cNvPr>
            <p:cNvSpPr txBox="1"/>
            <p:nvPr/>
          </p:nvSpPr>
          <p:spPr>
            <a:xfrm>
              <a:off x="457200" y="6144768"/>
              <a:ext cx="11274552" cy="384048"/>
            </a:xfrm>
            <a:prstGeom prst="rect">
              <a:avLst/>
            </a:prstGeom>
            <a:ln>
              <a:noFill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100% On-Premise</a:t>
              </a:r>
              <a:r>
                <a:rPr lang="en-US" sz="1400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 •   </a:t>
              </a:r>
              <a:r>
                <a:rPr lang="en-US" sz="1400" b="1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Zero Data Leakage</a:t>
              </a:r>
              <a:r>
                <a:rPr lang="en-US" sz="1400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 •   </a:t>
              </a:r>
              <a:r>
                <a:rPr lang="en-US" sz="1400" b="1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Agentic &amp; Multimodal</a:t>
              </a:r>
              <a:endParaRPr lang="en-US" sz="14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ADFCB88A-E9AA-A861-B094-E84A718E32F6}"/>
                </a:ext>
              </a:extLst>
            </p:cNvPr>
            <p:cNvGrpSpPr/>
            <p:nvPr/>
          </p:nvGrpSpPr>
          <p:grpSpPr>
            <a:xfrm>
              <a:off x="6383311" y="1231200"/>
              <a:ext cx="5291307" cy="4754879"/>
              <a:chOff x="377331" y="-300460"/>
              <a:chExt cx="7836492" cy="6932532"/>
            </a:xfrm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CAC1350F-BF98-4409-167C-3C8055FEC034}"/>
                  </a:ext>
                </a:extLst>
              </p:cNvPr>
              <p:cNvSpPr/>
              <p:nvPr/>
            </p:nvSpPr>
            <p:spPr>
              <a:xfrm>
                <a:off x="377331" y="-300460"/>
                <a:ext cx="7836492" cy="6932532"/>
              </a:xfrm>
              <a:prstGeom prst="rect">
                <a:avLst/>
              </a:prstGeom>
              <a:solidFill>
                <a:srgbClr val="EEEAD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7" name="Rounded Rectangle 2">
                <a:extLst>
                  <a:ext uri="{FF2B5EF4-FFF2-40B4-BE49-F238E27FC236}">
                    <a16:creationId xmlns:a16="http://schemas.microsoft.com/office/drawing/2014/main" id="{D2292087-D4BF-F7D1-419D-14674B9E6D6E}"/>
                  </a:ext>
                </a:extLst>
              </p:cNvPr>
              <p:cNvSpPr/>
              <p:nvPr/>
            </p:nvSpPr>
            <p:spPr>
              <a:xfrm>
                <a:off x="1623331" y="1493206"/>
                <a:ext cx="5865987" cy="957584"/>
              </a:xfrm>
              <a:custGeom>
                <a:avLst/>
                <a:gdLst/>
                <a:ahLst/>
                <a:cxnLst/>
                <a:rect l="0" t="0" r="0" b="0"/>
                <a:pathLst>
                  <a:path w="5717893" h="1279002">
                    <a:moveTo>
                      <a:pt x="1970654" y="1128531"/>
                    </a:moveTo>
                    <a:lnTo>
                      <a:pt x="1927519" y="1279002"/>
                    </a:lnTo>
                    <a:lnTo>
                      <a:pt x="3949841" y="1279002"/>
                    </a:lnTo>
                    <a:lnTo>
                      <a:pt x="3902023" y="1128531"/>
                    </a:lnTo>
                    <a:lnTo>
                      <a:pt x="3084653" y="1128531"/>
                    </a:lnTo>
                    <a:lnTo>
                      <a:pt x="2821329" y="1015678"/>
                    </a:lnTo>
                    <a:lnTo>
                      <a:pt x="2858946" y="902825"/>
                    </a:lnTo>
                    <a:lnTo>
                      <a:pt x="2708475" y="752354"/>
                    </a:lnTo>
                    <a:lnTo>
                      <a:pt x="2805303" y="677118"/>
                    </a:lnTo>
                    <a:lnTo>
                      <a:pt x="3047035" y="489030"/>
                    </a:lnTo>
                    <a:lnTo>
                      <a:pt x="2958991" y="107417"/>
                    </a:lnTo>
                    <a:lnTo>
                      <a:pt x="3289042" y="345543"/>
                    </a:lnTo>
                    <a:cubicBezTo>
                      <a:pt x="3331400" y="420077"/>
                      <a:pt x="3442021" y="601883"/>
                      <a:pt x="3442021" y="601883"/>
                    </a:cubicBezTo>
                    <a:lnTo>
                      <a:pt x="3555890" y="677118"/>
                    </a:lnTo>
                    <a:lnTo>
                      <a:pt x="3554874" y="677118"/>
                    </a:lnTo>
                    <a:lnTo>
                      <a:pt x="3617570" y="717871"/>
                    </a:lnTo>
                    <a:lnTo>
                      <a:pt x="3717157" y="975151"/>
                    </a:lnTo>
                    <a:cubicBezTo>
                      <a:pt x="3717157" y="975151"/>
                      <a:pt x="3782461" y="1079904"/>
                      <a:pt x="3813628" y="1128531"/>
                    </a:cubicBezTo>
                    <a:lnTo>
                      <a:pt x="3902036" y="1128531"/>
                    </a:lnTo>
                    <a:lnTo>
                      <a:pt x="3787389" y="948167"/>
                    </a:lnTo>
                    <a:lnTo>
                      <a:pt x="3686536" y="677118"/>
                    </a:lnTo>
                    <a:lnTo>
                      <a:pt x="3489043" y="542322"/>
                    </a:lnTo>
                    <a:lnTo>
                      <a:pt x="3346359" y="294120"/>
                    </a:lnTo>
                    <a:lnTo>
                      <a:pt x="2938690" y="0"/>
                    </a:lnTo>
                    <a:lnTo>
                      <a:pt x="2794771" y="223417"/>
                    </a:lnTo>
                    <a:lnTo>
                      <a:pt x="2599879" y="335713"/>
                    </a:lnTo>
                    <a:lnTo>
                      <a:pt x="2475804" y="601883"/>
                    </a:lnTo>
                    <a:lnTo>
                      <a:pt x="2438781" y="677118"/>
                    </a:lnTo>
                    <a:lnTo>
                      <a:pt x="2401772" y="752354"/>
                    </a:lnTo>
                    <a:lnTo>
                      <a:pt x="2305433" y="948167"/>
                    </a:lnTo>
                    <a:lnTo>
                      <a:pt x="2008052" y="1063327"/>
                    </a:lnTo>
                    <a:lnTo>
                      <a:pt x="1970667" y="1128531"/>
                    </a:lnTo>
                    <a:moveTo>
                      <a:pt x="5717893" y="1128531"/>
                    </a:moveTo>
                    <a:lnTo>
                      <a:pt x="4127196" y="1128531"/>
                    </a:lnTo>
                    <a:lnTo>
                      <a:pt x="3956017" y="862643"/>
                    </a:lnTo>
                    <a:lnTo>
                      <a:pt x="3884029" y="677118"/>
                    </a:lnTo>
                    <a:lnTo>
                      <a:pt x="5717893" y="677118"/>
                    </a:lnTo>
                    <a:lnTo>
                      <a:pt x="5717893" y="1128531"/>
                    </a:lnTo>
                    <a:moveTo>
                      <a:pt x="2169062" y="799276"/>
                    </a:moveTo>
                    <a:lnTo>
                      <a:pt x="1940133" y="887928"/>
                    </a:lnTo>
                    <a:cubicBezTo>
                      <a:pt x="1899945" y="903489"/>
                      <a:pt x="1866321" y="932386"/>
                      <a:pt x="1844885" y="969772"/>
                    </a:cubicBezTo>
                    <a:lnTo>
                      <a:pt x="1783832" y="1076255"/>
                    </a:lnTo>
                    <a:lnTo>
                      <a:pt x="1730966" y="1115603"/>
                    </a:lnTo>
                    <a:cubicBezTo>
                      <a:pt x="1725506" y="1119666"/>
                      <a:pt x="1720314" y="1123979"/>
                      <a:pt x="1715399" y="1128531"/>
                    </a:cubicBezTo>
                    <a:lnTo>
                      <a:pt x="0" y="1128531"/>
                    </a:lnTo>
                    <a:lnTo>
                      <a:pt x="0" y="677118"/>
                    </a:lnTo>
                    <a:lnTo>
                      <a:pt x="2228850" y="677118"/>
                    </a:lnTo>
                    <a:lnTo>
                      <a:pt x="2192153" y="752354"/>
                    </a:lnTo>
                    <a:lnTo>
                      <a:pt x="2169062" y="799276"/>
                    </a:lnTo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8" name="Rounded Rectangle 3">
                <a:extLst>
                  <a:ext uri="{FF2B5EF4-FFF2-40B4-BE49-F238E27FC236}">
                    <a16:creationId xmlns:a16="http://schemas.microsoft.com/office/drawing/2014/main" id="{D571D972-56D3-34C4-BAC1-2C264C5CB449}"/>
                  </a:ext>
                </a:extLst>
              </p:cNvPr>
              <p:cNvSpPr/>
              <p:nvPr/>
            </p:nvSpPr>
            <p:spPr>
              <a:xfrm>
                <a:off x="1713053" y="1247172"/>
                <a:ext cx="5717893" cy="1279002"/>
              </a:xfrm>
              <a:custGeom>
                <a:avLst/>
                <a:gdLst/>
                <a:ahLst/>
                <a:cxnLst/>
                <a:rect l="0" t="0" r="0" b="0"/>
                <a:pathLst>
                  <a:path w="5717893" h="1279002">
                    <a:moveTo>
                      <a:pt x="3686535" y="677118"/>
                    </a:moveTo>
                    <a:lnTo>
                      <a:pt x="3489042" y="542322"/>
                    </a:lnTo>
                    <a:lnTo>
                      <a:pt x="3346358" y="294121"/>
                    </a:lnTo>
                    <a:lnTo>
                      <a:pt x="2938692" y="0"/>
                    </a:lnTo>
                    <a:lnTo>
                      <a:pt x="2794773" y="223419"/>
                    </a:lnTo>
                    <a:lnTo>
                      <a:pt x="2599879" y="335710"/>
                    </a:lnTo>
                    <a:lnTo>
                      <a:pt x="2475806" y="601883"/>
                    </a:lnTo>
                    <a:lnTo>
                      <a:pt x="2475799" y="601883"/>
                    </a:lnTo>
                    <a:lnTo>
                      <a:pt x="2438784" y="677118"/>
                    </a:lnTo>
                    <a:moveTo>
                      <a:pt x="2805205" y="677118"/>
                    </a:moveTo>
                    <a:lnTo>
                      <a:pt x="3047034" y="489030"/>
                    </a:lnTo>
                    <a:lnTo>
                      <a:pt x="2958991" y="107416"/>
                    </a:lnTo>
                    <a:lnTo>
                      <a:pt x="3289044" y="345541"/>
                    </a:lnTo>
                    <a:cubicBezTo>
                      <a:pt x="3331397" y="420077"/>
                      <a:pt x="3442020" y="601883"/>
                      <a:pt x="3442020" y="601883"/>
                    </a:cubicBezTo>
                    <a:lnTo>
                      <a:pt x="3555889" y="677118"/>
                    </a:lnTo>
                    <a:moveTo>
                      <a:pt x="2229165" y="677118"/>
                    </a:moveTo>
                    <a:lnTo>
                      <a:pt x="0" y="677118"/>
                    </a:lnTo>
                    <a:lnTo>
                      <a:pt x="0" y="1128531"/>
                    </a:lnTo>
                    <a:lnTo>
                      <a:pt x="1715404" y="1128531"/>
                    </a:lnTo>
                    <a:cubicBezTo>
                      <a:pt x="1720316" y="1123981"/>
                      <a:pt x="1725506" y="1119662"/>
                      <a:pt x="1730966" y="1115598"/>
                    </a:cubicBezTo>
                    <a:lnTo>
                      <a:pt x="1783828" y="1076254"/>
                    </a:lnTo>
                    <a:lnTo>
                      <a:pt x="1844884" y="969770"/>
                    </a:lnTo>
                    <a:cubicBezTo>
                      <a:pt x="1866320" y="932384"/>
                      <a:pt x="1899945" y="903493"/>
                      <a:pt x="1940133" y="887931"/>
                    </a:cubicBezTo>
                    <a:lnTo>
                      <a:pt x="2169063" y="799281"/>
                    </a:lnTo>
                    <a:close/>
                    <a:moveTo>
                      <a:pt x="4127198" y="1128531"/>
                    </a:moveTo>
                    <a:lnTo>
                      <a:pt x="3956018" y="862640"/>
                    </a:lnTo>
                    <a:lnTo>
                      <a:pt x="3884741" y="677118"/>
                    </a:lnTo>
                    <a:lnTo>
                      <a:pt x="5717893" y="677118"/>
                    </a:lnTo>
                    <a:lnTo>
                      <a:pt x="5717893" y="1128531"/>
                    </a:lnTo>
                    <a:close/>
                    <a:moveTo>
                      <a:pt x="3686536" y="677118"/>
                    </a:moveTo>
                    <a:lnTo>
                      <a:pt x="3787387" y="948172"/>
                    </a:lnTo>
                    <a:lnTo>
                      <a:pt x="3902033" y="1128531"/>
                    </a:lnTo>
                    <a:moveTo>
                      <a:pt x="1970667" y="1128531"/>
                    </a:moveTo>
                    <a:lnTo>
                      <a:pt x="2008053" y="1063327"/>
                    </a:lnTo>
                    <a:lnTo>
                      <a:pt x="2305429" y="948172"/>
                    </a:lnTo>
                    <a:lnTo>
                      <a:pt x="2438785" y="677118"/>
                    </a:lnTo>
                    <a:moveTo>
                      <a:pt x="2805207" y="677118"/>
                    </a:moveTo>
                    <a:lnTo>
                      <a:pt x="2708475" y="752354"/>
                    </a:lnTo>
                    <a:lnTo>
                      <a:pt x="2858946" y="902825"/>
                    </a:lnTo>
                    <a:lnTo>
                      <a:pt x="2821329" y="1015678"/>
                    </a:lnTo>
                    <a:lnTo>
                      <a:pt x="3084653" y="1128531"/>
                    </a:lnTo>
                    <a:lnTo>
                      <a:pt x="3813631" y="1128531"/>
                    </a:lnTo>
                    <a:cubicBezTo>
                      <a:pt x="3782461" y="1079903"/>
                      <a:pt x="3717157" y="975153"/>
                      <a:pt x="3717157" y="975153"/>
                    </a:cubicBezTo>
                    <a:lnTo>
                      <a:pt x="3617570" y="717871"/>
                    </a:lnTo>
                    <a:lnTo>
                      <a:pt x="3555891" y="677118"/>
                    </a:lnTo>
                    <a:moveTo>
                      <a:pt x="3813619" y="1128531"/>
                    </a:moveTo>
                    <a:lnTo>
                      <a:pt x="3084640" y="1128531"/>
                    </a:lnTo>
                    <a:moveTo>
                      <a:pt x="1970655" y="1128531"/>
                    </a:moveTo>
                    <a:lnTo>
                      <a:pt x="1927516" y="1279002"/>
                    </a:lnTo>
                    <a:lnTo>
                      <a:pt x="3949845" y="1279002"/>
                    </a:lnTo>
                    <a:lnTo>
                      <a:pt x="3902021" y="1128531"/>
                    </a:lnTo>
                  </a:path>
                </a:pathLst>
              </a:custGeom>
              <a:noFill/>
              <a:ln w="9404"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9" name="Rounded Rectangle 4">
                <a:extLst>
                  <a:ext uri="{FF2B5EF4-FFF2-40B4-BE49-F238E27FC236}">
                    <a16:creationId xmlns:a16="http://schemas.microsoft.com/office/drawing/2014/main" id="{97326D6E-06A2-0D68-D47E-D157E2FF5B58}"/>
                  </a:ext>
                </a:extLst>
              </p:cNvPr>
              <p:cNvSpPr/>
              <p:nvPr/>
            </p:nvSpPr>
            <p:spPr>
              <a:xfrm>
                <a:off x="1562582" y="2526174"/>
                <a:ext cx="6018835" cy="6269"/>
              </a:xfrm>
              <a:custGeom>
                <a:avLst/>
                <a:gdLst/>
                <a:ahLst/>
                <a:cxnLst/>
                <a:rect l="0" t="0" r="0" b="0"/>
                <a:pathLst>
                  <a:path w="6018835" h="6269">
                    <a:moveTo>
                      <a:pt x="2081513" y="0"/>
                    </a:moveTo>
                    <a:lnTo>
                      <a:pt x="0" y="0"/>
                    </a:lnTo>
                    <a:moveTo>
                      <a:pt x="6018835" y="0"/>
                    </a:moveTo>
                    <a:lnTo>
                      <a:pt x="4100331" y="0"/>
                    </a:lnTo>
                  </a:path>
                </a:pathLst>
              </a:custGeom>
              <a:noFill/>
              <a:ln w="9404">
                <a:noFill/>
                <a:prstDash val="dash"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0" name="Rounded Rectangle 5">
                <a:extLst>
                  <a:ext uri="{FF2B5EF4-FFF2-40B4-BE49-F238E27FC236}">
                    <a16:creationId xmlns:a16="http://schemas.microsoft.com/office/drawing/2014/main" id="{744CE6B1-BF53-35AA-6F6F-F0DD2D1D1767}"/>
                  </a:ext>
                </a:extLst>
              </p:cNvPr>
              <p:cNvSpPr/>
              <p:nvPr/>
            </p:nvSpPr>
            <p:spPr>
              <a:xfrm>
                <a:off x="1674712" y="2516773"/>
                <a:ext cx="5717893" cy="677118"/>
              </a:xfrm>
              <a:custGeom>
                <a:avLst/>
                <a:gdLst/>
                <a:ahLst/>
                <a:cxnLst/>
                <a:rect l="0" t="0" r="0" b="0"/>
                <a:pathLst>
                  <a:path w="5717893" h="677118">
                    <a:moveTo>
                      <a:pt x="1842628" y="150470"/>
                    </a:moveTo>
                    <a:lnTo>
                      <a:pt x="1926152" y="0"/>
                    </a:lnTo>
                    <a:lnTo>
                      <a:pt x="3949854" y="0"/>
                    </a:lnTo>
                    <a:lnTo>
                      <a:pt x="3998920" y="150470"/>
                    </a:lnTo>
                    <a:lnTo>
                      <a:pt x="4112369" y="324427"/>
                    </a:lnTo>
                    <a:lnTo>
                      <a:pt x="3867515" y="601883"/>
                    </a:lnTo>
                    <a:lnTo>
                      <a:pt x="3798750" y="677118"/>
                    </a:lnTo>
                    <a:lnTo>
                      <a:pt x="2026836" y="677118"/>
                    </a:lnTo>
                    <a:lnTo>
                      <a:pt x="2000522" y="601883"/>
                    </a:lnTo>
                    <a:lnTo>
                      <a:pt x="1842635" y="150470"/>
                    </a:lnTo>
                    <a:moveTo>
                      <a:pt x="1655587" y="150470"/>
                    </a:moveTo>
                    <a:lnTo>
                      <a:pt x="0" y="150470"/>
                    </a:lnTo>
                    <a:lnTo>
                      <a:pt x="0" y="601883"/>
                    </a:lnTo>
                    <a:lnTo>
                      <a:pt x="1794333" y="601883"/>
                    </a:lnTo>
                    <a:lnTo>
                      <a:pt x="1664139" y="195311"/>
                    </a:lnTo>
                    <a:cubicBezTo>
                      <a:pt x="1659405" y="180527"/>
                      <a:pt x="1656584" y="165480"/>
                      <a:pt x="1655587" y="150470"/>
                    </a:cubicBezTo>
                    <a:moveTo>
                      <a:pt x="4118958" y="601883"/>
                    </a:moveTo>
                    <a:lnTo>
                      <a:pt x="4253661" y="448578"/>
                    </a:lnTo>
                    <a:cubicBezTo>
                      <a:pt x="4309110" y="385475"/>
                      <a:pt x="4315994" y="293248"/>
                      <a:pt x="4270514" y="222615"/>
                    </a:cubicBezTo>
                    <a:lnTo>
                      <a:pt x="4224068" y="150470"/>
                    </a:lnTo>
                    <a:lnTo>
                      <a:pt x="5717893" y="150470"/>
                    </a:lnTo>
                    <a:lnTo>
                      <a:pt x="5717893" y="601883"/>
                    </a:lnTo>
                    <a:lnTo>
                      <a:pt x="4118958" y="601883"/>
                    </a:lnTo>
                  </a:path>
                </a:pathLst>
              </a:custGeom>
              <a:solidFill>
                <a:srgbClr val="FF964E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121" name="Rounded Rectangle 6">
                <a:extLst>
                  <a:ext uri="{FF2B5EF4-FFF2-40B4-BE49-F238E27FC236}">
                    <a16:creationId xmlns:a16="http://schemas.microsoft.com/office/drawing/2014/main" id="{F49CC206-4A55-9950-9098-B168AFF68288}"/>
                  </a:ext>
                </a:extLst>
              </p:cNvPr>
              <p:cNvSpPr/>
              <p:nvPr/>
            </p:nvSpPr>
            <p:spPr>
              <a:xfrm>
                <a:off x="1693882" y="2488557"/>
                <a:ext cx="5717893" cy="677120"/>
              </a:xfrm>
              <a:custGeom>
                <a:avLst/>
                <a:gdLst/>
                <a:ahLst/>
                <a:cxnLst/>
                <a:rect l="0" t="0" r="0" b="0"/>
                <a:pathLst>
                  <a:path w="5717893" h="677120">
                    <a:moveTo>
                      <a:pt x="3867510" y="601883"/>
                    </a:moveTo>
                    <a:lnTo>
                      <a:pt x="3798749" y="677120"/>
                    </a:lnTo>
                    <a:lnTo>
                      <a:pt x="2026838" y="677120"/>
                    </a:lnTo>
                    <a:lnTo>
                      <a:pt x="2000523" y="601883"/>
                    </a:lnTo>
                    <a:moveTo>
                      <a:pt x="1842631" y="150470"/>
                    </a:moveTo>
                    <a:lnTo>
                      <a:pt x="1926150" y="0"/>
                    </a:lnTo>
                    <a:lnTo>
                      <a:pt x="3949856" y="0"/>
                    </a:lnTo>
                    <a:lnTo>
                      <a:pt x="3998920" y="150470"/>
                    </a:lnTo>
                    <a:moveTo>
                      <a:pt x="1655584" y="150470"/>
                    </a:moveTo>
                    <a:lnTo>
                      <a:pt x="0" y="150470"/>
                    </a:lnTo>
                    <a:lnTo>
                      <a:pt x="0" y="601883"/>
                    </a:lnTo>
                    <a:lnTo>
                      <a:pt x="1794337" y="601883"/>
                    </a:lnTo>
                    <a:lnTo>
                      <a:pt x="1664139" y="195313"/>
                    </a:lnTo>
                    <a:cubicBezTo>
                      <a:pt x="1659405" y="180528"/>
                      <a:pt x="1656586" y="165478"/>
                      <a:pt x="1655584" y="150470"/>
                    </a:cubicBezTo>
                    <a:close/>
                    <a:moveTo>
                      <a:pt x="4118959" y="601883"/>
                    </a:moveTo>
                    <a:lnTo>
                      <a:pt x="4253662" y="448581"/>
                    </a:lnTo>
                    <a:cubicBezTo>
                      <a:pt x="4309112" y="385474"/>
                      <a:pt x="4315991" y="293248"/>
                      <a:pt x="4270517" y="222614"/>
                    </a:cubicBezTo>
                    <a:lnTo>
                      <a:pt x="4224071" y="150470"/>
                    </a:lnTo>
                    <a:lnTo>
                      <a:pt x="5717893" y="150470"/>
                    </a:lnTo>
                    <a:lnTo>
                      <a:pt x="5717893" y="601883"/>
                    </a:lnTo>
                    <a:lnTo>
                      <a:pt x="4118959" y="601883"/>
                    </a:lnTo>
                    <a:close/>
                    <a:moveTo>
                      <a:pt x="1842635" y="150472"/>
                    </a:moveTo>
                    <a:lnTo>
                      <a:pt x="2000527" y="601883"/>
                    </a:lnTo>
                    <a:moveTo>
                      <a:pt x="3998924" y="150472"/>
                    </a:moveTo>
                    <a:lnTo>
                      <a:pt x="4112369" y="324430"/>
                    </a:lnTo>
                    <a:lnTo>
                      <a:pt x="3867514" y="601883"/>
                    </a:lnTo>
                  </a:path>
                </a:pathLst>
              </a:custGeom>
              <a:noFill/>
              <a:ln w="9404"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2" name="Rounded Rectangle 7">
                <a:extLst>
                  <a:ext uri="{FF2B5EF4-FFF2-40B4-BE49-F238E27FC236}">
                    <a16:creationId xmlns:a16="http://schemas.microsoft.com/office/drawing/2014/main" id="{4717FA42-C327-E8A2-7ED1-A3153FB05CCE}"/>
                  </a:ext>
                </a:extLst>
              </p:cNvPr>
              <p:cNvSpPr/>
              <p:nvPr/>
            </p:nvSpPr>
            <p:spPr>
              <a:xfrm>
                <a:off x="1713053" y="3202551"/>
                <a:ext cx="5717893" cy="639501"/>
              </a:xfrm>
              <a:custGeom>
                <a:avLst/>
                <a:gdLst/>
                <a:ahLst/>
                <a:cxnLst/>
                <a:rect l="0" t="0" r="0" b="0"/>
                <a:pathLst>
                  <a:path w="5717893" h="639501">
                    <a:moveTo>
                      <a:pt x="3557094" y="564265"/>
                    </a:moveTo>
                    <a:lnTo>
                      <a:pt x="3528937" y="639501"/>
                    </a:lnTo>
                    <a:lnTo>
                      <a:pt x="2194749" y="639501"/>
                    </a:lnTo>
                    <a:lnTo>
                      <a:pt x="2181263" y="564265"/>
                    </a:lnTo>
                    <a:lnTo>
                      <a:pt x="2143006" y="332966"/>
                    </a:lnTo>
                    <a:lnTo>
                      <a:pt x="2054473" y="75235"/>
                    </a:lnTo>
                    <a:lnTo>
                      <a:pt x="2026485" y="0"/>
                    </a:lnTo>
                    <a:lnTo>
                      <a:pt x="3800060" y="0"/>
                    </a:lnTo>
                    <a:lnTo>
                      <a:pt x="3733565" y="75235"/>
                    </a:lnTo>
                    <a:lnTo>
                      <a:pt x="3606555" y="421080"/>
                    </a:lnTo>
                    <a:lnTo>
                      <a:pt x="3557100" y="564265"/>
                    </a:lnTo>
                    <a:moveTo>
                      <a:pt x="1854139" y="75235"/>
                    </a:moveTo>
                    <a:lnTo>
                      <a:pt x="0" y="75235"/>
                    </a:lnTo>
                    <a:lnTo>
                      <a:pt x="0" y="564265"/>
                    </a:lnTo>
                    <a:lnTo>
                      <a:pt x="1990058" y="564265"/>
                    </a:lnTo>
                    <a:lnTo>
                      <a:pt x="1960804" y="386728"/>
                    </a:lnTo>
                    <a:lnTo>
                      <a:pt x="1854139" y="75235"/>
                    </a:lnTo>
                    <a:moveTo>
                      <a:pt x="3757922" y="564265"/>
                    </a:moveTo>
                    <a:lnTo>
                      <a:pt x="3782712" y="492491"/>
                    </a:lnTo>
                    <a:cubicBezTo>
                      <a:pt x="3782932" y="491864"/>
                      <a:pt x="3783145" y="491231"/>
                      <a:pt x="3783358" y="490597"/>
                    </a:cubicBezTo>
                    <a:lnTo>
                      <a:pt x="3873120" y="222671"/>
                    </a:lnTo>
                    <a:lnTo>
                      <a:pt x="3942826" y="124997"/>
                    </a:lnTo>
                    <a:lnTo>
                      <a:pt x="3984801" y="75235"/>
                    </a:lnTo>
                    <a:lnTo>
                      <a:pt x="5717893" y="75235"/>
                    </a:lnTo>
                    <a:lnTo>
                      <a:pt x="5717893" y="564265"/>
                    </a:lnTo>
                    <a:lnTo>
                      <a:pt x="3757922" y="564265"/>
                    </a:lnTo>
                  </a:path>
                </a:pathLst>
              </a:custGeom>
              <a:solidFill>
                <a:srgbClr val="9CCBB5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3200"/>
              </a:p>
            </p:txBody>
          </p:sp>
          <p:sp>
            <p:nvSpPr>
              <p:cNvPr id="123" name="Rounded Rectangle 8">
                <a:extLst>
                  <a:ext uri="{FF2B5EF4-FFF2-40B4-BE49-F238E27FC236}">
                    <a16:creationId xmlns:a16="http://schemas.microsoft.com/office/drawing/2014/main" id="{7040ED8E-25B8-1143-302A-BF10E966BE63}"/>
                  </a:ext>
                </a:extLst>
              </p:cNvPr>
              <p:cNvSpPr/>
              <p:nvPr/>
            </p:nvSpPr>
            <p:spPr>
              <a:xfrm>
                <a:off x="1713053" y="3203293"/>
                <a:ext cx="5717893" cy="639503"/>
              </a:xfrm>
              <a:custGeom>
                <a:avLst/>
                <a:gdLst/>
                <a:ahLst/>
                <a:cxnLst/>
                <a:rect l="0" t="0" r="0" b="0"/>
                <a:pathLst>
                  <a:path w="5717893" h="639503">
                    <a:moveTo>
                      <a:pt x="3733564" y="75233"/>
                    </a:moveTo>
                    <a:lnTo>
                      <a:pt x="3800059" y="0"/>
                    </a:lnTo>
                    <a:lnTo>
                      <a:pt x="2026483" y="0"/>
                    </a:lnTo>
                    <a:lnTo>
                      <a:pt x="2054480" y="75233"/>
                    </a:lnTo>
                    <a:moveTo>
                      <a:pt x="1854138" y="75235"/>
                    </a:moveTo>
                    <a:lnTo>
                      <a:pt x="0" y="75235"/>
                    </a:lnTo>
                    <a:lnTo>
                      <a:pt x="0" y="564265"/>
                    </a:lnTo>
                    <a:lnTo>
                      <a:pt x="1990058" y="564265"/>
                    </a:lnTo>
                    <a:lnTo>
                      <a:pt x="1960805" y="386731"/>
                    </a:lnTo>
                    <a:lnTo>
                      <a:pt x="1854138" y="75235"/>
                    </a:lnTo>
                    <a:close/>
                    <a:moveTo>
                      <a:pt x="3757922" y="564265"/>
                    </a:moveTo>
                    <a:lnTo>
                      <a:pt x="3782714" y="492492"/>
                    </a:lnTo>
                    <a:cubicBezTo>
                      <a:pt x="3782932" y="491861"/>
                      <a:pt x="3783147" y="491229"/>
                      <a:pt x="3783359" y="490596"/>
                    </a:cubicBezTo>
                    <a:lnTo>
                      <a:pt x="3873122" y="222669"/>
                    </a:lnTo>
                    <a:lnTo>
                      <a:pt x="3942823" y="124994"/>
                    </a:lnTo>
                    <a:lnTo>
                      <a:pt x="3984802" y="75235"/>
                    </a:lnTo>
                    <a:lnTo>
                      <a:pt x="5717893" y="75235"/>
                    </a:lnTo>
                    <a:lnTo>
                      <a:pt x="5717893" y="564265"/>
                    </a:lnTo>
                    <a:lnTo>
                      <a:pt x="3757922" y="564265"/>
                    </a:lnTo>
                    <a:close/>
                    <a:moveTo>
                      <a:pt x="3733558" y="75235"/>
                    </a:moveTo>
                    <a:lnTo>
                      <a:pt x="3606556" y="421083"/>
                    </a:lnTo>
                    <a:lnTo>
                      <a:pt x="3557097" y="564265"/>
                    </a:lnTo>
                    <a:moveTo>
                      <a:pt x="2054474" y="75235"/>
                    </a:moveTo>
                    <a:lnTo>
                      <a:pt x="2143008" y="332969"/>
                    </a:lnTo>
                    <a:lnTo>
                      <a:pt x="2181268" y="564265"/>
                    </a:lnTo>
                    <a:moveTo>
                      <a:pt x="2181264" y="564265"/>
                    </a:moveTo>
                    <a:lnTo>
                      <a:pt x="2194746" y="639503"/>
                    </a:lnTo>
                    <a:lnTo>
                      <a:pt x="3528940" y="639503"/>
                    </a:lnTo>
                    <a:lnTo>
                      <a:pt x="3557094" y="564265"/>
                    </a:lnTo>
                  </a:path>
                </a:pathLst>
              </a:custGeom>
              <a:noFill/>
              <a:ln w="9404"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4" name="Rounded Rectangle 9">
                <a:extLst>
                  <a:ext uri="{FF2B5EF4-FFF2-40B4-BE49-F238E27FC236}">
                    <a16:creationId xmlns:a16="http://schemas.microsoft.com/office/drawing/2014/main" id="{DAEC018E-15B2-2A0E-AF6F-2B95DADE48DC}"/>
                  </a:ext>
                </a:extLst>
              </p:cNvPr>
              <p:cNvSpPr/>
              <p:nvPr/>
            </p:nvSpPr>
            <p:spPr>
              <a:xfrm>
                <a:off x="1713053" y="3842794"/>
                <a:ext cx="5717893" cy="601883"/>
              </a:xfrm>
              <a:custGeom>
                <a:avLst/>
                <a:gdLst/>
                <a:ahLst/>
                <a:cxnLst/>
                <a:rect l="0" t="0" r="0" b="0"/>
                <a:pathLst>
                  <a:path w="5717893" h="601883">
                    <a:moveTo>
                      <a:pt x="3530542" y="0"/>
                    </a:moveTo>
                    <a:lnTo>
                      <a:pt x="3519413" y="75987"/>
                    </a:lnTo>
                    <a:lnTo>
                      <a:pt x="2206918" y="75235"/>
                    </a:lnTo>
                    <a:lnTo>
                      <a:pt x="2194561" y="0"/>
                    </a:lnTo>
                    <a:lnTo>
                      <a:pt x="3530542" y="0"/>
                    </a:lnTo>
                    <a:moveTo>
                      <a:pt x="3447538" y="525080"/>
                    </a:moveTo>
                    <a:lnTo>
                      <a:pt x="3519401" y="75987"/>
                    </a:lnTo>
                    <a:lnTo>
                      <a:pt x="2206906" y="75235"/>
                    </a:lnTo>
                    <a:lnTo>
                      <a:pt x="2332298" y="448277"/>
                    </a:lnTo>
                    <a:lnTo>
                      <a:pt x="2332298" y="601883"/>
                    </a:lnTo>
                    <a:lnTo>
                      <a:pt x="3435250" y="601883"/>
                    </a:lnTo>
                    <a:lnTo>
                      <a:pt x="3447538" y="525080"/>
                    </a:lnTo>
                    <a:moveTo>
                      <a:pt x="2042648" y="176897"/>
                    </a:moveTo>
                    <a:cubicBezTo>
                      <a:pt x="2031501" y="156959"/>
                      <a:pt x="2023977" y="134978"/>
                      <a:pt x="2020654" y="111950"/>
                    </a:cubicBezTo>
                    <a:lnTo>
                      <a:pt x="2015363" y="75235"/>
                    </a:lnTo>
                    <a:lnTo>
                      <a:pt x="0" y="75235"/>
                    </a:lnTo>
                    <a:lnTo>
                      <a:pt x="0" y="526648"/>
                    </a:lnTo>
                    <a:lnTo>
                      <a:pt x="2144210" y="526648"/>
                    </a:lnTo>
                    <a:lnTo>
                      <a:pt x="2144210" y="479042"/>
                    </a:lnTo>
                    <a:lnTo>
                      <a:pt x="2042648" y="176897"/>
                    </a:lnTo>
                    <a:moveTo>
                      <a:pt x="3637771" y="526648"/>
                    </a:moveTo>
                    <a:lnTo>
                      <a:pt x="5717893" y="526648"/>
                    </a:lnTo>
                    <a:lnTo>
                      <a:pt x="5717893" y="75235"/>
                    </a:lnTo>
                    <a:lnTo>
                      <a:pt x="3709608" y="75235"/>
                    </a:lnTo>
                    <a:lnTo>
                      <a:pt x="3705508" y="103241"/>
                    </a:lnTo>
                    <a:cubicBezTo>
                      <a:pt x="3705389" y="104063"/>
                      <a:pt x="3705264" y="104884"/>
                      <a:pt x="3705132" y="105712"/>
                    </a:cubicBezTo>
                    <a:lnTo>
                      <a:pt x="3637771" y="526648"/>
                    </a:lnTo>
                  </a:path>
                </a:pathLst>
              </a:custGeom>
              <a:solidFill>
                <a:srgbClr val="E3C47C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5" name="Rounded Rectangle 10">
                <a:extLst>
                  <a:ext uri="{FF2B5EF4-FFF2-40B4-BE49-F238E27FC236}">
                    <a16:creationId xmlns:a16="http://schemas.microsoft.com/office/drawing/2014/main" id="{C5651964-DE74-637F-7D46-B033EF555983}"/>
                  </a:ext>
                </a:extLst>
              </p:cNvPr>
              <p:cNvSpPr/>
              <p:nvPr/>
            </p:nvSpPr>
            <p:spPr>
              <a:xfrm>
                <a:off x="1713053" y="3842794"/>
                <a:ext cx="5717893" cy="601883"/>
              </a:xfrm>
              <a:custGeom>
                <a:avLst/>
                <a:gdLst/>
                <a:ahLst/>
                <a:cxnLst/>
                <a:rect l="0" t="0" r="0" b="0"/>
                <a:pathLst>
                  <a:path w="5717893" h="601883">
                    <a:moveTo>
                      <a:pt x="2206918" y="75235"/>
                    </a:moveTo>
                    <a:lnTo>
                      <a:pt x="2194563" y="0"/>
                    </a:lnTo>
                    <a:lnTo>
                      <a:pt x="3530542" y="0"/>
                    </a:lnTo>
                    <a:lnTo>
                      <a:pt x="3519415" y="75989"/>
                    </a:lnTo>
                    <a:moveTo>
                      <a:pt x="2042649" y="176896"/>
                    </a:moveTo>
                    <a:cubicBezTo>
                      <a:pt x="2031501" y="156958"/>
                      <a:pt x="2023977" y="134975"/>
                      <a:pt x="2020657" y="111950"/>
                    </a:cubicBezTo>
                    <a:lnTo>
                      <a:pt x="2015364" y="75235"/>
                    </a:lnTo>
                    <a:lnTo>
                      <a:pt x="0" y="75235"/>
                    </a:lnTo>
                    <a:lnTo>
                      <a:pt x="0" y="526648"/>
                    </a:lnTo>
                    <a:lnTo>
                      <a:pt x="2144211" y="526648"/>
                    </a:lnTo>
                    <a:lnTo>
                      <a:pt x="2144211" y="479043"/>
                    </a:lnTo>
                    <a:lnTo>
                      <a:pt x="2042649" y="176896"/>
                    </a:lnTo>
                    <a:close/>
                    <a:moveTo>
                      <a:pt x="3637773" y="526648"/>
                    </a:moveTo>
                    <a:lnTo>
                      <a:pt x="5717893" y="526648"/>
                    </a:lnTo>
                    <a:lnTo>
                      <a:pt x="5717893" y="75235"/>
                    </a:lnTo>
                    <a:lnTo>
                      <a:pt x="3709609" y="75235"/>
                    </a:lnTo>
                    <a:lnTo>
                      <a:pt x="3705508" y="103240"/>
                    </a:lnTo>
                    <a:cubicBezTo>
                      <a:pt x="3705388" y="104063"/>
                      <a:pt x="3705262" y="104887"/>
                      <a:pt x="3705130" y="105709"/>
                    </a:cubicBezTo>
                    <a:lnTo>
                      <a:pt x="3637773" y="526648"/>
                    </a:lnTo>
                    <a:close/>
                    <a:moveTo>
                      <a:pt x="2206906" y="75235"/>
                    </a:moveTo>
                    <a:lnTo>
                      <a:pt x="2332298" y="448278"/>
                    </a:lnTo>
                    <a:lnTo>
                      <a:pt x="2332298" y="525080"/>
                    </a:lnTo>
                    <a:moveTo>
                      <a:pt x="3447541" y="525080"/>
                    </a:moveTo>
                    <a:lnTo>
                      <a:pt x="3519403" y="75989"/>
                    </a:lnTo>
                    <a:moveTo>
                      <a:pt x="2332298" y="525080"/>
                    </a:moveTo>
                    <a:lnTo>
                      <a:pt x="2332298" y="601883"/>
                    </a:lnTo>
                    <a:lnTo>
                      <a:pt x="3435251" y="601883"/>
                    </a:lnTo>
                    <a:lnTo>
                      <a:pt x="3447541" y="525080"/>
                    </a:lnTo>
                  </a:path>
                </a:pathLst>
              </a:custGeom>
              <a:noFill/>
              <a:ln w="9404"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6" name="Rounded Rectangle 11">
                <a:extLst>
                  <a:ext uri="{FF2B5EF4-FFF2-40B4-BE49-F238E27FC236}">
                    <a16:creationId xmlns:a16="http://schemas.microsoft.com/office/drawing/2014/main" id="{2F172FC0-FCF1-67B0-3331-1A8D940F5D1C}"/>
                  </a:ext>
                </a:extLst>
              </p:cNvPr>
              <p:cNvSpPr/>
              <p:nvPr/>
            </p:nvSpPr>
            <p:spPr>
              <a:xfrm>
                <a:off x="1713053" y="4451327"/>
                <a:ext cx="5717893" cy="601883"/>
              </a:xfrm>
              <a:custGeom>
                <a:avLst/>
                <a:gdLst/>
                <a:ahLst/>
                <a:cxnLst/>
                <a:rect l="0" t="0" r="0" b="0"/>
                <a:pathLst>
                  <a:path w="5717893" h="601883">
                    <a:moveTo>
                      <a:pt x="2512870" y="526648"/>
                    </a:moveTo>
                    <a:lnTo>
                      <a:pt x="2542964" y="601883"/>
                    </a:lnTo>
                    <a:lnTo>
                      <a:pt x="3159894" y="601883"/>
                    </a:lnTo>
                    <a:lnTo>
                      <a:pt x="3159894" y="526648"/>
                    </a:lnTo>
                    <a:lnTo>
                      <a:pt x="3423212" y="75235"/>
                    </a:lnTo>
                    <a:lnTo>
                      <a:pt x="3435250" y="0"/>
                    </a:lnTo>
                    <a:lnTo>
                      <a:pt x="2332298" y="0"/>
                    </a:lnTo>
                    <a:lnTo>
                      <a:pt x="2332298" y="75235"/>
                    </a:lnTo>
                    <a:lnTo>
                      <a:pt x="2512863" y="526648"/>
                    </a:lnTo>
                    <a:moveTo>
                      <a:pt x="2144210" y="75235"/>
                    </a:moveTo>
                    <a:lnTo>
                      <a:pt x="0" y="75235"/>
                    </a:lnTo>
                    <a:lnTo>
                      <a:pt x="0" y="526648"/>
                    </a:lnTo>
                    <a:lnTo>
                      <a:pt x="2310286" y="526648"/>
                    </a:lnTo>
                    <a:lnTo>
                      <a:pt x="2157664" y="145091"/>
                    </a:lnTo>
                    <a:cubicBezTo>
                      <a:pt x="2148774" y="122872"/>
                      <a:pt x="2144210" y="99166"/>
                      <a:pt x="2144210" y="75235"/>
                    </a:cubicBezTo>
                    <a:moveTo>
                      <a:pt x="3377638" y="526648"/>
                    </a:moveTo>
                    <a:lnTo>
                      <a:pt x="5717893" y="526648"/>
                    </a:lnTo>
                    <a:lnTo>
                      <a:pt x="5717893" y="75235"/>
                    </a:lnTo>
                    <a:lnTo>
                      <a:pt x="3613696" y="75235"/>
                    </a:lnTo>
                    <a:lnTo>
                      <a:pt x="3608937" y="104953"/>
                    </a:lnTo>
                    <a:cubicBezTo>
                      <a:pt x="3605269" y="127887"/>
                      <a:pt x="3597382" y="149944"/>
                      <a:pt x="3585683" y="170007"/>
                    </a:cubicBezTo>
                    <a:lnTo>
                      <a:pt x="3377638" y="526648"/>
                    </a:lnTo>
                  </a:path>
                </a:pathLst>
              </a:custGeom>
              <a:solidFill>
                <a:srgbClr val="FCBC6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7" name="Rounded Rectangle 12">
                <a:extLst>
                  <a:ext uri="{FF2B5EF4-FFF2-40B4-BE49-F238E27FC236}">
                    <a16:creationId xmlns:a16="http://schemas.microsoft.com/office/drawing/2014/main" id="{195F10FB-61AC-CE6F-5C49-17509D07FD0A}"/>
                  </a:ext>
                </a:extLst>
              </p:cNvPr>
              <p:cNvSpPr/>
              <p:nvPr/>
            </p:nvSpPr>
            <p:spPr>
              <a:xfrm>
                <a:off x="1713053" y="4444678"/>
                <a:ext cx="5717893" cy="601883"/>
              </a:xfrm>
              <a:custGeom>
                <a:avLst/>
                <a:gdLst/>
                <a:ahLst/>
                <a:cxnLst/>
                <a:rect l="0" t="0" r="0" b="0"/>
                <a:pathLst>
                  <a:path w="5717893" h="601883">
                    <a:moveTo>
                      <a:pt x="2332298" y="75235"/>
                    </a:moveTo>
                    <a:lnTo>
                      <a:pt x="2332298" y="0"/>
                    </a:lnTo>
                    <a:lnTo>
                      <a:pt x="3435251" y="0"/>
                    </a:lnTo>
                    <a:lnTo>
                      <a:pt x="3423212" y="75235"/>
                    </a:lnTo>
                    <a:moveTo>
                      <a:pt x="2144211" y="75235"/>
                    </a:moveTo>
                    <a:lnTo>
                      <a:pt x="0" y="75235"/>
                    </a:lnTo>
                    <a:lnTo>
                      <a:pt x="0" y="526648"/>
                    </a:lnTo>
                    <a:lnTo>
                      <a:pt x="2310287" y="526648"/>
                    </a:lnTo>
                    <a:lnTo>
                      <a:pt x="2157664" y="145089"/>
                    </a:lnTo>
                    <a:cubicBezTo>
                      <a:pt x="2148777" y="122872"/>
                      <a:pt x="2144211" y="99164"/>
                      <a:pt x="2144211" y="75235"/>
                    </a:cubicBezTo>
                    <a:close/>
                    <a:moveTo>
                      <a:pt x="3377640" y="526648"/>
                    </a:moveTo>
                    <a:lnTo>
                      <a:pt x="5717893" y="526648"/>
                    </a:lnTo>
                    <a:lnTo>
                      <a:pt x="5717893" y="75235"/>
                    </a:lnTo>
                    <a:lnTo>
                      <a:pt x="3613695" y="75235"/>
                    </a:lnTo>
                    <a:lnTo>
                      <a:pt x="3608940" y="104954"/>
                    </a:lnTo>
                    <a:cubicBezTo>
                      <a:pt x="3605269" y="127889"/>
                      <a:pt x="3597383" y="149945"/>
                      <a:pt x="3585681" y="170007"/>
                    </a:cubicBezTo>
                    <a:lnTo>
                      <a:pt x="3377640" y="526648"/>
                    </a:lnTo>
                    <a:close/>
                    <a:moveTo>
                      <a:pt x="3159888" y="526648"/>
                    </a:moveTo>
                    <a:lnTo>
                      <a:pt x="3423212" y="75235"/>
                    </a:lnTo>
                    <a:moveTo>
                      <a:pt x="2332298" y="75235"/>
                    </a:moveTo>
                    <a:lnTo>
                      <a:pt x="2512863" y="526648"/>
                    </a:lnTo>
                    <a:moveTo>
                      <a:pt x="3159893" y="526648"/>
                    </a:moveTo>
                    <a:lnTo>
                      <a:pt x="3159893" y="601883"/>
                    </a:lnTo>
                    <a:lnTo>
                      <a:pt x="2542962" y="601883"/>
                    </a:lnTo>
                    <a:lnTo>
                      <a:pt x="2512868" y="526648"/>
                    </a:lnTo>
                  </a:path>
                </a:pathLst>
              </a:custGeom>
              <a:noFill/>
              <a:ln w="9404"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8" name="Rounded Rectangle 13">
                <a:extLst>
                  <a:ext uri="{FF2B5EF4-FFF2-40B4-BE49-F238E27FC236}">
                    <a16:creationId xmlns:a16="http://schemas.microsoft.com/office/drawing/2014/main" id="{03659DE8-DB9F-6FF2-DD07-202970FFF04D}"/>
                  </a:ext>
                </a:extLst>
              </p:cNvPr>
              <p:cNvSpPr/>
              <p:nvPr/>
            </p:nvSpPr>
            <p:spPr>
              <a:xfrm>
                <a:off x="1713053" y="5046562"/>
                <a:ext cx="5717893" cy="827589"/>
              </a:xfrm>
              <a:custGeom>
                <a:avLst/>
                <a:gdLst/>
                <a:ahLst/>
                <a:cxnLst/>
                <a:rect l="0" t="0" r="0" b="0"/>
                <a:pathLst>
                  <a:path w="5717893" h="827589">
                    <a:moveTo>
                      <a:pt x="2746093" y="677118"/>
                    </a:moveTo>
                    <a:lnTo>
                      <a:pt x="2858946" y="827589"/>
                    </a:lnTo>
                    <a:lnTo>
                      <a:pt x="3009417" y="677118"/>
                    </a:lnTo>
                    <a:lnTo>
                      <a:pt x="3159888" y="175549"/>
                    </a:lnTo>
                    <a:lnTo>
                      <a:pt x="3159888" y="0"/>
                    </a:lnTo>
                    <a:lnTo>
                      <a:pt x="2542970" y="0"/>
                    </a:lnTo>
                    <a:lnTo>
                      <a:pt x="2573064" y="75235"/>
                    </a:lnTo>
                    <a:lnTo>
                      <a:pt x="2633240" y="275863"/>
                    </a:lnTo>
                    <a:lnTo>
                      <a:pt x="2633240" y="476491"/>
                    </a:lnTo>
                    <a:lnTo>
                      <a:pt x="2746093" y="677118"/>
                    </a:lnTo>
                    <a:moveTo>
                      <a:pt x="2370474" y="75235"/>
                    </a:moveTo>
                    <a:lnTo>
                      <a:pt x="0" y="75235"/>
                    </a:lnTo>
                    <a:lnTo>
                      <a:pt x="0" y="677118"/>
                    </a:lnTo>
                    <a:lnTo>
                      <a:pt x="2510982" y="677118"/>
                    </a:lnTo>
                    <a:lnTo>
                      <a:pt x="2482769" y="626962"/>
                    </a:lnTo>
                    <a:cubicBezTo>
                      <a:pt x="2458355" y="583551"/>
                      <a:pt x="2445151" y="530754"/>
                      <a:pt x="2445151" y="476491"/>
                    </a:cubicBezTo>
                    <a:lnTo>
                      <a:pt x="2445151" y="324158"/>
                    </a:lnTo>
                    <a:lnTo>
                      <a:pt x="2370474" y="75235"/>
                    </a:lnTo>
                    <a:moveTo>
                      <a:pt x="3211995" y="677118"/>
                    </a:moveTo>
                    <a:lnTo>
                      <a:pt x="5717893" y="677118"/>
                    </a:lnTo>
                    <a:lnTo>
                      <a:pt x="5717893" y="75235"/>
                    </a:lnTo>
                    <a:lnTo>
                      <a:pt x="3347977" y="75235"/>
                    </a:lnTo>
                    <a:lnTo>
                      <a:pt x="3347977" y="175549"/>
                    </a:lnTo>
                    <a:cubicBezTo>
                      <a:pt x="3347977" y="207455"/>
                      <a:pt x="3343412" y="239066"/>
                      <a:pt x="3334522" y="268690"/>
                    </a:cubicBezTo>
                    <a:lnTo>
                      <a:pt x="3211995" y="677118"/>
                    </a:lnTo>
                  </a:path>
                </a:pathLst>
              </a:custGeom>
              <a:solidFill>
                <a:srgbClr val="A3A3A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900"/>
              </a:p>
            </p:txBody>
          </p:sp>
          <p:sp>
            <p:nvSpPr>
              <p:cNvPr id="129" name="Rounded Rectangle 14">
                <a:extLst>
                  <a:ext uri="{FF2B5EF4-FFF2-40B4-BE49-F238E27FC236}">
                    <a16:creationId xmlns:a16="http://schemas.microsoft.com/office/drawing/2014/main" id="{AB5A5D4B-8DFE-4E42-D777-289F0202F5E2}"/>
                  </a:ext>
                </a:extLst>
              </p:cNvPr>
              <p:cNvSpPr/>
              <p:nvPr/>
            </p:nvSpPr>
            <p:spPr>
              <a:xfrm>
                <a:off x="1713053" y="5046562"/>
                <a:ext cx="5717893" cy="827589"/>
              </a:xfrm>
              <a:custGeom>
                <a:avLst/>
                <a:gdLst/>
                <a:ahLst/>
                <a:cxnLst/>
                <a:rect l="0" t="0" r="0" b="0"/>
                <a:pathLst>
                  <a:path w="5717893" h="827589">
                    <a:moveTo>
                      <a:pt x="2573061" y="75235"/>
                    </a:moveTo>
                    <a:lnTo>
                      <a:pt x="2542967" y="0"/>
                    </a:lnTo>
                    <a:lnTo>
                      <a:pt x="3159898" y="0"/>
                    </a:lnTo>
                    <a:lnTo>
                      <a:pt x="3159898" y="75235"/>
                    </a:lnTo>
                    <a:moveTo>
                      <a:pt x="2370476" y="75235"/>
                    </a:moveTo>
                    <a:lnTo>
                      <a:pt x="0" y="75235"/>
                    </a:lnTo>
                    <a:lnTo>
                      <a:pt x="0" y="677119"/>
                    </a:lnTo>
                    <a:lnTo>
                      <a:pt x="2510984" y="677119"/>
                    </a:lnTo>
                    <a:lnTo>
                      <a:pt x="2482770" y="626962"/>
                    </a:lnTo>
                    <a:cubicBezTo>
                      <a:pt x="2458353" y="583552"/>
                      <a:pt x="2445153" y="530753"/>
                      <a:pt x="2445153" y="476491"/>
                    </a:cubicBezTo>
                    <a:lnTo>
                      <a:pt x="2445153" y="324160"/>
                    </a:lnTo>
                    <a:lnTo>
                      <a:pt x="2370476" y="75235"/>
                    </a:lnTo>
                    <a:close/>
                    <a:moveTo>
                      <a:pt x="3211996" y="677119"/>
                    </a:moveTo>
                    <a:lnTo>
                      <a:pt x="5717893" y="677119"/>
                    </a:lnTo>
                    <a:lnTo>
                      <a:pt x="5717893" y="75235"/>
                    </a:lnTo>
                    <a:lnTo>
                      <a:pt x="3347978" y="75235"/>
                    </a:lnTo>
                    <a:lnTo>
                      <a:pt x="3347978" y="175549"/>
                    </a:lnTo>
                    <a:cubicBezTo>
                      <a:pt x="3347978" y="207454"/>
                      <a:pt x="3343412" y="239065"/>
                      <a:pt x="3334525" y="268688"/>
                    </a:cubicBezTo>
                    <a:lnTo>
                      <a:pt x="3211996" y="677119"/>
                    </a:lnTo>
                    <a:close/>
                    <a:moveTo>
                      <a:pt x="3009418" y="677119"/>
                    </a:moveTo>
                    <a:lnTo>
                      <a:pt x="3159889" y="175549"/>
                    </a:lnTo>
                    <a:lnTo>
                      <a:pt x="3159889" y="75235"/>
                    </a:lnTo>
                    <a:moveTo>
                      <a:pt x="2573052" y="75235"/>
                    </a:moveTo>
                    <a:lnTo>
                      <a:pt x="2633241" y="275863"/>
                    </a:lnTo>
                    <a:lnTo>
                      <a:pt x="2633241" y="476491"/>
                    </a:lnTo>
                    <a:lnTo>
                      <a:pt x="2746094" y="677119"/>
                    </a:lnTo>
                    <a:moveTo>
                      <a:pt x="3009417" y="677118"/>
                    </a:moveTo>
                    <a:lnTo>
                      <a:pt x="2858946" y="827589"/>
                    </a:lnTo>
                    <a:lnTo>
                      <a:pt x="2746093" y="677118"/>
                    </a:lnTo>
                  </a:path>
                </a:pathLst>
              </a:custGeom>
              <a:noFill/>
              <a:ln w="9404"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822952FB-5187-7A43-9F9C-6C4F16B63A07}"/>
                  </a:ext>
                </a:extLst>
              </p:cNvPr>
              <p:cNvGrpSpPr/>
              <p:nvPr/>
            </p:nvGrpSpPr>
            <p:grpSpPr>
              <a:xfrm>
                <a:off x="1800827" y="2751883"/>
                <a:ext cx="967273" cy="300938"/>
                <a:chOff x="614422" y="2294683"/>
                <a:chExt cx="967273" cy="300938"/>
              </a:xfrm>
            </p:grpSpPr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993A973D-A5EB-ACE1-A01C-5AD2F2BD0FE3}"/>
                    </a:ext>
                  </a:extLst>
                </p:cNvPr>
                <p:cNvSpPr txBox="1"/>
                <p:nvPr/>
              </p:nvSpPr>
              <p:spPr>
                <a:xfrm>
                  <a:off x="614422" y="2294683"/>
                  <a:ext cx="967273" cy="1504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1200" b="1" dirty="0">
                      <a:solidFill>
                        <a:srgbClr val="584053"/>
                      </a:solidFill>
                      <a:latin typeface="Shantell Sans"/>
                    </a:rPr>
                    <a:t>Confidential</a:t>
                  </a:r>
                </a:p>
              </p:txBody>
            </p:sp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33E243EF-77F2-3ECC-77CC-23B6208CA0E7}"/>
                    </a:ext>
                  </a:extLst>
                </p:cNvPr>
                <p:cNvSpPr txBox="1"/>
                <p:nvPr/>
              </p:nvSpPr>
              <p:spPr>
                <a:xfrm>
                  <a:off x="614422" y="2445151"/>
                  <a:ext cx="967273" cy="1504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1200" b="1">
                      <a:solidFill>
                        <a:srgbClr val="584053"/>
                      </a:solidFill>
                      <a:latin typeface="Shantell Sans"/>
                    </a:rPr>
                    <a:t>Data</a:t>
                  </a:r>
                </a:p>
              </p:txBody>
            </p:sp>
          </p:grpSp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34033628-F138-FEA4-0C5F-5F8233FD96E2}"/>
                  </a:ext>
                </a:extLst>
              </p:cNvPr>
              <p:cNvGrpSpPr/>
              <p:nvPr/>
            </p:nvGrpSpPr>
            <p:grpSpPr>
              <a:xfrm>
                <a:off x="6323395" y="2686063"/>
                <a:ext cx="1069210" cy="329142"/>
                <a:chOff x="5136990" y="2228863"/>
                <a:chExt cx="1069210" cy="329142"/>
              </a:xfrm>
            </p:grpSpPr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74CD0F63-5416-7EB2-D519-78427E35848A}"/>
                    </a:ext>
                  </a:extLst>
                </p:cNvPr>
                <p:cNvSpPr txBox="1"/>
                <p:nvPr/>
              </p:nvSpPr>
              <p:spPr>
                <a:xfrm>
                  <a:off x="5186424" y="2228863"/>
                  <a:ext cx="1019776" cy="11285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r"/>
                  <a:r>
                    <a:rPr sz="1200" b="1" dirty="0">
                      <a:solidFill>
                        <a:srgbClr val="584053"/>
                      </a:solidFill>
                      <a:latin typeface="Shantell Sans" panose="020B0604020202020204" charset="0"/>
                      <a:cs typeface="Shantell Sans" panose="020B0604020202020204" charset="0"/>
                    </a:rPr>
                    <a:t>Sensitive information</a:t>
                  </a:r>
                </a:p>
              </p:txBody>
            </p:sp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407D373C-6AED-A379-0216-258121AB3DF2}"/>
                    </a:ext>
                  </a:extLst>
                </p:cNvPr>
                <p:cNvSpPr txBox="1"/>
                <p:nvPr/>
              </p:nvSpPr>
              <p:spPr>
                <a:xfrm>
                  <a:off x="5136990" y="2445153"/>
                  <a:ext cx="1019776" cy="1128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r"/>
                  <a:r>
                    <a:rPr sz="1200" b="1" dirty="0">
                      <a:solidFill>
                        <a:srgbClr val="584053"/>
                      </a:solidFill>
                      <a:latin typeface="Shantell Sans" panose="020B0604020202020204" charset="0"/>
                      <a:cs typeface="Shantell Sans" panose="020B0604020202020204" charset="0"/>
                    </a:rPr>
                    <a:t>kept on premises</a:t>
                  </a:r>
                </a:p>
              </p:txBody>
            </p:sp>
          </p:grpSp>
          <p:sp>
            <p:nvSpPr>
              <p:cNvPr id="132" name="Rounded Rectangle 21">
                <a:extLst>
                  <a:ext uri="{FF2B5EF4-FFF2-40B4-BE49-F238E27FC236}">
                    <a16:creationId xmlns:a16="http://schemas.microsoft.com/office/drawing/2014/main" id="{2A65EA53-DB2F-5FEB-2034-B5ED031D756F}"/>
                  </a:ext>
                </a:extLst>
              </p:cNvPr>
              <p:cNvSpPr/>
              <p:nvPr/>
            </p:nvSpPr>
            <p:spPr>
              <a:xfrm>
                <a:off x="4452877" y="2758150"/>
                <a:ext cx="238245" cy="288402"/>
              </a:xfrm>
              <a:custGeom>
                <a:avLst/>
                <a:gdLst/>
                <a:ahLst/>
                <a:cxnLst/>
                <a:rect l="0" t="0" r="0" b="0"/>
                <a:pathLst>
                  <a:path w="238245" h="288402">
                    <a:moveTo>
                      <a:pt x="50156" y="100313"/>
                    </a:moveTo>
                    <a:lnTo>
                      <a:pt x="50156" y="68965"/>
                    </a:lnTo>
                    <a:cubicBezTo>
                      <a:pt x="50156" y="30877"/>
                      <a:pt x="81034" y="0"/>
                      <a:pt x="119122" y="0"/>
                    </a:cubicBezTo>
                    <a:cubicBezTo>
                      <a:pt x="157211" y="0"/>
                      <a:pt x="188088" y="30877"/>
                      <a:pt x="188088" y="68965"/>
                    </a:cubicBezTo>
                    <a:lnTo>
                      <a:pt x="188088" y="100313"/>
                    </a:lnTo>
                    <a:moveTo>
                      <a:pt x="0" y="163010"/>
                    </a:moveTo>
                    <a:lnTo>
                      <a:pt x="238245" y="163010"/>
                    </a:lnTo>
                    <a:moveTo>
                      <a:pt x="0" y="225706"/>
                    </a:moveTo>
                    <a:lnTo>
                      <a:pt x="238245" y="225706"/>
                    </a:lnTo>
                    <a:moveTo>
                      <a:pt x="31348" y="100313"/>
                    </a:moveTo>
                    <a:lnTo>
                      <a:pt x="206897" y="100313"/>
                    </a:lnTo>
                    <a:cubicBezTo>
                      <a:pt x="206897" y="100313"/>
                      <a:pt x="238245" y="100313"/>
                      <a:pt x="238245" y="131662"/>
                    </a:cubicBezTo>
                    <a:lnTo>
                      <a:pt x="238245" y="257054"/>
                    </a:lnTo>
                    <a:cubicBezTo>
                      <a:pt x="238245" y="257054"/>
                      <a:pt x="238245" y="288402"/>
                      <a:pt x="206897" y="288402"/>
                    </a:cubicBezTo>
                    <a:lnTo>
                      <a:pt x="31348" y="288402"/>
                    </a:lnTo>
                    <a:cubicBezTo>
                      <a:pt x="31348" y="288402"/>
                      <a:pt x="0" y="288402"/>
                      <a:pt x="0" y="257054"/>
                    </a:cubicBezTo>
                    <a:lnTo>
                      <a:pt x="0" y="131662"/>
                    </a:lnTo>
                    <a:cubicBezTo>
                      <a:pt x="0" y="131662"/>
                      <a:pt x="0" y="100313"/>
                      <a:pt x="31348" y="100313"/>
                    </a:cubicBezTo>
                    <a:moveTo>
                      <a:pt x="34482" y="128527"/>
                    </a:moveTo>
                    <a:cubicBezTo>
                      <a:pt x="32751" y="128527"/>
                      <a:pt x="31348" y="129930"/>
                      <a:pt x="31348" y="131662"/>
                    </a:cubicBezTo>
                    <a:cubicBezTo>
                      <a:pt x="31348" y="133393"/>
                      <a:pt x="32751" y="134796"/>
                      <a:pt x="34482" y="134796"/>
                    </a:cubicBezTo>
                    <a:cubicBezTo>
                      <a:pt x="36214" y="134796"/>
                      <a:pt x="37617" y="133393"/>
                      <a:pt x="37617" y="131662"/>
                    </a:cubicBezTo>
                    <a:cubicBezTo>
                      <a:pt x="37617" y="129930"/>
                      <a:pt x="36214" y="128527"/>
                      <a:pt x="34482" y="128527"/>
                    </a:cubicBezTo>
                    <a:moveTo>
                      <a:pt x="65831" y="128527"/>
                    </a:moveTo>
                    <a:cubicBezTo>
                      <a:pt x="64099" y="128527"/>
                      <a:pt x="62696" y="129930"/>
                      <a:pt x="62696" y="131662"/>
                    </a:cubicBezTo>
                    <a:cubicBezTo>
                      <a:pt x="62696" y="133393"/>
                      <a:pt x="64099" y="134796"/>
                      <a:pt x="65831" y="134796"/>
                    </a:cubicBezTo>
                    <a:cubicBezTo>
                      <a:pt x="67562" y="134796"/>
                      <a:pt x="68965" y="133393"/>
                      <a:pt x="68965" y="131662"/>
                    </a:cubicBezTo>
                    <a:cubicBezTo>
                      <a:pt x="68965" y="129930"/>
                      <a:pt x="67562" y="128527"/>
                      <a:pt x="65831" y="128527"/>
                    </a:cubicBezTo>
                    <a:moveTo>
                      <a:pt x="34482" y="191223"/>
                    </a:moveTo>
                    <a:cubicBezTo>
                      <a:pt x="32751" y="191223"/>
                      <a:pt x="31348" y="192626"/>
                      <a:pt x="31348" y="194358"/>
                    </a:cubicBezTo>
                    <a:cubicBezTo>
                      <a:pt x="31348" y="196089"/>
                      <a:pt x="32751" y="197493"/>
                      <a:pt x="34482" y="197493"/>
                    </a:cubicBezTo>
                    <a:cubicBezTo>
                      <a:pt x="36214" y="197493"/>
                      <a:pt x="37617" y="196089"/>
                      <a:pt x="37617" y="194358"/>
                    </a:cubicBezTo>
                    <a:cubicBezTo>
                      <a:pt x="37617" y="192626"/>
                      <a:pt x="36214" y="191223"/>
                      <a:pt x="34482" y="191223"/>
                    </a:cubicBezTo>
                    <a:moveTo>
                      <a:pt x="65831" y="191223"/>
                    </a:moveTo>
                    <a:cubicBezTo>
                      <a:pt x="64099" y="191223"/>
                      <a:pt x="62696" y="192626"/>
                      <a:pt x="62696" y="194358"/>
                    </a:cubicBezTo>
                    <a:cubicBezTo>
                      <a:pt x="62696" y="196089"/>
                      <a:pt x="64099" y="197493"/>
                      <a:pt x="65831" y="197493"/>
                    </a:cubicBezTo>
                    <a:cubicBezTo>
                      <a:pt x="67562" y="197493"/>
                      <a:pt x="68965" y="196089"/>
                      <a:pt x="68965" y="194358"/>
                    </a:cubicBezTo>
                    <a:cubicBezTo>
                      <a:pt x="68965" y="192626"/>
                      <a:pt x="67562" y="191223"/>
                      <a:pt x="65831" y="191223"/>
                    </a:cubicBezTo>
                    <a:moveTo>
                      <a:pt x="34482" y="253919"/>
                    </a:moveTo>
                    <a:cubicBezTo>
                      <a:pt x="32751" y="253919"/>
                      <a:pt x="31348" y="255323"/>
                      <a:pt x="31348" y="257054"/>
                    </a:cubicBezTo>
                    <a:cubicBezTo>
                      <a:pt x="31348" y="258785"/>
                      <a:pt x="32751" y="260189"/>
                      <a:pt x="34482" y="260189"/>
                    </a:cubicBezTo>
                    <a:cubicBezTo>
                      <a:pt x="36214" y="260189"/>
                      <a:pt x="37617" y="258785"/>
                      <a:pt x="37617" y="257054"/>
                    </a:cubicBezTo>
                    <a:cubicBezTo>
                      <a:pt x="37617" y="255323"/>
                      <a:pt x="36214" y="253919"/>
                      <a:pt x="34482" y="253919"/>
                    </a:cubicBezTo>
                    <a:moveTo>
                      <a:pt x="65831" y="253919"/>
                    </a:moveTo>
                    <a:cubicBezTo>
                      <a:pt x="64099" y="253919"/>
                      <a:pt x="62696" y="255323"/>
                      <a:pt x="62696" y="257054"/>
                    </a:cubicBezTo>
                    <a:cubicBezTo>
                      <a:pt x="62696" y="258785"/>
                      <a:pt x="64099" y="260189"/>
                      <a:pt x="65831" y="260189"/>
                    </a:cubicBezTo>
                    <a:cubicBezTo>
                      <a:pt x="67562" y="260189"/>
                      <a:pt x="68965" y="258785"/>
                      <a:pt x="68965" y="257054"/>
                    </a:cubicBezTo>
                    <a:cubicBezTo>
                      <a:pt x="68965" y="255323"/>
                      <a:pt x="67562" y="253919"/>
                      <a:pt x="65831" y="253919"/>
                    </a:cubicBezTo>
                  </a:path>
                </a:pathLst>
              </a:custGeom>
              <a:noFill/>
              <a:ln w="9404"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3" name="Rounded Rectangle 22">
                <a:extLst>
                  <a:ext uri="{FF2B5EF4-FFF2-40B4-BE49-F238E27FC236}">
                    <a16:creationId xmlns:a16="http://schemas.microsoft.com/office/drawing/2014/main" id="{2E014277-F71F-48E7-A981-C25FFEE26E7E}"/>
                  </a:ext>
                </a:extLst>
              </p:cNvPr>
              <p:cNvSpPr/>
              <p:nvPr/>
            </p:nvSpPr>
            <p:spPr>
              <a:xfrm>
                <a:off x="4421529" y="3372573"/>
                <a:ext cx="296835" cy="291537"/>
              </a:xfrm>
              <a:custGeom>
                <a:avLst/>
                <a:gdLst/>
                <a:ahLst/>
                <a:cxnLst/>
                <a:rect l="0" t="0" r="0" b="0"/>
                <a:pathLst>
                  <a:path w="296835" h="291537">
                    <a:moveTo>
                      <a:pt x="28074" y="247649"/>
                    </a:moveTo>
                    <a:cubicBezTo>
                      <a:pt x="38462" y="247649"/>
                      <a:pt x="46883" y="239228"/>
                      <a:pt x="46883" y="228841"/>
                    </a:cubicBezTo>
                    <a:cubicBezTo>
                      <a:pt x="46883" y="218453"/>
                      <a:pt x="38462" y="210032"/>
                      <a:pt x="28074" y="210032"/>
                    </a:cubicBezTo>
                    <a:cubicBezTo>
                      <a:pt x="17686" y="210032"/>
                      <a:pt x="9265" y="218453"/>
                      <a:pt x="9265" y="228841"/>
                    </a:cubicBezTo>
                    <a:cubicBezTo>
                      <a:pt x="9265" y="239228"/>
                      <a:pt x="17686" y="247649"/>
                      <a:pt x="28074" y="247649"/>
                    </a:cubicBezTo>
                    <a:close/>
                    <a:moveTo>
                      <a:pt x="110834" y="189365"/>
                    </a:moveTo>
                    <a:cubicBezTo>
                      <a:pt x="121222" y="189365"/>
                      <a:pt x="129644" y="180943"/>
                      <a:pt x="129644" y="170556"/>
                    </a:cubicBezTo>
                    <a:cubicBezTo>
                      <a:pt x="129644" y="160168"/>
                      <a:pt x="121222" y="151747"/>
                      <a:pt x="110834" y="151747"/>
                    </a:cubicBezTo>
                    <a:cubicBezTo>
                      <a:pt x="100447" y="151747"/>
                      <a:pt x="92026" y="160168"/>
                      <a:pt x="92026" y="170556"/>
                    </a:cubicBezTo>
                    <a:cubicBezTo>
                      <a:pt x="92026" y="180943"/>
                      <a:pt x="100447" y="189365"/>
                      <a:pt x="110834" y="189365"/>
                    </a:cubicBezTo>
                    <a:close/>
                    <a:moveTo>
                      <a:pt x="0" y="0"/>
                    </a:moveTo>
                    <a:moveTo>
                      <a:pt x="110834" y="189365"/>
                    </a:moveTo>
                    <a:lnTo>
                      <a:pt x="110834" y="291537"/>
                    </a:lnTo>
                    <a:moveTo>
                      <a:pt x="46883" y="228841"/>
                    </a:moveTo>
                    <a:lnTo>
                      <a:pt x="57472" y="228841"/>
                    </a:lnTo>
                    <a:cubicBezTo>
                      <a:pt x="65414" y="228841"/>
                      <a:pt x="70709" y="233856"/>
                      <a:pt x="70709" y="241380"/>
                    </a:cubicBezTo>
                    <a:lnTo>
                      <a:pt x="70709" y="291537"/>
                    </a:lnTo>
                    <a:moveTo>
                      <a:pt x="192339" y="247649"/>
                    </a:moveTo>
                    <a:cubicBezTo>
                      <a:pt x="202726" y="247649"/>
                      <a:pt x="211148" y="239228"/>
                      <a:pt x="211148" y="228841"/>
                    </a:cubicBezTo>
                    <a:cubicBezTo>
                      <a:pt x="211148" y="218453"/>
                      <a:pt x="202726" y="210032"/>
                      <a:pt x="192339" y="210032"/>
                    </a:cubicBezTo>
                    <a:cubicBezTo>
                      <a:pt x="181951" y="210032"/>
                      <a:pt x="173530" y="218453"/>
                      <a:pt x="173530" y="228841"/>
                    </a:cubicBezTo>
                    <a:cubicBezTo>
                      <a:pt x="173530" y="239228"/>
                      <a:pt x="181951" y="247649"/>
                      <a:pt x="192339" y="247649"/>
                    </a:cubicBezTo>
                    <a:close/>
                    <a:moveTo>
                      <a:pt x="173530" y="228841"/>
                    </a:moveTo>
                    <a:lnTo>
                      <a:pt x="163499" y="228841"/>
                    </a:lnTo>
                    <a:cubicBezTo>
                      <a:pt x="155975" y="228841"/>
                      <a:pt x="150959" y="233856"/>
                      <a:pt x="150959" y="241380"/>
                    </a:cubicBezTo>
                    <a:lnTo>
                      <a:pt x="150959" y="291537"/>
                    </a:lnTo>
                    <a:moveTo>
                      <a:pt x="0" y="0"/>
                    </a:moveTo>
                    <a:moveTo>
                      <a:pt x="76977" y="126019"/>
                    </a:moveTo>
                    <a:lnTo>
                      <a:pt x="71961" y="119749"/>
                    </a:lnTo>
                    <a:cubicBezTo>
                      <a:pt x="69453" y="115987"/>
                      <a:pt x="63184" y="114733"/>
                      <a:pt x="59422" y="117241"/>
                    </a:cubicBezTo>
                    <a:lnTo>
                      <a:pt x="46883" y="124764"/>
                    </a:lnTo>
                    <a:cubicBezTo>
                      <a:pt x="36851" y="131033"/>
                      <a:pt x="24312" y="119748"/>
                      <a:pt x="29328" y="108463"/>
                    </a:cubicBezTo>
                    <a:lnTo>
                      <a:pt x="35597" y="95924"/>
                    </a:lnTo>
                    <a:cubicBezTo>
                      <a:pt x="38105" y="90908"/>
                      <a:pt x="35597" y="85893"/>
                      <a:pt x="31836" y="83385"/>
                    </a:cubicBezTo>
                    <a:lnTo>
                      <a:pt x="19296" y="77115"/>
                    </a:lnTo>
                    <a:cubicBezTo>
                      <a:pt x="8011" y="70845"/>
                      <a:pt x="11773" y="54545"/>
                      <a:pt x="24312" y="53291"/>
                    </a:cubicBezTo>
                    <a:lnTo>
                      <a:pt x="38105" y="52037"/>
                    </a:lnTo>
                    <a:cubicBezTo>
                      <a:pt x="43121" y="52037"/>
                      <a:pt x="46883" y="47021"/>
                      <a:pt x="46883" y="42005"/>
                    </a:cubicBezTo>
                    <a:lnTo>
                      <a:pt x="46883" y="28212"/>
                    </a:lnTo>
                    <a:cubicBezTo>
                      <a:pt x="46883" y="15673"/>
                      <a:pt x="61930" y="10657"/>
                      <a:pt x="69453" y="20688"/>
                    </a:cubicBezTo>
                    <a:lnTo>
                      <a:pt x="78231" y="31974"/>
                    </a:lnTo>
                    <a:cubicBezTo>
                      <a:pt x="80739" y="35736"/>
                      <a:pt x="87008" y="36990"/>
                      <a:pt x="90770" y="34482"/>
                    </a:cubicBezTo>
                    <a:lnTo>
                      <a:pt x="103309" y="26958"/>
                    </a:lnTo>
                    <a:cubicBezTo>
                      <a:pt x="113341" y="20688"/>
                      <a:pt x="125880" y="31974"/>
                      <a:pt x="120864" y="43259"/>
                    </a:cubicBezTo>
                    <a:lnTo>
                      <a:pt x="114595" y="55798"/>
                    </a:lnTo>
                    <a:cubicBezTo>
                      <a:pt x="112087" y="60814"/>
                      <a:pt x="114595" y="65830"/>
                      <a:pt x="118357" y="68338"/>
                    </a:cubicBezTo>
                    <a:lnTo>
                      <a:pt x="130895" y="74607"/>
                    </a:lnTo>
                    <a:cubicBezTo>
                      <a:pt x="142181" y="80877"/>
                      <a:pt x="138419" y="97178"/>
                      <a:pt x="125880" y="98432"/>
                    </a:cubicBezTo>
                    <a:lnTo>
                      <a:pt x="112087" y="99686"/>
                    </a:lnTo>
                    <a:cubicBezTo>
                      <a:pt x="107071" y="99686"/>
                      <a:pt x="103309" y="104702"/>
                      <a:pt x="103309" y="109717"/>
                    </a:cubicBezTo>
                    <a:lnTo>
                      <a:pt x="103309" y="117241"/>
                    </a:lnTo>
                    <a:moveTo>
                      <a:pt x="0" y="0"/>
                    </a:moveTo>
                    <a:moveTo>
                      <a:pt x="245018" y="29758"/>
                    </a:moveTo>
                    <a:lnTo>
                      <a:pt x="249335" y="43792"/>
                    </a:lnTo>
                    <a:cubicBezTo>
                      <a:pt x="250414" y="49190"/>
                      <a:pt x="255813" y="51349"/>
                      <a:pt x="261209" y="50269"/>
                    </a:cubicBezTo>
                    <a:lnTo>
                      <a:pt x="275245" y="47031"/>
                    </a:lnTo>
                    <a:cubicBezTo>
                      <a:pt x="288199" y="43792"/>
                      <a:pt x="296835" y="58905"/>
                      <a:pt x="288199" y="68621"/>
                    </a:cubicBezTo>
                    <a:lnTo>
                      <a:pt x="278482" y="79417"/>
                    </a:lnTo>
                    <a:cubicBezTo>
                      <a:pt x="275245" y="83735"/>
                      <a:pt x="275245" y="89132"/>
                      <a:pt x="278482" y="92371"/>
                    </a:cubicBezTo>
                    <a:lnTo>
                      <a:pt x="288199" y="103166"/>
                    </a:lnTo>
                    <a:cubicBezTo>
                      <a:pt x="296835" y="112882"/>
                      <a:pt x="288199" y="127995"/>
                      <a:pt x="275245" y="124757"/>
                    </a:cubicBezTo>
                    <a:lnTo>
                      <a:pt x="261209" y="121518"/>
                    </a:lnTo>
                    <a:cubicBezTo>
                      <a:pt x="255813" y="120439"/>
                      <a:pt x="251494" y="123678"/>
                      <a:pt x="249335" y="127996"/>
                    </a:cubicBezTo>
                    <a:lnTo>
                      <a:pt x="245018" y="142030"/>
                    </a:lnTo>
                    <a:cubicBezTo>
                      <a:pt x="240699" y="154985"/>
                      <a:pt x="223426" y="154985"/>
                      <a:pt x="220187" y="142030"/>
                    </a:cubicBezTo>
                    <a:lnTo>
                      <a:pt x="215870" y="127996"/>
                    </a:lnTo>
                    <a:cubicBezTo>
                      <a:pt x="214790" y="122598"/>
                      <a:pt x="209392" y="120439"/>
                      <a:pt x="203994" y="121518"/>
                    </a:cubicBezTo>
                    <a:lnTo>
                      <a:pt x="189960" y="124757"/>
                    </a:lnTo>
                    <a:cubicBezTo>
                      <a:pt x="177006" y="127995"/>
                      <a:pt x="168370" y="112882"/>
                      <a:pt x="177006" y="103166"/>
                    </a:cubicBezTo>
                    <a:lnTo>
                      <a:pt x="186723" y="92371"/>
                    </a:lnTo>
                    <a:cubicBezTo>
                      <a:pt x="189960" y="88053"/>
                      <a:pt x="189960" y="82655"/>
                      <a:pt x="186723" y="79417"/>
                    </a:cubicBezTo>
                    <a:lnTo>
                      <a:pt x="177006" y="68621"/>
                    </a:lnTo>
                    <a:cubicBezTo>
                      <a:pt x="168370" y="58905"/>
                      <a:pt x="177006" y="43792"/>
                      <a:pt x="189960" y="47031"/>
                    </a:cubicBezTo>
                    <a:lnTo>
                      <a:pt x="203994" y="50269"/>
                    </a:lnTo>
                    <a:cubicBezTo>
                      <a:pt x="209392" y="51349"/>
                      <a:pt x="213711" y="48110"/>
                      <a:pt x="215870" y="43792"/>
                    </a:cubicBezTo>
                    <a:lnTo>
                      <a:pt x="220187" y="29758"/>
                    </a:lnTo>
                    <a:cubicBezTo>
                      <a:pt x="223426" y="16803"/>
                      <a:pt x="241779" y="16803"/>
                      <a:pt x="245018" y="29758"/>
                    </a:cubicBezTo>
                    <a:close/>
                    <a:moveTo>
                      <a:pt x="75096" y="90220"/>
                    </a:moveTo>
                    <a:cubicBezTo>
                      <a:pt x="82635" y="90220"/>
                      <a:pt x="88746" y="84108"/>
                      <a:pt x="88746" y="76569"/>
                    </a:cubicBezTo>
                    <a:cubicBezTo>
                      <a:pt x="88746" y="69031"/>
                      <a:pt x="82635" y="62919"/>
                      <a:pt x="75096" y="62919"/>
                    </a:cubicBezTo>
                    <a:cubicBezTo>
                      <a:pt x="67557" y="62919"/>
                      <a:pt x="61446" y="69031"/>
                      <a:pt x="61446" y="76569"/>
                    </a:cubicBezTo>
                    <a:cubicBezTo>
                      <a:pt x="61446" y="84108"/>
                      <a:pt x="67557" y="90220"/>
                      <a:pt x="75096" y="90220"/>
                    </a:cubicBezTo>
                    <a:close/>
                    <a:moveTo>
                      <a:pt x="232602" y="99544"/>
                    </a:moveTo>
                    <a:cubicBezTo>
                      <a:pt x="240141" y="99544"/>
                      <a:pt x="246253" y="93433"/>
                      <a:pt x="246253" y="85894"/>
                    </a:cubicBezTo>
                    <a:cubicBezTo>
                      <a:pt x="246253" y="78355"/>
                      <a:pt x="240141" y="72244"/>
                      <a:pt x="232602" y="72244"/>
                    </a:cubicBezTo>
                    <a:cubicBezTo>
                      <a:pt x="225063" y="72244"/>
                      <a:pt x="218952" y="78355"/>
                      <a:pt x="218952" y="85894"/>
                    </a:cubicBezTo>
                    <a:cubicBezTo>
                      <a:pt x="218952" y="93433"/>
                      <a:pt x="225063" y="99544"/>
                      <a:pt x="232602" y="99544"/>
                    </a:cubicBezTo>
                    <a:close/>
                  </a:path>
                </a:pathLst>
              </a:custGeom>
              <a:noFill/>
              <a:ln w="9404"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C7D02505-8288-625C-DC85-F794FED23930}"/>
                  </a:ext>
                </a:extLst>
              </p:cNvPr>
              <p:cNvGrpSpPr/>
              <p:nvPr/>
            </p:nvGrpSpPr>
            <p:grpSpPr>
              <a:xfrm>
                <a:off x="1800827" y="3371832"/>
                <a:ext cx="1014137" cy="300942"/>
                <a:chOff x="614422" y="2914632"/>
                <a:chExt cx="1014137" cy="300942"/>
              </a:xfrm>
            </p:grpSpPr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936BC7D7-3A80-B0D9-7272-1D46DC3C1ECF}"/>
                    </a:ext>
                  </a:extLst>
                </p:cNvPr>
                <p:cNvSpPr txBox="1"/>
                <p:nvPr/>
              </p:nvSpPr>
              <p:spPr>
                <a:xfrm>
                  <a:off x="614422" y="2914632"/>
                  <a:ext cx="1014137" cy="1504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1200" b="1">
                      <a:solidFill>
                        <a:srgbClr val="584053"/>
                      </a:solidFill>
                      <a:latin typeface="Shantell Sans"/>
                    </a:rPr>
                    <a:t>Open-Weight</a:t>
                  </a:r>
                </a:p>
              </p:txBody>
            </p:sp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4938708E-C45B-64EA-B7D9-DAA498D41089}"/>
                    </a:ext>
                  </a:extLst>
                </p:cNvPr>
                <p:cNvSpPr txBox="1"/>
                <p:nvPr/>
              </p:nvSpPr>
              <p:spPr>
                <a:xfrm>
                  <a:off x="614422" y="3065104"/>
                  <a:ext cx="1014137" cy="1504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1200" b="1">
                      <a:solidFill>
                        <a:srgbClr val="584053"/>
                      </a:solidFill>
                      <a:latin typeface="Shantell Sans"/>
                    </a:rPr>
                    <a:t>LLMs</a:t>
                  </a:r>
                </a:p>
              </p:txBody>
            </p:sp>
          </p:grpSp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17F2A202-DB73-CA08-AC45-ED3A93C0046B}"/>
                  </a:ext>
                </a:extLst>
              </p:cNvPr>
              <p:cNvGrpSpPr/>
              <p:nvPr/>
            </p:nvGrpSpPr>
            <p:grpSpPr>
              <a:xfrm>
                <a:off x="6457121" y="3353024"/>
                <a:ext cx="886050" cy="339300"/>
                <a:chOff x="5270716" y="2895824"/>
                <a:chExt cx="886050" cy="339300"/>
              </a:xfrm>
            </p:grpSpPr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F1389B0E-56D6-525C-2193-AAA4F4EAC1FE}"/>
                    </a:ext>
                  </a:extLst>
                </p:cNvPr>
                <p:cNvSpPr txBox="1"/>
                <p:nvPr/>
              </p:nvSpPr>
              <p:spPr>
                <a:xfrm>
                  <a:off x="5270716" y="2895824"/>
                  <a:ext cx="886050" cy="11285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r"/>
                  <a:r>
                    <a:rPr sz="1200" b="1" dirty="0">
                      <a:solidFill>
                        <a:srgbClr val="584053"/>
                      </a:solidFill>
                      <a:latin typeface="Shantell Sans" panose="020B0604020202020204" charset="0"/>
                      <a:cs typeface="Shantell Sans" panose="020B0604020202020204" charset="0"/>
                    </a:rPr>
                    <a:t>Multiple models</a:t>
                  </a:r>
                </a:p>
              </p:txBody>
            </p:sp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391AA690-C583-84D7-3348-B5F007EBDE0B}"/>
                    </a:ext>
                  </a:extLst>
                </p:cNvPr>
                <p:cNvSpPr txBox="1"/>
                <p:nvPr/>
              </p:nvSpPr>
              <p:spPr>
                <a:xfrm>
                  <a:off x="5270716" y="3008677"/>
                  <a:ext cx="886050" cy="11285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r"/>
                  <a:r>
                    <a:rPr sz="1200" b="1" dirty="0">
                      <a:solidFill>
                        <a:srgbClr val="584053"/>
                      </a:solidFill>
                      <a:latin typeface="Shantell Sans" panose="020B0604020202020204" charset="0"/>
                      <a:cs typeface="Shantell Sans" panose="020B0604020202020204" charset="0"/>
                    </a:rPr>
                    <a:t>supported for task</a:t>
                  </a:r>
                </a:p>
              </p:txBody>
            </p:sp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13515698-E591-0344-DD98-2EDD42E106FB}"/>
                    </a:ext>
                  </a:extLst>
                </p:cNvPr>
                <p:cNvSpPr txBox="1"/>
                <p:nvPr/>
              </p:nvSpPr>
              <p:spPr>
                <a:xfrm>
                  <a:off x="5270716" y="3122272"/>
                  <a:ext cx="886050" cy="1128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r"/>
                  <a:r>
                    <a:rPr sz="1200" b="1" dirty="0">
                      <a:solidFill>
                        <a:srgbClr val="584053"/>
                      </a:solidFill>
                      <a:latin typeface="Shantell Sans" panose="020B0604020202020204" charset="0"/>
                      <a:cs typeface="Shantell Sans" panose="020B0604020202020204" charset="0"/>
                    </a:rPr>
                    <a:t>selection</a:t>
                  </a:r>
                </a:p>
              </p:txBody>
            </p:sp>
          </p:grp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FB467617-8C11-1B7A-98AF-B975B096B357}"/>
                  </a:ext>
                </a:extLst>
              </p:cNvPr>
              <p:cNvGrpSpPr/>
              <p:nvPr/>
            </p:nvGrpSpPr>
            <p:grpSpPr>
              <a:xfrm>
                <a:off x="6425915" y="1999451"/>
                <a:ext cx="948462" cy="263398"/>
                <a:chOff x="5239510" y="1542251"/>
                <a:chExt cx="948462" cy="263398"/>
              </a:xfrm>
            </p:grpSpPr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5F5387E9-C4B6-B894-703B-481C20A72AC6}"/>
                    </a:ext>
                  </a:extLst>
                </p:cNvPr>
                <p:cNvSpPr txBox="1"/>
                <p:nvPr/>
              </p:nvSpPr>
              <p:spPr>
                <a:xfrm>
                  <a:off x="5270716" y="1542251"/>
                  <a:ext cx="917256" cy="11285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r"/>
                  <a:r>
                    <a:rPr sz="1200" b="1" dirty="0">
                      <a:solidFill>
                        <a:srgbClr val="584053"/>
                      </a:solidFill>
                      <a:latin typeface="Roboto"/>
                    </a:rPr>
                    <a:t>Visible AI assistant</a:t>
                  </a:r>
                </a:p>
              </p:txBody>
            </p:sp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47E02260-BF0D-2950-60DB-DE2981D50AD3}"/>
                    </a:ext>
                  </a:extLst>
                </p:cNvPr>
                <p:cNvSpPr txBox="1"/>
                <p:nvPr/>
              </p:nvSpPr>
              <p:spPr>
                <a:xfrm>
                  <a:off x="5239510" y="1692797"/>
                  <a:ext cx="917256" cy="1128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r"/>
                  <a:r>
                    <a:rPr sz="1200" b="1" dirty="0">
                      <a:solidFill>
                        <a:srgbClr val="584053"/>
                      </a:solidFill>
                      <a:latin typeface="Roboto"/>
                    </a:rPr>
                    <a:t>interface</a:t>
                  </a:r>
                </a:p>
              </p:txBody>
            </p:sp>
          </p:grp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08958956-7F31-3726-B775-65C023A0F1B0}"/>
                  </a:ext>
                </a:extLst>
              </p:cNvPr>
              <p:cNvSpPr txBox="1"/>
              <p:nvPr/>
            </p:nvSpPr>
            <p:spPr>
              <a:xfrm>
                <a:off x="2177004" y="2074762"/>
                <a:ext cx="1082972" cy="1504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200" b="1" dirty="0">
                    <a:solidFill>
                      <a:srgbClr val="584053"/>
                    </a:solidFill>
                    <a:latin typeface="Shantell Sans"/>
                  </a:rPr>
                  <a:t>AI Workbench</a:t>
                </a:r>
              </a:p>
            </p:txBody>
          </p: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A157A344-F102-29F5-A240-B135CEE434ED}"/>
                  </a:ext>
                </a:extLst>
              </p:cNvPr>
              <p:cNvGrpSpPr/>
              <p:nvPr/>
            </p:nvGrpSpPr>
            <p:grpSpPr>
              <a:xfrm>
                <a:off x="1800827" y="3993266"/>
                <a:ext cx="876021" cy="300941"/>
                <a:chOff x="614422" y="3536066"/>
                <a:chExt cx="876021" cy="300941"/>
              </a:xfrm>
            </p:grpSpPr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8375244B-FD19-A704-83A7-991A460DA479}"/>
                    </a:ext>
                  </a:extLst>
                </p:cNvPr>
                <p:cNvSpPr txBox="1"/>
                <p:nvPr/>
              </p:nvSpPr>
              <p:spPr>
                <a:xfrm>
                  <a:off x="614422" y="3536066"/>
                  <a:ext cx="876021" cy="1504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1200" b="1" dirty="0">
                      <a:solidFill>
                        <a:srgbClr val="584053"/>
                      </a:solidFill>
                      <a:latin typeface="Shantell Sans"/>
                    </a:rPr>
                    <a:t>Agentic</a:t>
                  </a:r>
                </a:p>
              </p:txBody>
            </p:sp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62676120-10EC-778C-4212-793135A2B22E}"/>
                    </a:ext>
                  </a:extLst>
                </p:cNvPr>
                <p:cNvSpPr txBox="1"/>
                <p:nvPr/>
              </p:nvSpPr>
              <p:spPr>
                <a:xfrm>
                  <a:off x="614422" y="3686537"/>
                  <a:ext cx="876021" cy="1504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1200" b="1">
                      <a:solidFill>
                        <a:srgbClr val="584053"/>
                      </a:solidFill>
                      <a:latin typeface="Shantell Sans"/>
                    </a:rPr>
                    <a:t>Capabilities</a:t>
                  </a:r>
                </a:p>
              </p:txBody>
            </p:sp>
          </p:grp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EC1F8ECF-F608-110C-02D5-9654B567CC32}"/>
                  </a:ext>
                </a:extLst>
              </p:cNvPr>
              <p:cNvGrpSpPr/>
              <p:nvPr/>
            </p:nvGrpSpPr>
            <p:grpSpPr>
              <a:xfrm>
                <a:off x="6176721" y="4030884"/>
                <a:ext cx="1166450" cy="225706"/>
                <a:chOff x="4990316" y="3573684"/>
                <a:chExt cx="1166450" cy="225706"/>
              </a:xfrm>
            </p:grpSpPr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6AF7E9C3-169D-86CB-B0D3-01B4E9B142D3}"/>
                    </a:ext>
                  </a:extLst>
                </p:cNvPr>
                <p:cNvSpPr txBox="1"/>
                <p:nvPr/>
              </p:nvSpPr>
              <p:spPr>
                <a:xfrm>
                  <a:off x="4990316" y="3573684"/>
                  <a:ext cx="1166450" cy="11285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r"/>
                  <a:r>
                    <a:rPr sz="1200" b="1" dirty="0">
                      <a:solidFill>
                        <a:srgbClr val="584053"/>
                      </a:solidFill>
                      <a:latin typeface="Shantell Sans" panose="020B0604020202020204" charset="0"/>
                      <a:cs typeface="Shantell Sans" panose="020B0604020202020204" charset="0"/>
                    </a:rPr>
                    <a:t>Planning, tool execution,</a:t>
                  </a:r>
                </a:p>
              </p:txBody>
            </p:sp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088ED457-BE80-9095-5C0D-C513AF301347}"/>
                    </a:ext>
                  </a:extLst>
                </p:cNvPr>
                <p:cNvSpPr txBox="1"/>
                <p:nvPr/>
              </p:nvSpPr>
              <p:spPr>
                <a:xfrm>
                  <a:off x="4990316" y="3686538"/>
                  <a:ext cx="1166450" cy="1128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r"/>
                  <a:r>
                    <a:rPr sz="1200" b="1" dirty="0">
                      <a:solidFill>
                        <a:srgbClr val="584053"/>
                      </a:solidFill>
                      <a:latin typeface="Shantell Sans" panose="020B0604020202020204" charset="0"/>
                      <a:cs typeface="Shantell Sans" panose="020B0604020202020204" charset="0"/>
                    </a:rPr>
                    <a:t>and iteration</a:t>
                  </a:r>
                </a:p>
              </p:txBody>
            </p:sp>
          </p:grpSp>
          <p:sp>
            <p:nvSpPr>
              <p:cNvPr id="140" name="Rounded Rectangle 40">
                <a:extLst>
                  <a:ext uri="{FF2B5EF4-FFF2-40B4-BE49-F238E27FC236}">
                    <a16:creationId xmlns:a16="http://schemas.microsoft.com/office/drawing/2014/main" id="{4738AEE4-6A48-14D0-4D46-E2C59C0EA69A}"/>
                  </a:ext>
                </a:extLst>
              </p:cNvPr>
              <p:cNvSpPr/>
              <p:nvPr/>
            </p:nvSpPr>
            <p:spPr>
              <a:xfrm>
                <a:off x="1794558" y="2037144"/>
                <a:ext cx="288405" cy="225756"/>
              </a:xfrm>
              <a:custGeom>
                <a:avLst/>
                <a:gdLst/>
                <a:ahLst/>
                <a:cxnLst/>
                <a:rect l="0" t="0" r="0" b="0"/>
                <a:pathLst>
                  <a:path w="288405" h="225756">
                    <a:moveTo>
                      <a:pt x="213167" y="125392"/>
                    </a:moveTo>
                    <a:cubicBezTo>
                      <a:pt x="213167" y="102545"/>
                      <a:pt x="246546" y="89354"/>
                      <a:pt x="281869" y="87900"/>
                    </a:cubicBezTo>
                    <a:cubicBezTo>
                      <a:pt x="283577" y="87828"/>
                      <a:pt x="285240" y="88456"/>
                      <a:pt x="286474" y="89640"/>
                    </a:cubicBezTo>
                    <a:cubicBezTo>
                      <a:pt x="287707" y="90824"/>
                      <a:pt x="288404" y="92460"/>
                      <a:pt x="288402" y="94169"/>
                    </a:cubicBezTo>
                    <a:lnTo>
                      <a:pt x="288402" y="194483"/>
                    </a:lnTo>
                    <a:cubicBezTo>
                      <a:pt x="288405" y="197850"/>
                      <a:pt x="285747" y="200618"/>
                      <a:pt x="282383" y="200753"/>
                    </a:cubicBezTo>
                    <a:cubicBezTo>
                      <a:pt x="257097" y="200689"/>
                      <a:pt x="232595" y="209522"/>
                      <a:pt x="213167" y="225706"/>
                    </a:cubicBezTo>
                    <a:cubicBezTo>
                      <a:pt x="193740" y="209518"/>
                      <a:pt x="169237" y="200680"/>
                      <a:pt x="143950" y="200740"/>
                    </a:cubicBezTo>
                    <a:cubicBezTo>
                      <a:pt x="140586" y="200606"/>
                      <a:pt x="137928" y="197838"/>
                      <a:pt x="137931" y="194471"/>
                    </a:cubicBezTo>
                    <a:lnTo>
                      <a:pt x="137931" y="94157"/>
                    </a:lnTo>
                    <a:cubicBezTo>
                      <a:pt x="137930" y="92447"/>
                      <a:pt x="138626" y="90811"/>
                      <a:pt x="139860" y="89628"/>
                    </a:cubicBezTo>
                    <a:cubicBezTo>
                      <a:pt x="141093" y="88444"/>
                      <a:pt x="142756" y="87815"/>
                      <a:pt x="144464" y="87887"/>
                    </a:cubicBezTo>
                    <a:cubicBezTo>
                      <a:pt x="179787" y="89404"/>
                      <a:pt x="213167" y="102596"/>
                      <a:pt x="213167" y="125392"/>
                    </a:cubicBezTo>
                    <a:close/>
                    <a:moveTo>
                      <a:pt x="213167" y="125442"/>
                    </a:moveTo>
                    <a:lnTo>
                      <a:pt x="213167" y="225756"/>
                    </a:lnTo>
                    <a:moveTo>
                      <a:pt x="112853" y="175549"/>
                    </a:moveTo>
                    <a:lnTo>
                      <a:pt x="18808" y="175549"/>
                    </a:lnTo>
                    <a:cubicBezTo>
                      <a:pt x="8421" y="175549"/>
                      <a:pt x="0" y="167128"/>
                      <a:pt x="0" y="156740"/>
                    </a:cubicBezTo>
                    <a:lnTo>
                      <a:pt x="0" y="18808"/>
                    </a:lnTo>
                    <a:cubicBezTo>
                      <a:pt x="0" y="8421"/>
                      <a:pt x="8421" y="0"/>
                      <a:pt x="18808" y="0"/>
                    </a:cubicBezTo>
                    <a:lnTo>
                      <a:pt x="206897" y="0"/>
                    </a:lnTo>
                    <a:cubicBezTo>
                      <a:pt x="217285" y="0"/>
                      <a:pt x="225706" y="8421"/>
                      <a:pt x="225706" y="18808"/>
                    </a:cubicBezTo>
                    <a:lnTo>
                      <a:pt x="225706" y="75235"/>
                    </a:lnTo>
                    <a:moveTo>
                      <a:pt x="50156" y="225756"/>
                    </a:moveTo>
                    <a:lnTo>
                      <a:pt x="150470" y="225756"/>
                    </a:lnTo>
                    <a:moveTo>
                      <a:pt x="100313" y="175599"/>
                    </a:moveTo>
                    <a:lnTo>
                      <a:pt x="100313" y="225756"/>
                    </a:lnTo>
                    <a:moveTo>
                      <a:pt x="31348" y="94094"/>
                    </a:moveTo>
                    <a:lnTo>
                      <a:pt x="56426" y="69015"/>
                    </a:lnTo>
                    <a:lnTo>
                      <a:pt x="31348" y="43937"/>
                    </a:lnTo>
                    <a:moveTo>
                      <a:pt x="68965" y="87824"/>
                    </a:moveTo>
                    <a:lnTo>
                      <a:pt x="112853" y="87824"/>
                    </a:lnTo>
                  </a:path>
                </a:pathLst>
              </a:custGeom>
              <a:noFill/>
              <a:ln w="9404"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1" name="Rounded Rectangle 41">
                <a:extLst>
                  <a:ext uri="{FF2B5EF4-FFF2-40B4-BE49-F238E27FC236}">
                    <a16:creationId xmlns:a16="http://schemas.microsoft.com/office/drawing/2014/main" id="{CD333AF1-6670-3AB0-5791-8C8F08B557D9}"/>
                  </a:ext>
                </a:extLst>
              </p:cNvPr>
              <p:cNvSpPr/>
              <p:nvPr/>
            </p:nvSpPr>
            <p:spPr>
              <a:xfrm>
                <a:off x="4444112" y="4601418"/>
                <a:ext cx="255775" cy="288402"/>
              </a:xfrm>
              <a:custGeom>
                <a:avLst/>
                <a:gdLst/>
                <a:ahLst/>
                <a:cxnLst/>
                <a:rect l="0" t="0" r="0" b="0"/>
                <a:pathLst>
                  <a:path w="255775" h="288402">
                    <a:moveTo>
                      <a:pt x="127887" y="99712"/>
                    </a:moveTo>
                    <a:lnTo>
                      <a:pt x="127887" y="51272"/>
                    </a:lnTo>
                    <a:moveTo>
                      <a:pt x="102257" y="25630"/>
                    </a:moveTo>
                    <a:cubicBezTo>
                      <a:pt x="102257" y="39785"/>
                      <a:pt x="113732" y="51260"/>
                      <a:pt x="127887" y="51260"/>
                    </a:cubicBezTo>
                    <a:cubicBezTo>
                      <a:pt x="142042" y="51260"/>
                      <a:pt x="153517" y="39785"/>
                      <a:pt x="153517" y="25630"/>
                    </a:cubicBezTo>
                    <a:cubicBezTo>
                      <a:pt x="153517" y="11475"/>
                      <a:pt x="142042" y="0"/>
                      <a:pt x="127887" y="0"/>
                    </a:cubicBezTo>
                    <a:cubicBezTo>
                      <a:pt x="113732" y="0"/>
                      <a:pt x="102257" y="11475"/>
                      <a:pt x="102257" y="25630"/>
                    </a:cubicBezTo>
                    <a:moveTo>
                      <a:pt x="79799" y="116063"/>
                    </a:moveTo>
                    <a:lnTo>
                      <a:pt x="47837" y="99335"/>
                    </a:lnTo>
                    <a:moveTo>
                      <a:pt x="0" y="86520"/>
                    </a:moveTo>
                    <a:cubicBezTo>
                      <a:pt x="0" y="100675"/>
                      <a:pt x="11475" y="112150"/>
                      <a:pt x="25630" y="112150"/>
                    </a:cubicBezTo>
                    <a:cubicBezTo>
                      <a:pt x="39785" y="112150"/>
                      <a:pt x="51260" y="100675"/>
                      <a:pt x="51260" y="86520"/>
                    </a:cubicBezTo>
                    <a:cubicBezTo>
                      <a:pt x="51260" y="72365"/>
                      <a:pt x="39785" y="60890"/>
                      <a:pt x="25630" y="60890"/>
                    </a:cubicBezTo>
                    <a:cubicBezTo>
                      <a:pt x="11475" y="60890"/>
                      <a:pt x="0" y="72365"/>
                      <a:pt x="0" y="86520"/>
                    </a:cubicBezTo>
                    <a:moveTo>
                      <a:pt x="176126" y="115987"/>
                    </a:moveTo>
                    <a:lnTo>
                      <a:pt x="207938" y="99335"/>
                    </a:lnTo>
                    <a:moveTo>
                      <a:pt x="204515" y="86520"/>
                    </a:moveTo>
                    <a:cubicBezTo>
                      <a:pt x="204515" y="100675"/>
                      <a:pt x="215990" y="112150"/>
                      <a:pt x="230145" y="112150"/>
                    </a:cubicBezTo>
                    <a:cubicBezTo>
                      <a:pt x="244300" y="112150"/>
                      <a:pt x="255775" y="100675"/>
                      <a:pt x="255775" y="86520"/>
                    </a:cubicBezTo>
                    <a:cubicBezTo>
                      <a:pt x="255775" y="72365"/>
                      <a:pt x="244300" y="60890"/>
                      <a:pt x="230145" y="60890"/>
                    </a:cubicBezTo>
                    <a:cubicBezTo>
                      <a:pt x="215990" y="60890"/>
                      <a:pt x="204515" y="72365"/>
                      <a:pt x="204515" y="86520"/>
                    </a:cubicBezTo>
                    <a:moveTo>
                      <a:pt x="127887" y="195850"/>
                    </a:moveTo>
                    <a:lnTo>
                      <a:pt x="127887" y="237129"/>
                    </a:lnTo>
                    <a:moveTo>
                      <a:pt x="102257" y="262772"/>
                    </a:moveTo>
                    <a:cubicBezTo>
                      <a:pt x="102257" y="276927"/>
                      <a:pt x="113732" y="288402"/>
                      <a:pt x="127887" y="288402"/>
                    </a:cubicBezTo>
                    <a:cubicBezTo>
                      <a:pt x="142042" y="288402"/>
                      <a:pt x="153517" y="276927"/>
                      <a:pt x="153517" y="262772"/>
                    </a:cubicBezTo>
                    <a:cubicBezTo>
                      <a:pt x="153517" y="248617"/>
                      <a:pt x="142042" y="237142"/>
                      <a:pt x="127887" y="237142"/>
                    </a:cubicBezTo>
                    <a:cubicBezTo>
                      <a:pt x="113732" y="237142"/>
                      <a:pt x="102257" y="248617"/>
                      <a:pt x="102257" y="262772"/>
                    </a:cubicBezTo>
                    <a:moveTo>
                      <a:pt x="74733" y="175712"/>
                    </a:moveTo>
                    <a:lnTo>
                      <a:pt x="47837" y="189819"/>
                    </a:lnTo>
                    <a:moveTo>
                      <a:pt x="0" y="202634"/>
                    </a:moveTo>
                    <a:cubicBezTo>
                      <a:pt x="0" y="216789"/>
                      <a:pt x="11475" y="228264"/>
                      <a:pt x="25630" y="228264"/>
                    </a:cubicBezTo>
                    <a:cubicBezTo>
                      <a:pt x="39785" y="228264"/>
                      <a:pt x="51260" y="216789"/>
                      <a:pt x="51260" y="202634"/>
                    </a:cubicBezTo>
                    <a:cubicBezTo>
                      <a:pt x="51260" y="188478"/>
                      <a:pt x="39785" y="177003"/>
                      <a:pt x="25630" y="177003"/>
                    </a:cubicBezTo>
                    <a:cubicBezTo>
                      <a:pt x="11475" y="177003"/>
                      <a:pt x="0" y="188478"/>
                      <a:pt x="0" y="202634"/>
                    </a:cubicBezTo>
                    <a:moveTo>
                      <a:pt x="181192" y="175787"/>
                    </a:moveTo>
                    <a:lnTo>
                      <a:pt x="207938" y="189819"/>
                    </a:lnTo>
                    <a:moveTo>
                      <a:pt x="204515" y="202634"/>
                    </a:moveTo>
                    <a:cubicBezTo>
                      <a:pt x="204515" y="216789"/>
                      <a:pt x="215990" y="228264"/>
                      <a:pt x="230145" y="228264"/>
                    </a:cubicBezTo>
                    <a:cubicBezTo>
                      <a:pt x="244300" y="228264"/>
                      <a:pt x="255775" y="216789"/>
                      <a:pt x="255775" y="202634"/>
                    </a:cubicBezTo>
                    <a:cubicBezTo>
                      <a:pt x="255775" y="188478"/>
                      <a:pt x="244300" y="177003"/>
                      <a:pt x="230145" y="177003"/>
                    </a:cubicBezTo>
                    <a:cubicBezTo>
                      <a:pt x="215990" y="177003"/>
                      <a:pt x="204515" y="188478"/>
                      <a:pt x="204515" y="202634"/>
                    </a:cubicBezTo>
                    <a:moveTo>
                      <a:pt x="202985" y="142057"/>
                    </a:moveTo>
                    <a:cubicBezTo>
                      <a:pt x="205581" y="145436"/>
                      <a:pt x="205581" y="150138"/>
                      <a:pt x="202985" y="153517"/>
                    </a:cubicBezTo>
                    <a:cubicBezTo>
                      <a:pt x="193267" y="166270"/>
                      <a:pt x="166546" y="195850"/>
                      <a:pt x="128025" y="195850"/>
                    </a:cubicBezTo>
                    <a:cubicBezTo>
                      <a:pt x="89505" y="195850"/>
                      <a:pt x="62821" y="166257"/>
                      <a:pt x="53066" y="153505"/>
                    </a:cubicBezTo>
                    <a:cubicBezTo>
                      <a:pt x="50471" y="150130"/>
                      <a:pt x="50471" y="145432"/>
                      <a:pt x="53066" y="142057"/>
                    </a:cubicBezTo>
                    <a:cubicBezTo>
                      <a:pt x="62796" y="129304"/>
                      <a:pt x="89517" y="99712"/>
                      <a:pt x="128025" y="99712"/>
                    </a:cubicBezTo>
                    <a:cubicBezTo>
                      <a:pt x="166533" y="99712"/>
                      <a:pt x="193254" y="129317"/>
                      <a:pt x="202985" y="142057"/>
                    </a:cubicBezTo>
                    <a:close/>
                    <a:moveTo>
                      <a:pt x="128013" y="125166"/>
                    </a:moveTo>
                    <a:cubicBezTo>
                      <a:pt x="115547" y="125166"/>
                      <a:pt x="105442" y="135271"/>
                      <a:pt x="105442" y="147737"/>
                    </a:cubicBezTo>
                    <a:cubicBezTo>
                      <a:pt x="105442" y="160202"/>
                      <a:pt x="115547" y="170307"/>
                      <a:pt x="128013" y="170307"/>
                    </a:cubicBezTo>
                    <a:cubicBezTo>
                      <a:pt x="140478" y="170307"/>
                      <a:pt x="150583" y="160202"/>
                      <a:pt x="150583" y="147737"/>
                    </a:cubicBezTo>
                    <a:cubicBezTo>
                      <a:pt x="150583" y="135271"/>
                      <a:pt x="140478" y="125166"/>
                      <a:pt x="128013" y="125166"/>
                    </a:cubicBezTo>
                  </a:path>
                </a:pathLst>
              </a:custGeom>
              <a:noFill/>
              <a:ln w="9404"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5DB2E991-76B8-FA7B-3CE6-924A7B102527}"/>
                  </a:ext>
                </a:extLst>
              </p:cNvPr>
              <p:cNvGrpSpPr/>
              <p:nvPr/>
            </p:nvGrpSpPr>
            <p:grpSpPr>
              <a:xfrm>
                <a:off x="1800827" y="4594972"/>
                <a:ext cx="1118013" cy="300942"/>
                <a:chOff x="614422" y="4137772"/>
                <a:chExt cx="1118013" cy="300942"/>
              </a:xfrm>
            </p:grpSpPr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BEB51EE3-BC93-8267-8DD7-C177950602F2}"/>
                    </a:ext>
                  </a:extLst>
                </p:cNvPr>
                <p:cNvSpPr txBox="1"/>
                <p:nvPr/>
              </p:nvSpPr>
              <p:spPr>
                <a:xfrm>
                  <a:off x="614422" y="4137772"/>
                  <a:ext cx="1118013" cy="1504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1200" b="1" dirty="0">
                      <a:solidFill>
                        <a:srgbClr val="584053"/>
                      </a:solidFill>
                      <a:latin typeface="Shantell Sans"/>
                    </a:rPr>
                    <a:t>Multimodal</a:t>
                  </a:r>
                </a:p>
              </p:txBody>
            </p:sp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4B4AF334-CC36-8EC8-6188-60EF435B1D36}"/>
                    </a:ext>
                  </a:extLst>
                </p:cNvPr>
                <p:cNvSpPr txBox="1"/>
                <p:nvPr/>
              </p:nvSpPr>
              <p:spPr>
                <a:xfrm>
                  <a:off x="614422" y="4288244"/>
                  <a:ext cx="1118013" cy="1504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1200" b="1">
                      <a:solidFill>
                        <a:srgbClr val="584053"/>
                      </a:solidFill>
                      <a:latin typeface="Shantell Sans"/>
                    </a:rPr>
                    <a:t>Understanding</a:t>
                  </a:r>
                </a:p>
              </p:txBody>
            </p:sp>
          </p:grp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F4072AE9-B335-03D3-BC9C-7C19BD76ACB3}"/>
                  </a:ext>
                </a:extLst>
              </p:cNvPr>
              <p:cNvGrpSpPr/>
              <p:nvPr/>
            </p:nvGrpSpPr>
            <p:grpSpPr>
              <a:xfrm>
                <a:off x="6173455" y="4568949"/>
                <a:ext cx="1169716" cy="290864"/>
                <a:chOff x="4987050" y="4111749"/>
                <a:chExt cx="1169716" cy="290864"/>
              </a:xfrm>
            </p:grpSpPr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84D9F7AC-D635-6BA8-DA76-89F65169A8C9}"/>
                    </a:ext>
                  </a:extLst>
                </p:cNvPr>
                <p:cNvSpPr txBox="1"/>
                <p:nvPr/>
              </p:nvSpPr>
              <p:spPr>
                <a:xfrm>
                  <a:off x="4987050" y="4111749"/>
                  <a:ext cx="1169716" cy="11285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r"/>
                  <a:r>
                    <a:rPr sz="1200" b="1" dirty="0">
                      <a:solidFill>
                        <a:srgbClr val="584053"/>
                      </a:solidFill>
                      <a:latin typeface="Shantell Sans" panose="020B0604020202020204" charset="0"/>
                      <a:cs typeface="Shantell Sans" panose="020B0604020202020204" charset="0"/>
                    </a:rPr>
                    <a:t>Processing text, images,</a:t>
                  </a:r>
                </a:p>
              </p:txBody>
            </p:sp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B4E551A0-5E9B-3B88-DCDE-1ECBDD15DD1F}"/>
                    </a:ext>
                  </a:extLst>
                </p:cNvPr>
                <p:cNvSpPr txBox="1"/>
                <p:nvPr/>
              </p:nvSpPr>
              <p:spPr>
                <a:xfrm>
                  <a:off x="4987050" y="4289761"/>
                  <a:ext cx="1169716" cy="1128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r"/>
                  <a:r>
                    <a:rPr sz="1200" b="1" dirty="0">
                      <a:solidFill>
                        <a:srgbClr val="584053"/>
                      </a:solidFill>
                      <a:latin typeface="Shantell Sans" panose="020B0604020202020204" charset="0"/>
                      <a:cs typeface="Shantell Sans" panose="020B0604020202020204" charset="0"/>
                    </a:rPr>
                    <a:t>and documents</a:t>
                  </a:r>
                </a:p>
              </p:txBody>
            </p:sp>
          </p:grp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1B292C3C-EB03-E387-6D88-3CA3F2E87834}"/>
                  </a:ext>
                </a:extLst>
              </p:cNvPr>
              <p:cNvSpPr txBox="1"/>
              <p:nvPr/>
            </p:nvSpPr>
            <p:spPr>
              <a:xfrm>
                <a:off x="1247317" y="758141"/>
                <a:ext cx="6649364" cy="188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lang="en-US" sz="1000" b="1" dirty="0">
                    <a:solidFill>
                      <a:srgbClr val="584053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Sovereign On-Premise AI Workbench for Confidential Industrial Work.</a:t>
                </a:r>
              </a:p>
            </p:txBody>
          </p:sp>
          <p:sp>
            <p:nvSpPr>
              <p:cNvPr id="145" name="Rounded Rectangle 49">
                <a:extLst>
                  <a:ext uri="{FF2B5EF4-FFF2-40B4-BE49-F238E27FC236}">
                    <a16:creationId xmlns:a16="http://schemas.microsoft.com/office/drawing/2014/main" id="{220294F3-2AEC-4623-E261-B3A153CCF55A}"/>
                  </a:ext>
                </a:extLst>
              </p:cNvPr>
              <p:cNvSpPr/>
              <p:nvPr/>
            </p:nvSpPr>
            <p:spPr>
              <a:xfrm>
                <a:off x="4421529" y="5272268"/>
                <a:ext cx="269593" cy="291972"/>
              </a:xfrm>
              <a:custGeom>
                <a:avLst/>
                <a:gdLst/>
                <a:ahLst/>
                <a:cxnLst/>
                <a:rect l="0" t="0" r="0" b="0"/>
                <a:pathLst>
                  <a:path w="269593" h="291972">
                    <a:moveTo>
                      <a:pt x="0" y="0"/>
                    </a:moveTo>
                    <a:moveTo>
                      <a:pt x="155486" y="289464"/>
                    </a:moveTo>
                    <a:lnTo>
                      <a:pt x="262070" y="212975"/>
                    </a:lnTo>
                    <a:cubicBezTo>
                      <a:pt x="264329" y="211150"/>
                      <a:pt x="266324" y="209378"/>
                      <a:pt x="267578" y="206871"/>
                    </a:cubicBezTo>
                    <a:cubicBezTo>
                      <a:pt x="268832" y="204363"/>
                      <a:pt x="269593" y="201689"/>
                      <a:pt x="269593" y="199182"/>
                    </a:cubicBezTo>
                    <a:lnTo>
                      <a:pt x="269593" y="66265"/>
                    </a:lnTo>
                    <a:cubicBezTo>
                      <a:pt x="269593" y="63757"/>
                      <a:pt x="268339" y="61249"/>
                      <a:pt x="265831" y="59996"/>
                    </a:cubicBezTo>
                    <a:cubicBezTo>
                      <a:pt x="263324" y="58742"/>
                      <a:pt x="260816" y="58742"/>
                      <a:pt x="258308" y="59996"/>
                    </a:cubicBezTo>
                    <a:lnTo>
                      <a:pt x="150470" y="137739"/>
                    </a:lnTo>
                    <a:cubicBezTo>
                      <a:pt x="148350" y="139179"/>
                      <a:pt x="146114" y="141191"/>
                      <a:pt x="144860" y="143699"/>
                    </a:cubicBezTo>
                    <a:cubicBezTo>
                      <a:pt x="143606" y="146207"/>
                      <a:pt x="142947" y="149025"/>
                      <a:pt x="142947" y="151532"/>
                    </a:cubicBezTo>
                    <a:lnTo>
                      <a:pt x="142947" y="284448"/>
                    </a:lnTo>
                    <a:cubicBezTo>
                      <a:pt x="142947" y="286956"/>
                      <a:pt x="144201" y="289464"/>
                      <a:pt x="146709" y="290718"/>
                    </a:cubicBezTo>
                    <a:cubicBezTo>
                      <a:pt x="150470" y="291972"/>
                      <a:pt x="152978" y="291972"/>
                      <a:pt x="155486" y="289464"/>
                    </a:cubicBezTo>
                    <a:close/>
                    <a:moveTo>
                      <a:pt x="145455" y="9400"/>
                    </a:moveTo>
                    <a:lnTo>
                      <a:pt x="37617" y="89651"/>
                    </a:lnTo>
                    <a:cubicBezTo>
                      <a:pt x="36363" y="90905"/>
                      <a:pt x="33855" y="93413"/>
                      <a:pt x="32602" y="95920"/>
                    </a:cubicBezTo>
                    <a:cubicBezTo>
                      <a:pt x="31348" y="98428"/>
                      <a:pt x="31348" y="104698"/>
                      <a:pt x="31348" y="104698"/>
                    </a:cubicBezTo>
                    <a:lnTo>
                      <a:pt x="31348" y="238868"/>
                    </a:lnTo>
                    <a:moveTo>
                      <a:pt x="0" y="0"/>
                    </a:moveTo>
                    <a:moveTo>
                      <a:pt x="201881" y="32185"/>
                    </a:moveTo>
                    <a:lnTo>
                      <a:pt x="94044" y="113690"/>
                    </a:lnTo>
                    <a:cubicBezTo>
                      <a:pt x="92790" y="114944"/>
                      <a:pt x="90282" y="117452"/>
                      <a:pt x="89028" y="119960"/>
                    </a:cubicBezTo>
                    <a:cubicBezTo>
                      <a:pt x="87774" y="122468"/>
                      <a:pt x="87774" y="127483"/>
                      <a:pt x="87774" y="127483"/>
                    </a:cubicBezTo>
                    <a:lnTo>
                      <a:pt x="87774" y="262907"/>
                    </a:lnTo>
                  </a:path>
                </a:pathLst>
              </a:custGeom>
              <a:noFill/>
              <a:ln w="9404"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6B97D9C2-ACCA-085E-24A5-E7AB409019DA}"/>
                  </a:ext>
                </a:extLst>
              </p:cNvPr>
              <p:cNvGrpSpPr/>
              <p:nvPr/>
            </p:nvGrpSpPr>
            <p:grpSpPr>
              <a:xfrm>
                <a:off x="1800827" y="5197031"/>
                <a:ext cx="766856" cy="451412"/>
                <a:chOff x="614422" y="4739831"/>
                <a:chExt cx="766856" cy="451412"/>
              </a:xfrm>
            </p:grpSpPr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B0280E96-6F69-1220-2D2F-822A7E25BCED}"/>
                    </a:ext>
                  </a:extLst>
                </p:cNvPr>
                <p:cNvSpPr txBox="1"/>
                <p:nvPr/>
              </p:nvSpPr>
              <p:spPr>
                <a:xfrm>
                  <a:off x="614422" y="4739831"/>
                  <a:ext cx="881884" cy="1504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1200" b="1" dirty="0">
                      <a:solidFill>
                        <a:srgbClr val="584053"/>
                      </a:solidFill>
                      <a:latin typeface="Shantell Sans"/>
                    </a:rPr>
                    <a:t>Local</a:t>
                  </a:r>
                </a:p>
              </p:txBody>
            </p:sp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367B8E04-A7F1-29AF-F64E-C11D3D2EEFD7}"/>
                    </a:ext>
                  </a:extLst>
                </p:cNvPr>
                <p:cNvSpPr txBox="1"/>
                <p:nvPr/>
              </p:nvSpPr>
              <p:spPr>
                <a:xfrm>
                  <a:off x="614422" y="4890302"/>
                  <a:ext cx="881884" cy="1504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1200" b="1">
                      <a:solidFill>
                        <a:srgbClr val="584053"/>
                      </a:solidFill>
                      <a:latin typeface="Shantell Sans"/>
                    </a:rPr>
                    <a:t>Knowledge</a:t>
                  </a:r>
                </a:p>
              </p:txBody>
            </p:sp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3830FA72-A845-30DF-AC99-9DA95CBAA606}"/>
                    </a:ext>
                  </a:extLst>
                </p:cNvPr>
                <p:cNvSpPr txBox="1"/>
                <p:nvPr/>
              </p:nvSpPr>
              <p:spPr>
                <a:xfrm>
                  <a:off x="614422" y="5040773"/>
                  <a:ext cx="881884" cy="1504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1200" b="1">
                      <a:solidFill>
                        <a:srgbClr val="584053"/>
                      </a:solidFill>
                      <a:latin typeface="Shantell Sans"/>
                    </a:rPr>
                    <a:t>Base</a:t>
                  </a:r>
                </a:p>
              </p:txBody>
            </p:sp>
          </p:grp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B4767629-0FA9-0CE0-9DA7-4B7DB0388500}"/>
                  </a:ext>
                </a:extLst>
              </p:cNvPr>
              <p:cNvGrpSpPr/>
              <p:nvPr/>
            </p:nvGrpSpPr>
            <p:grpSpPr>
              <a:xfrm>
                <a:off x="6429569" y="5253459"/>
                <a:ext cx="913602" cy="338558"/>
                <a:chOff x="5243164" y="4796259"/>
                <a:chExt cx="913602" cy="338558"/>
              </a:xfrm>
            </p:grpSpPr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0D2D4CDE-77EF-215B-B788-A6117CB67254}"/>
                    </a:ext>
                  </a:extLst>
                </p:cNvPr>
                <p:cNvSpPr txBox="1"/>
                <p:nvPr/>
              </p:nvSpPr>
              <p:spPr>
                <a:xfrm>
                  <a:off x="5106124" y="4796259"/>
                  <a:ext cx="1050642" cy="11285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r"/>
                  <a:r>
                    <a:rPr sz="1200" b="1" dirty="0">
                      <a:solidFill>
                        <a:srgbClr val="584053"/>
                      </a:solidFill>
                      <a:latin typeface="Shantell Sans" panose="020B0604020202020204" charset="0"/>
                      <a:cs typeface="Shantell Sans" panose="020B0604020202020204" charset="0"/>
                    </a:rPr>
                    <a:t>Grounding in</a:t>
                  </a:r>
                </a:p>
              </p:txBody>
            </p:sp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1DD9FFAA-2545-FD85-F52C-287617EEAF86}"/>
                    </a:ext>
                  </a:extLst>
                </p:cNvPr>
                <p:cNvSpPr txBox="1"/>
                <p:nvPr/>
              </p:nvSpPr>
              <p:spPr>
                <a:xfrm>
                  <a:off x="5106124" y="4909112"/>
                  <a:ext cx="1050642" cy="11285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r"/>
                  <a:r>
                    <a:rPr sz="1200" b="1" dirty="0">
                      <a:solidFill>
                        <a:srgbClr val="584053"/>
                      </a:solidFill>
                      <a:latin typeface="Shantell Sans" panose="020B0604020202020204" charset="0"/>
                      <a:cs typeface="Shantell Sans" panose="020B0604020202020204" charset="0"/>
                    </a:rPr>
                    <a:t>organization's internal</a:t>
                  </a:r>
                </a:p>
              </p:txBody>
            </p: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948D7504-D02D-95A1-763A-09BAF439DFCA}"/>
                    </a:ext>
                  </a:extLst>
                </p:cNvPr>
                <p:cNvSpPr txBox="1"/>
                <p:nvPr/>
              </p:nvSpPr>
              <p:spPr>
                <a:xfrm>
                  <a:off x="5106124" y="5021965"/>
                  <a:ext cx="1050642" cy="1128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r"/>
                  <a:r>
                    <a:rPr sz="1200" b="1" dirty="0">
                      <a:solidFill>
                        <a:srgbClr val="584053"/>
                      </a:solidFill>
                      <a:latin typeface="Shantell Sans" panose="020B0604020202020204" charset="0"/>
                      <a:cs typeface="Shantell Sans" panose="020B0604020202020204" charset="0"/>
                    </a:rPr>
                    <a:t>data</a:t>
                  </a:r>
                </a:p>
              </p:txBody>
            </p:sp>
          </p:grpSp>
          <p:sp>
            <p:nvSpPr>
              <p:cNvPr id="148" name="Rounded Rectangle 58">
                <a:extLst>
                  <a:ext uri="{FF2B5EF4-FFF2-40B4-BE49-F238E27FC236}">
                    <a16:creationId xmlns:a16="http://schemas.microsoft.com/office/drawing/2014/main" id="{44710726-B732-6E46-31A5-8D266B29C63F}"/>
                  </a:ext>
                </a:extLst>
              </p:cNvPr>
              <p:cNvSpPr/>
              <p:nvPr/>
            </p:nvSpPr>
            <p:spPr>
              <a:xfrm>
                <a:off x="4427798" y="3993228"/>
                <a:ext cx="288402" cy="292301"/>
              </a:xfrm>
              <a:custGeom>
                <a:avLst/>
                <a:gdLst/>
                <a:ahLst/>
                <a:cxnLst/>
                <a:rect l="0" t="0" r="0" b="0"/>
                <a:pathLst>
                  <a:path w="288402" h="292301">
                    <a:moveTo>
                      <a:pt x="145956" y="60050"/>
                    </a:moveTo>
                    <a:cubicBezTo>
                      <a:pt x="123864" y="39158"/>
                      <a:pt x="89302" y="39158"/>
                      <a:pt x="67210" y="60050"/>
                    </a:cubicBezTo>
                    <a:moveTo>
                      <a:pt x="67210" y="60050"/>
                    </a:moveTo>
                    <a:cubicBezTo>
                      <a:pt x="89302" y="39158"/>
                      <a:pt x="123864" y="39158"/>
                      <a:pt x="145956" y="60050"/>
                    </a:cubicBezTo>
                    <a:moveTo>
                      <a:pt x="172213" y="34833"/>
                    </a:moveTo>
                    <a:cubicBezTo>
                      <a:pt x="135393" y="0"/>
                      <a:pt x="77773" y="0"/>
                      <a:pt x="40953" y="34833"/>
                    </a:cubicBezTo>
                    <a:moveTo>
                      <a:pt x="40953" y="34833"/>
                    </a:moveTo>
                    <a:cubicBezTo>
                      <a:pt x="77773" y="0"/>
                      <a:pt x="135393" y="0"/>
                      <a:pt x="172213" y="34833"/>
                    </a:cubicBezTo>
                    <a:moveTo>
                      <a:pt x="0" y="292301"/>
                    </a:moveTo>
                    <a:lnTo>
                      <a:pt x="288402" y="292301"/>
                    </a:lnTo>
                    <a:moveTo>
                      <a:pt x="98207" y="292301"/>
                    </a:moveTo>
                    <a:lnTo>
                      <a:pt x="38821" y="191661"/>
                    </a:lnTo>
                    <a:moveTo>
                      <a:pt x="92351" y="173417"/>
                    </a:moveTo>
                    <a:lnTo>
                      <a:pt x="189380" y="292301"/>
                    </a:lnTo>
                    <a:moveTo>
                      <a:pt x="4965" y="145730"/>
                    </a:moveTo>
                    <a:cubicBezTo>
                      <a:pt x="4963" y="172283"/>
                      <a:pt x="26487" y="193810"/>
                      <a:pt x="53040" y="193810"/>
                    </a:cubicBezTo>
                    <a:cubicBezTo>
                      <a:pt x="79593" y="193810"/>
                      <a:pt x="101118" y="172283"/>
                      <a:pt x="101116" y="145730"/>
                    </a:cubicBezTo>
                    <a:cubicBezTo>
                      <a:pt x="101118" y="119177"/>
                      <a:pt x="79593" y="97651"/>
                      <a:pt x="53040" y="97651"/>
                    </a:cubicBezTo>
                    <a:cubicBezTo>
                      <a:pt x="26487" y="97651"/>
                      <a:pt x="4963" y="119177"/>
                      <a:pt x="4965" y="145730"/>
                    </a:cubicBezTo>
                    <a:moveTo>
                      <a:pt x="162583" y="163022"/>
                    </a:moveTo>
                    <a:lnTo>
                      <a:pt x="97868" y="163022"/>
                    </a:lnTo>
                    <a:moveTo>
                      <a:pt x="95235" y="122696"/>
                    </a:moveTo>
                    <a:lnTo>
                      <a:pt x="155674" y="122696"/>
                    </a:lnTo>
                    <a:moveTo>
                      <a:pt x="151097" y="138871"/>
                    </a:moveTo>
                    <a:cubicBezTo>
                      <a:pt x="151093" y="156077"/>
                      <a:pt x="165039" y="170027"/>
                      <a:pt x="182245" y="170027"/>
                    </a:cubicBezTo>
                    <a:cubicBezTo>
                      <a:pt x="199450" y="170027"/>
                      <a:pt x="213397" y="156077"/>
                      <a:pt x="213392" y="138871"/>
                    </a:cubicBezTo>
                    <a:cubicBezTo>
                      <a:pt x="213397" y="121666"/>
                      <a:pt x="199450" y="107716"/>
                      <a:pt x="182245" y="107716"/>
                    </a:cubicBezTo>
                    <a:cubicBezTo>
                      <a:pt x="165039" y="107716"/>
                      <a:pt x="151093" y="121666"/>
                      <a:pt x="151097" y="138871"/>
                    </a:cubicBezTo>
                    <a:moveTo>
                      <a:pt x="38733" y="145730"/>
                    </a:moveTo>
                    <a:cubicBezTo>
                      <a:pt x="38733" y="137829"/>
                      <a:pt x="45139" y="131423"/>
                      <a:pt x="53040" y="131423"/>
                    </a:cubicBezTo>
                    <a:cubicBezTo>
                      <a:pt x="60942" y="131423"/>
                      <a:pt x="67348" y="137829"/>
                      <a:pt x="67348" y="145730"/>
                    </a:cubicBezTo>
                    <a:cubicBezTo>
                      <a:pt x="67348" y="153632"/>
                      <a:pt x="60942" y="160038"/>
                      <a:pt x="53040" y="160038"/>
                    </a:cubicBezTo>
                    <a:cubicBezTo>
                      <a:pt x="45139" y="160038"/>
                      <a:pt x="38733" y="153632"/>
                      <a:pt x="38733" y="145730"/>
                    </a:cubicBezTo>
                    <a:moveTo>
                      <a:pt x="187624" y="108188"/>
                    </a:moveTo>
                    <a:lnTo>
                      <a:pt x="208677" y="82796"/>
                    </a:lnTo>
                    <a:cubicBezTo>
                      <a:pt x="211646" y="79078"/>
                      <a:pt x="216145" y="76913"/>
                      <a:pt x="220903" y="76915"/>
                    </a:cubicBezTo>
                    <a:lnTo>
                      <a:pt x="258521" y="76915"/>
                    </a:lnTo>
                    <a:cubicBezTo>
                      <a:pt x="262668" y="76899"/>
                      <a:pt x="266651" y="78532"/>
                      <a:pt x="269593" y="81454"/>
                    </a:cubicBezTo>
                    <a:lnTo>
                      <a:pt x="282132" y="93993"/>
                    </a:lnTo>
                    <a:cubicBezTo>
                      <a:pt x="288251" y="100108"/>
                      <a:pt x="288253" y="110025"/>
                      <a:pt x="282138" y="116144"/>
                    </a:cubicBezTo>
                    <a:cubicBezTo>
                      <a:pt x="276024" y="122262"/>
                      <a:pt x="266106" y="122265"/>
                      <a:pt x="259988" y="116150"/>
                    </a:cubicBezTo>
                    <a:lnTo>
                      <a:pt x="252038" y="108213"/>
                    </a:lnTo>
                    <a:lnTo>
                      <a:pt x="228439" y="108213"/>
                    </a:lnTo>
                    <a:lnTo>
                      <a:pt x="211599" y="128439"/>
                    </a:lnTo>
                    <a:moveTo>
                      <a:pt x="211449" y="149680"/>
                    </a:moveTo>
                    <a:lnTo>
                      <a:pt x="228439" y="170909"/>
                    </a:lnTo>
                    <a:lnTo>
                      <a:pt x="252038" y="170909"/>
                    </a:lnTo>
                    <a:lnTo>
                      <a:pt x="259988" y="162959"/>
                    </a:lnTo>
                    <a:cubicBezTo>
                      <a:pt x="266106" y="156844"/>
                      <a:pt x="276024" y="156847"/>
                      <a:pt x="282138" y="162965"/>
                    </a:cubicBezTo>
                    <a:cubicBezTo>
                      <a:pt x="288253" y="169084"/>
                      <a:pt x="288251" y="179001"/>
                      <a:pt x="282132" y="185116"/>
                    </a:cubicBezTo>
                    <a:lnTo>
                      <a:pt x="269593" y="197655"/>
                    </a:lnTo>
                    <a:cubicBezTo>
                      <a:pt x="266657" y="200603"/>
                      <a:pt x="262668" y="202259"/>
                      <a:pt x="258508" y="202257"/>
                    </a:cubicBezTo>
                    <a:lnTo>
                      <a:pt x="220891" y="202257"/>
                    </a:lnTo>
                    <a:cubicBezTo>
                      <a:pt x="216134" y="202253"/>
                      <a:pt x="211637" y="200090"/>
                      <a:pt x="208665" y="196376"/>
                    </a:cubicBezTo>
                    <a:lnTo>
                      <a:pt x="187612" y="169542"/>
                    </a:lnTo>
                  </a:path>
                </a:pathLst>
              </a:custGeom>
              <a:noFill/>
              <a:ln w="9404"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9" name="Rounded Rectangle 59">
                <a:extLst>
                  <a:ext uri="{FF2B5EF4-FFF2-40B4-BE49-F238E27FC236}">
                    <a16:creationId xmlns:a16="http://schemas.microsoft.com/office/drawing/2014/main" id="{CB55B897-7354-4567-0131-A408F17D9E0D}"/>
                  </a:ext>
                </a:extLst>
              </p:cNvPr>
              <p:cNvSpPr/>
              <p:nvPr/>
            </p:nvSpPr>
            <p:spPr>
              <a:xfrm>
                <a:off x="7130005" y="6193876"/>
                <a:ext cx="674874" cy="75483"/>
              </a:xfrm>
              <a:custGeom>
                <a:avLst/>
                <a:gdLst/>
                <a:ahLst/>
                <a:cxnLst/>
                <a:rect l="0" t="0" r="0" b="0"/>
                <a:pathLst>
                  <a:path w="674874" h="75483">
                    <a:moveTo>
                      <a:pt x="384221" y="73737"/>
                    </a:moveTo>
                    <a:cubicBezTo>
                      <a:pt x="384425" y="74490"/>
                      <a:pt x="385016" y="75079"/>
                      <a:pt x="385769" y="75281"/>
                    </a:cubicBezTo>
                    <a:cubicBezTo>
                      <a:pt x="386522" y="75483"/>
                      <a:pt x="387328" y="75270"/>
                      <a:pt x="387882" y="74721"/>
                    </a:cubicBezTo>
                    <a:lnTo>
                      <a:pt x="420503" y="42489"/>
                    </a:lnTo>
                    <a:lnTo>
                      <a:pt x="381738" y="64577"/>
                    </a:lnTo>
                    <a:close/>
                    <a:moveTo>
                      <a:pt x="370327" y="382"/>
                    </a:moveTo>
                    <a:cubicBezTo>
                      <a:pt x="369648" y="0"/>
                      <a:pt x="368815" y="6"/>
                      <a:pt x="368142" y="399"/>
                    </a:cubicBezTo>
                    <a:cubicBezTo>
                      <a:pt x="367469" y="792"/>
                      <a:pt x="367054" y="1515"/>
                      <a:pt x="367054" y="2295"/>
                    </a:cubicBezTo>
                    <a:lnTo>
                      <a:pt x="367054" y="21800"/>
                    </a:lnTo>
                    <a:lnTo>
                      <a:pt x="387594" y="10088"/>
                    </a:lnTo>
                    <a:close/>
                    <a:moveTo>
                      <a:pt x="393700" y="13580"/>
                    </a:moveTo>
                    <a:lnTo>
                      <a:pt x="367054" y="28759"/>
                    </a:lnTo>
                    <a:lnTo>
                      <a:pt x="367054" y="44088"/>
                    </a:lnTo>
                    <a:lnTo>
                      <a:pt x="407124" y="21242"/>
                    </a:lnTo>
                    <a:close/>
                    <a:moveTo>
                      <a:pt x="423218" y="34289"/>
                    </a:moveTo>
                    <a:cubicBezTo>
                      <a:pt x="423904" y="33899"/>
                      <a:pt x="424330" y="33169"/>
                      <a:pt x="424330" y="32380"/>
                    </a:cubicBezTo>
                    <a:cubicBezTo>
                      <a:pt x="424330" y="31590"/>
                      <a:pt x="423904" y="30860"/>
                      <a:pt x="423218" y="30470"/>
                    </a:cubicBezTo>
                    <a:lnTo>
                      <a:pt x="413236" y="24828"/>
                    </a:lnTo>
                    <a:lnTo>
                      <a:pt x="367061" y="51154"/>
                    </a:lnTo>
                    <a:lnTo>
                      <a:pt x="367061" y="62326"/>
                    </a:lnTo>
                    <a:cubicBezTo>
                      <a:pt x="367059" y="63108"/>
                      <a:pt x="367475" y="63833"/>
                      <a:pt x="368150" y="64227"/>
                    </a:cubicBezTo>
                    <a:cubicBezTo>
                      <a:pt x="368824" y="64620"/>
                      <a:pt x="369661" y="64625"/>
                      <a:pt x="370340" y="64239"/>
                    </a:cubicBezTo>
                    <a:lnTo>
                      <a:pt x="423224" y="34289"/>
                    </a:lnTo>
                    <a:close/>
                    <a:moveTo>
                      <a:pt x="254182" y="9511"/>
                    </a:moveTo>
                    <a:cubicBezTo>
                      <a:pt x="254182" y="6796"/>
                      <a:pt x="256408" y="4602"/>
                      <a:pt x="259148" y="4602"/>
                    </a:cubicBezTo>
                    <a:cubicBezTo>
                      <a:pt x="261888" y="4602"/>
                      <a:pt x="264114" y="6796"/>
                      <a:pt x="264114" y="9511"/>
                    </a:cubicBezTo>
                    <a:cubicBezTo>
                      <a:pt x="264114" y="12226"/>
                      <a:pt x="261888" y="14420"/>
                      <a:pt x="259148" y="14420"/>
                    </a:cubicBezTo>
                    <a:cubicBezTo>
                      <a:pt x="256408" y="14420"/>
                      <a:pt x="254182" y="12226"/>
                      <a:pt x="254182" y="9511"/>
                    </a:cubicBezTo>
                    <a:close/>
                    <a:moveTo>
                      <a:pt x="625162" y="9511"/>
                    </a:moveTo>
                    <a:cubicBezTo>
                      <a:pt x="625162" y="6796"/>
                      <a:pt x="627388" y="4602"/>
                      <a:pt x="630128" y="4602"/>
                    </a:cubicBezTo>
                    <a:cubicBezTo>
                      <a:pt x="632868" y="4602"/>
                      <a:pt x="635093" y="6796"/>
                      <a:pt x="635093" y="9511"/>
                    </a:cubicBezTo>
                    <a:cubicBezTo>
                      <a:pt x="635093" y="12226"/>
                      <a:pt x="632868" y="14420"/>
                      <a:pt x="630128" y="14420"/>
                    </a:cubicBezTo>
                    <a:cubicBezTo>
                      <a:pt x="627388" y="14420"/>
                      <a:pt x="625162" y="12226"/>
                      <a:pt x="625162" y="9511"/>
                    </a:cubicBezTo>
                    <a:close/>
                    <a:moveTo>
                      <a:pt x="86282" y="57386"/>
                    </a:moveTo>
                    <a:lnTo>
                      <a:pt x="78320" y="57386"/>
                    </a:lnTo>
                    <a:lnTo>
                      <a:pt x="78320" y="54333"/>
                    </a:lnTo>
                    <a:cubicBezTo>
                      <a:pt x="76589" y="55593"/>
                      <a:pt x="72903" y="58151"/>
                      <a:pt x="66526" y="58151"/>
                    </a:cubicBezTo>
                    <a:cubicBezTo>
                      <a:pt x="58990" y="58151"/>
                      <a:pt x="52269" y="53173"/>
                      <a:pt x="53128" y="45123"/>
                    </a:cubicBezTo>
                    <a:cubicBezTo>
                      <a:pt x="53868" y="38188"/>
                      <a:pt x="60357" y="35191"/>
                      <a:pt x="64715" y="34295"/>
                    </a:cubicBezTo>
                    <a:lnTo>
                      <a:pt x="78320" y="32132"/>
                    </a:lnTo>
                    <a:cubicBezTo>
                      <a:pt x="78320" y="28753"/>
                      <a:pt x="76501" y="26138"/>
                      <a:pt x="71649" y="25825"/>
                    </a:cubicBezTo>
                    <a:cubicBezTo>
                      <a:pt x="66796" y="25511"/>
                      <a:pt x="64062" y="27737"/>
                      <a:pt x="61799" y="32201"/>
                    </a:cubicBezTo>
                    <a:lnTo>
                      <a:pt x="54752" y="28408"/>
                    </a:lnTo>
                    <a:cubicBezTo>
                      <a:pt x="62388" y="11912"/>
                      <a:pt x="86282" y="17348"/>
                      <a:pt x="86282" y="31003"/>
                    </a:cubicBezTo>
                    <a:lnTo>
                      <a:pt x="86282" y="57380"/>
                    </a:lnTo>
                    <a:close/>
                    <a:moveTo>
                      <a:pt x="78320" y="39455"/>
                    </a:moveTo>
                    <a:lnTo>
                      <a:pt x="66934" y="41317"/>
                    </a:lnTo>
                    <a:cubicBezTo>
                      <a:pt x="64144" y="41988"/>
                      <a:pt x="60946" y="43467"/>
                      <a:pt x="61254" y="46947"/>
                    </a:cubicBezTo>
                    <a:cubicBezTo>
                      <a:pt x="61642" y="51298"/>
                      <a:pt x="69505" y="51743"/>
                      <a:pt x="73185" y="49423"/>
                    </a:cubicBezTo>
                    <a:cubicBezTo>
                      <a:pt x="77931" y="46427"/>
                      <a:pt x="78357" y="41938"/>
                      <a:pt x="78320" y="39455"/>
                    </a:cubicBezTo>
                    <a:close/>
                    <a:moveTo>
                      <a:pt x="533883" y="57386"/>
                    </a:moveTo>
                    <a:lnTo>
                      <a:pt x="525920" y="57386"/>
                    </a:lnTo>
                    <a:lnTo>
                      <a:pt x="525920" y="54333"/>
                    </a:lnTo>
                    <a:cubicBezTo>
                      <a:pt x="524190" y="55593"/>
                      <a:pt x="520503" y="58151"/>
                      <a:pt x="514127" y="58151"/>
                    </a:cubicBezTo>
                    <a:cubicBezTo>
                      <a:pt x="506591" y="58151"/>
                      <a:pt x="499870" y="53173"/>
                      <a:pt x="500729" y="45123"/>
                    </a:cubicBezTo>
                    <a:cubicBezTo>
                      <a:pt x="501469" y="38188"/>
                      <a:pt x="507958" y="35191"/>
                      <a:pt x="512315" y="34295"/>
                    </a:cubicBezTo>
                    <a:lnTo>
                      <a:pt x="525920" y="32132"/>
                    </a:lnTo>
                    <a:cubicBezTo>
                      <a:pt x="525920" y="28753"/>
                      <a:pt x="524102" y="26138"/>
                      <a:pt x="519249" y="25825"/>
                    </a:cubicBezTo>
                    <a:cubicBezTo>
                      <a:pt x="514397" y="25511"/>
                      <a:pt x="511663" y="27737"/>
                      <a:pt x="509400" y="32201"/>
                    </a:cubicBezTo>
                    <a:lnTo>
                      <a:pt x="502353" y="28408"/>
                    </a:lnTo>
                    <a:cubicBezTo>
                      <a:pt x="509989" y="11912"/>
                      <a:pt x="533883" y="17348"/>
                      <a:pt x="533883" y="31003"/>
                    </a:cubicBezTo>
                    <a:lnTo>
                      <a:pt x="533883" y="57380"/>
                    </a:lnTo>
                    <a:close/>
                    <a:moveTo>
                      <a:pt x="525920" y="39455"/>
                    </a:moveTo>
                    <a:lnTo>
                      <a:pt x="525914" y="39455"/>
                    </a:lnTo>
                    <a:lnTo>
                      <a:pt x="514528" y="41317"/>
                    </a:lnTo>
                    <a:cubicBezTo>
                      <a:pt x="511738" y="41988"/>
                      <a:pt x="508541" y="43467"/>
                      <a:pt x="508848" y="46947"/>
                    </a:cubicBezTo>
                    <a:cubicBezTo>
                      <a:pt x="509237" y="51298"/>
                      <a:pt x="517099" y="51743"/>
                      <a:pt x="520779" y="49423"/>
                    </a:cubicBezTo>
                    <a:cubicBezTo>
                      <a:pt x="525532" y="46427"/>
                      <a:pt x="525958" y="41938"/>
                      <a:pt x="525920" y="39455"/>
                    </a:cubicBezTo>
                    <a:close/>
                    <a:moveTo>
                      <a:pt x="596215" y="57386"/>
                    </a:moveTo>
                    <a:lnTo>
                      <a:pt x="588403" y="57386"/>
                    </a:lnTo>
                    <a:lnTo>
                      <a:pt x="588403" y="4408"/>
                    </a:lnTo>
                    <a:lnTo>
                      <a:pt x="596215" y="4408"/>
                    </a:lnTo>
                    <a:lnTo>
                      <a:pt x="596215" y="35097"/>
                    </a:lnTo>
                    <a:lnTo>
                      <a:pt x="613018" y="19053"/>
                    </a:lnTo>
                    <a:lnTo>
                      <a:pt x="623914" y="19053"/>
                    </a:lnTo>
                    <a:lnTo>
                      <a:pt x="607407" y="34947"/>
                    </a:lnTo>
                    <a:lnTo>
                      <a:pt x="624429" y="57380"/>
                    </a:lnTo>
                    <a:lnTo>
                      <a:pt x="614673" y="57380"/>
                    </a:lnTo>
                    <a:lnTo>
                      <a:pt x="601651" y="40408"/>
                    </a:lnTo>
                    <a:lnTo>
                      <a:pt x="596215" y="45699"/>
                    </a:lnTo>
                    <a:lnTo>
                      <a:pt x="596215" y="57380"/>
                    </a:lnTo>
                    <a:close/>
                    <a:moveTo>
                      <a:pt x="634165" y="19053"/>
                    </a:moveTo>
                    <a:lnTo>
                      <a:pt x="626297" y="19053"/>
                    </a:lnTo>
                    <a:lnTo>
                      <a:pt x="626297" y="57380"/>
                    </a:lnTo>
                    <a:lnTo>
                      <a:pt x="634165" y="57380"/>
                    </a:lnTo>
                    <a:close/>
                    <a:moveTo>
                      <a:pt x="263004" y="19053"/>
                    </a:moveTo>
                    <a:lnTo>
                      <a:pt x="255135" y="19053"/>
                    </a:lnTo>
                    <a:lnTo>
                      <a:pt x="255135" y="57380"/>
                    </a:lnTo>
                    <a:lnTo>
                      <a:pt x="263004" y="57380"/>
                    </a:lnTo>
                    <a:close/>
                    <a:moveTo>
                      <a:pt x="298013" y="57380"/>
                    </a:moveTo>
                    <a:lnTo>
                      <a:pt x="298013" y="4395"/>
                    </a:lnTo>
                    <a:lnTo>
                      <a:pt x="305882" y="4395"/>
                    </a:lnTo>
                    <a:lnTo>
                      <a:pt x="305882" y="21292"/>
                    </a:lnTo>
                    <a:cubicBezTo>
                      <a:pt x="308145" y="19122"/>
                      <a:pt x="312151" y="18251"/>
                      <a:pt x="315098" y="18251"/>
                    </a:cubicBezTo>
                    <a:cubicBezTo>
                      <a:pt x="324202" y="18251"/>
                      <a:pt x="330628" y="25035"/>
                      <a:pt x="330503" y="33599"/>
                    </a:cubicBezTo>
                    <a:lnTo>
                      <a:pt x="330503" y="57373"/>
                    </a:lnTo>
                    <a:lnTo>
                      <a:pt x="322540" y="57373"/>
                    </a:lnTo>
                    <a:lnTo>
                      <a:pt x="322540" y="34301"/>
                    </a:lnTo>
                    <a:cubicBezTo>
                      <a:pt x="322540" y="31743"/>
                      <a:pt x="321198" y="25906"/>
                      <a:pt x="314296" y="25906"/>
                    </a:cubicBezTo>
                    <a:cubicBezTo>
                      <a:pt x="308227" y="25906"/>
                      <a:pt x="305882" y="30646"/>
                      <a:pt x="305882" y="34301"/>
                    </a:cubicBezTo>
                    <a:lnTo>
                      <a:pt x="305882" y="57380"/>
                    </a:lnTo>
                    <a:close/>
                    <a:moveTo>
                      <a:pt x="268170" y="26696"/>
                    </a:moveTo>
                    <a:lnTo>
                      <a:pt x="268170" y="19079"/>
                    </a:lnTo>
                    <a:lnTo>
                      <a:pt x="272063" y="19079"/>
                    </a:lnTo>
                    <a:cubicBezTo>
                      <a:pt x="272811" y="19079"/>
                      <a:pt x="273529" y="18781"/>
                      <a:pt x="274058" y="18252"/>
                    </a:cubicBezTo>
                    <a:cubicBezTo>
                      <a:pt x="274587" y="17723"/>
                      <a:pt x="274885" y="17005"/>
                      <a:pt x="274885" y="16257"/>
                    </a:cubicBezTo>
                    <a:lnTo>
                      <a:pt x="274885" y="10897"/>
                    </a:lnTo>
                    <a:lnTo>
                      <a:pt x="282728" y="10897"/>
                    </a:lnTo>
                    <a:lnTo>
                      <a:pt x="282728" y="19079"/>
                    </a:lnTo>
                    <a:lnTo>
                      <a:pt x="290935" y="19079"/>
                    </a:lnTo>
                    <a:lnTo>
                      <a:pt x="290935" y="26696"/>
                    </a:lnTo>
                    <a:lnTo>
                      <a:pt x="282728" y="26696"/>
                    </a:lnTo>
                    <a:lnTo>
                      <a:pt x="282728" y="46188"/>
                    </a:lnTo>
                    <a:cubicBezTo>
                      <a:pt x="282728" y="48025"/>
                      <a:pt x="283386" y="50351"/>
                      <a:pt x="286791" y="50351"/>
                    </a:cubicBezTo>
                    <a:cubicBezTo>
                      <a:pt x="289079" y="50351"/>
                      <a:pt x="290120" y="50132"/>
                      <a:pt x="291405" y="49912"/>
                    </a:cubicBezTo>
                    <a:lnTo>
                      <a:pt x="291405" y="57041"/>
                    </a:lnTo>
                    <a:cubicBezTo>
                      <a:pt x="291405" y="57041"/>
                      <a:pt x="289142" y="57750"/>
                      <a:pt x="286032" y="57750"/>
                    </a:cubicBezTo>
                    <a:cubicBezTo>
                      <a:pt x="277267" y="57750"/>
                      <a:pt x="274891" y="51160"/>
                      <a:pt x="274891" y="46539"/>
                    </a:cubicBezTo>
                    <a:lnTo>
                      <a:pt x="274891" y="26696"/>
                    </a:lnTo>
                    <a:lnTo>
                      <a:pt x="268176" y="26696"/>
                    </a:lnTo>
                    <a:close/>
                    <a:moveTo>
                      <a:pt x="203938" y="19079"/>
                    </a:moveTo>
                    <a:lnTo>
                      <a:pt x="195198" y="19079"/>
                    </a:lnTo>
                    <a:lnTo>
                      <a:pt x="208935" y="57361"/>
                    </a:lnTo>
                    <a:lnTo>
                      <a:pt x="215988" y="57361"/>
                    </a:lnTo>
                    <a:lnTo>
                      <a:pt x="223725" y="32796"/>
                    </a:lnTo>
                    <a:lnTo>
                      <a:pt x="231486" y="57361"/>
                    </a:lnTo>
                    <a:lnTo>
                      <a:pt x="238565" y="57361"/>
                    </a:lnTo>
                    <a:lnTo>
                      <a:pt x="252283" y="19079"/>
                    </a:lnTo>
                    <a:lnTo>
                      <a:pt x="243612" y="19079"/>
                    </a:lnTo>
                    <a:lnTo>
                      <a:pt x="235091" y="43718"/>
                    </a:lnTo>
                    <a:lnTo>
                      <a:pt x="227217" y="19079"/>
                    </a:lnTo>
                    <a:lnTo>
                      <a:pt x="220170" y="19079"/>
                    </a:lnTo>
                    <a:lnTo>
                      <a:pt x="212383" y="43887"/>
                    </a:lnTo>
                    <a:lnTo>
                      <a:pt x="203931" y="19079"/>
                    </a:lnTo>
                    <a:close/>
                    <a:moveTo>
                      <a:pt x="139260" y="38527"/>
                    </a:moveTo>
                    <a:cubicBezTo>
                      <a:pt x="139135" y="48345"/>
                      <a:pt x="146702" y="58145"/>
                      <a:pt x="159467" y="58145"/>
                    </a:cubicBezTo>
                    <a:cubicBezTo>
                      <a:pt x="169286" y="58145"/>
                      <a:pt x="174408" y="52389"/>
                      <a:pt x="176608" y="47367"/>
                    </a:cubicBezTo>
                    <a:lnTo>
                      <a:pt x="170358" y="43912"/>
                    </a:lnTo>
                    <a:cubicBezTo>
                      <a:pt x="168383" y="46414"/>
                      <a:pt x="165336" y="50771"/>
                      <a:pt x="159461" y="50771"/>
                    </a:cubicBezTo>
                    <a:cubicBezTo>
                      <a:pt x="152282" y="50771"/>
                      <a:pt x="148019" y="45875"/>
                      <a:pt x="147605" y="41242"/>
                    </a:cubicBezTo>
                    <a:lnTo>
                      <a:pt x="176602" y="41242"/>
                    </a:lnTo>
                    <a:cubicBezTo>
                      <a:pt x="177066" y="39461"/>
                      <a:pt x="177530" y="35003"/>
                      <a:pt x="176414" y="31467"/>
                    </a:cubicBezTo>
                    <a:cubicBezTo>
                      <a:pt x="174307" y="24796"/>
                      <a:pt x="168759" y="18289"/>
                      <a:pt x="158615" y="18289"/>
                    </a:cubicBezTo>
                    <a:cubicBezTo>
                      <a:pt x="148470" y="18289"/>
                      <a:pt x="139254" y="25511"/>
                      <a:pt x="139254" y="38521"/>
                    </a:cubicBezTo>
                    <a:close/>
                    <a:moveTo>
                      <a:pt x="147806" y="33825"/>
                    </a:moveTo>
                    <a:cubicBezTo>
                      <a:pt x="149174" y="29006"/>
                      <a:pt x="153611" y="25659"/>
                      <a:pt x="158621" y="25668"/>
                    </a:cubicBezTo>
                    <a:cubicBezTo>
                      <a:pt x="165248" y="25668"/>
                      <a:pt x="168452" y="31129"/>
                      <a:pt x="168796" y="33825"/>
                    </a:cubicBezTo>
                    <a:close/>
                    <a:moveTo>
                      <a:pt x="92896" y="38527"/>
                    </a:moveTo>
                    <a:cubicBezTo>
                      <a:pt x="93135" y="49549"/>
                      <a:pt x="100903" y="58170"/>
                      <a:pt x="112614" y="58170"/>
                    </a:cubicBezTo>
                    <a:cubicBezTo>
                      <a:pt x="119348" y="58170"/>
                      <a:pt x="123417" y="55179"/>
                      <a:pt x="124909" y="53956"/>
                    </a:cubicBezTo>
                    <a:lnTo>
                      <a:pt x="124909" y="57386"/>
                    </a:lnTo>
                    <a:lnTo>
                      <a:pt x="132696" y="57386"/>
                    </a:lnTo>
                    <a:lnTo>
                      <a:pt x="132696" y="4433"/>
                    </a:lnTo>
                    <a:lnTo>
                      <a:pt x="124809" y="4433"/>
                    </a:lnTo>
                    <a:lnTo>
                      <a:pt x="124809" y="22539"/>
                    </a:lnTo>
                    <a:cubicBezTo>
                      <a:pt x="122213" y="20282"/>
                      <a:pt x="118150" y="18276"/>
                      <a:pt x="112708" y="18276"/>
                    </a:cubicBezTo>
                    <a:cubicBezTo>
                      <a:pt x="100733" y="18276"/>
                      <a:pt x="92658" y="27511"/>
                      <a:pt x="92896" y="38527"/>
                    </a:cubicBezTo>
                    <a:close/>
                    <a:moveTo>
                      <a:pt x="101103" y="38025"/>
                    </a:moveTo>
                    <a:lnTo>
                      <a:pt x="101097" y="38025"/>
                    </a:lnTo>
                    <a:cubicBezTo>
                      <a:pt x="101097" y="31016"/>
                      <a:pt x="106389" y="26013"/>
                      <a:pt x="112414" y="26013"/>
                    </a:cubicBezTo>
                    <a:cubicBezTo>
                      <a:pt x="118439" y="26013"/>
                      <a:pt x="124777" y="29894"/>
                      <a:pt x="124777" y="38489"/>
                    </a:cubicBezTo>
                    <a:cubicBezTo>
                      <a:pt x="124820" y="41706"/>
                      <a:pt x="123544" y="44804"/>
                      <a:pt x="121248" y="47058"/>
                    </a:cubicBezTo>
                    <a:cubicBezTo>
                      <a:pt x="118952" y="49312"/>
                      <a:pt x="115830" y="50530"/>
                      <a:pt x="112614" y="50427"/>
                    </a:cubicBezTo>
                    <a:cubicBezTo>
                      <a:pt x="105636" y="50427"/>
                      <a:pt x="101103" y="45041"/>
                      <a:pt x="101103" y="38025"/>
                    </a:cubicBezTo>
                    <a:close/>
                    <a:moveTo>
                      <a:pt x="581877" y="37850"/>
                    </a:moveTo>
                    <a:cubicBezTo>
                      <a:pt x="581638" y="26828"/>
                      <a:pt x="573870" y="18207"/>
                      <a:pt x="562159" y="18207"/>
                    </a:cubicBezTo>
                    <a:cubicBezTo>
                      <a:pt x="555425" y="18207"/>
                      <a:pt x="551356" y="21198"/>
                      <a:pt x="549864" y="22420"/>
                    </a:cubicBezTo>
                    <a:lnTo>
                      <a:pt x="549864" y="18991"/>
                    </a:lnTo>
                    <a:lnTo>
                      <a:pt x="542077" y="18991"/>
                    </a:lnTo>
                    <a:lnTo>
                      <a:pt x="542077" y="70527"/>
                    </a:lnTo>
                    <a:lnTo>
                      <a:pt x="549964" y="70527"/>
                    </a:lnTo>
                    <a:lnTo>
                      <a:pt x="549964" y="53837"/>
                    </a:lnTo>
                    <a:cubicBezTo>
                      <a:pt x="552560" y="56094"/>
                      <a:pt x="556629" y="58101"/>
                      <a:pt x="562065" y="58101"/>
                    </a:cubicBezTo>
                    <a:cubicBezTo>
                      <a:pt x="574040" y="58101"/>
                      <a:pt x="582115" y="48865"/>
                      <a:pt x="581877" y="37850"/>
                    </a:cubicBezTo>
                    <a:close/>
                    <a:moveTo>
                      <a:pt x="573670" y="38351"/>
                    </a:moveTo>
                    <a:cubicBezTo>
                      <a:pt x="573670" y="45361"/>
                      <a:pt x="568384" y="50364"/>
                      <a:pt x="562359" y="50364"/>
                    </a:cubicBezTo>
                    <a:cubicBezTo>
                      <a:pt x="556334" y="50364"/>
                      <a:pt x="549996" y="46483"/>
                      <a:pt x="549996" y="37887"/>
                    </a:cubicBezTo>
                    <a:cubicBezTo>
                      <a:pt x="549953" y="34670"/>
                      <a:pt x="551229" y="31572"/>
                      <a:pt x="553525" y="29319"/>
                    </a:cubicBezTo>
                    <a:cubicBezTo>
                      <a:pt x="555822" y="27065"/>
                      <a:pt x="558943" y="25847"/>
                      <a:pt x="562159" y="25950"/>
                    </a:cubicBezTo>
                    <a:cubicBezTo>
                      <a:pt x="569137" y="25950"/>
                      <a:pt x="573670" y="31336"/>
                      <a:pt x="573670" y="38351"/>
                    </a:cubicBezTo>
                    <a:close/>
                    <a:moveTo>
                      <a:pt x="642266" y="57536"/>
                    </a:moveTo>
                    <a:lnTo>
                      <a:pt x="642266" y="19060"/>
                    </a:lnTo>
                    <a:lnTo>
                      <a:pt x="650128" y="19060"/>
                    </a:lnTo>
                    <a:lnTo>
                      <a:pt x="650128" y="21455"/>
                    </a:lnTo>
                    <a:cubicBezTo>
                      <a:pt x="652391" y="19285"/>
                      <a:pt x="656397" y="18414"/>
                      <a:pt x="659344" y="18414"/>
                    </a:cubicBezTo>
                    <a:cubicBezTo>
                      <a:pt x="668448" y="18414"/>
                      <a:pt x="674874" y="25198"/>
                      <a:pt x="674749" y="33762"/>
                    </a:cubicBezTo>
                    <a:lnTo>
                      <a:pt x="674749" y="57536"/>
                    </a:lnTo>
                    <a:lnTo>
                      <a:pt x="666786" y="57536"/>
                    </a:lnTo>
                    <a:lnTo>
                      <a:pt x="666786" y="34458"/>
                    </a:lnTo>
                    <a:cubicBezTo>
                      <a:pt x="666786" y="31900"/>
                      <a:pt x="665444" y="26063"/>
                      <a:pt x="658542" y="26063"/>
                    </a:cubicBezTo>
                    <a:cubicBezTo>
                      <a:pt x="652466" y="26063"/>
                      <a:pt x="650128" y="30803"/>
                      <a:pt x="650128" y="34458"/>
                    </a:cubicBezTo>
                    <a:lnTo>
                      <a:pt x="650128" y="57536"/>
                    </a:lnTo>
                    <a:close/>
                    <a:moveTo>
                      <a:pt x="451776" y="57405"/>
                    </a:moveTo>
                    <a:lnTo>
                      <a:pt x="451776" y="5191"/>
                    </a:lnTo>
                    <a:lnTo>
                      <a:pt x="458572" y="5191"/>
                    </a:lnTo>
                    <a:lnTo>
                      <a:pt x="484999" y="41411"/>
                    </a:lnTo>
                    <a:lnTo>
                      <a:pt x="484999" y="5191"/>
                    </a:lnTo>
                    <a:lnTo>
                      <a:pt x="493274" y="5191"/>
                    </a:lnTo>
                    <a:lnTo>
                      <a:pt x="493274" y="57405"/>
                    </a:lnTo>
                    <a:lnTo>
                      <a:pt x="486415" y="57405"/>
                    </a:lnTo>
                    <a:lnTo>
                      <a:pt x="460039" y="21066"/>
                    </a:lnTo>
                    <a:lnTo>
                      <a:pt x="460039" y="57405"/>
                    </a:lnTo>
                    <a:lnTo>
                      <a:pt x="451770" y="57405"/>
                    </a:lnTo>
                    <a:close/>
                    <a:moveTo>
                      <a:pt x="7774" y="57386"/>
                    </a:moveTo>
                    <a:lnTo>
                      <a:pt x="0" y="57386"/>
                    </a:lnTo>
                    <a:lnTo>
                      <a:pt x="0" y="8658"/>
                    </a:lnTo>
                    <a:lnTo>
                      <a:pt x="6357" y="8658"/>
                    </a:lnTo>
                    <a:lnTo>
                      <a:pt x="23059" y="31210"/>
                    </a:lnTo>
                    <a:lnTo>
                      <a:pt x="39699" y="8690"/>
                    </a:lnTo>
                    <a:lnTo>
                      <a:pt x="46156" y="8690"/>
                    </a:lnTo>
                    <a:lnTo>
                      <a:pt x="46156" y="57380"/>
                    </a:lnTo>
                    <a:lnTo>
                      <a:pt x="38282" y="57380"/>
                    </a:lnTo>
                    <a:lnTo>
                      <a:pt x="38282" y="23611"/>
                    </a:lnTo>
                    <a:lnTo>
                      <a:pt x="23059" y="44339"/>
                    </a:lnTo>
                    <a:lnTo>
                      <a:pt x="7774" y="23486"/>
                    </a:lnTo>
                    <a:close/>
                  </a:path>
                </a:pathLst>
              </a:custGeom>
              <a:solidFill>
                <a:srgbClr val="8B7D3B">
                  <a:alpha val="53333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CAFA4B17-16D0-2E97-98F0-D21186FE7C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55831" y="74299"/>
              <a:ext cx="2328914" cy="736327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0D44126-BAEE-3417-806D-C1BCE84070A1}"/>
              </a:ext>
            </a:extLst>
          </p:cNvPr>
          <p:cNvSpPr/>
          <p:nvPr/>
        </p:nvSpPr>
        <p:spPr>
          <a:xfrm>
            <a:off x="-914400" y="952500"/>
            <a:ext cx="45719" cy="181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roup 220">
            <a:extLst>
              <a:ext uri="{FF2B5EF4-FFF2-40B4-BE49-F238E27FC236}">
                <a16:creationId xmlns:a16="http://schemas.microsoft.com/office/drawing/2014/main" id="{4EF47D63-1304-DCA6-D399-E0DBA2E414ED}"/>
              </a:ext>
            </a:extLst>
          </p:cNvPr>
          <p:cNvGrpSpPr/>
          <p:nvPr/>
        </p:nvGrpSpPr>
        <p:grpSpPr>
          <a:xfrm>
            <a:off x="502920" y="320040"/>
            <a:ext cx="17200121" cy="9966960"/>
            <a:chOff x="502920" y="320040"/>
            <a:chExt cx="11502677" cy="6483096"/>
          </a:xfrm>
        </p:grpSpPr>
        <p:sp>
          <p:nvSpPr>
            <p:cNvPr id="222" name="Text 0">
              <a:extLst>
                <a:ext uri="{FF2B5EF4-FFF2-40B4-BE49-F238E27FC236}">
                  <a16:creationId xmlns:a16="http://schemas.microsoft.com/office/drawing/2014/main" id="{C7B15C00-AE0A-3885-1F56-37F9C32BCA97}"/>
                </a:ext>
              </a:extLst>
            </p:cNvPr>
            <p:cNvSpPr/>
            <p:nvPr/>
          </p:nvSpPr>
          <p:spPr>
            <a:xfrm>
              <a:off x="548640" y="320040"/>
              <a:ext cx="7315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200" b="1" kern="0" spc="200" dirty="0">
                  <a:solidFill>
                    <a:srgbClr val="00E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TECHNICAL APPROACH</a:t>
              </a:r>
              <a:endParaRPr lang="en-US" sz="3200" dirty="0"/>
            </a:p>
          </p:txBody>
        </p:sp>
        <p:sp>
          <p:nvSpPr>
            <p:cNvPr id="223" name="Text 1">
              <a:extLst>
                <a:ext uri="{FF2B5EF4-FFF2-40B4-BE49-F238E27FC236}">
                  <a16:creationId xmlns:a16="http://schemas.microsoft.com/office/drawing/2014/main" id="{ED815FF3-7C8A-3B9D-88A4-704A2DDB5596}"/>
                </a:ext>
              </a:extLst>
            </p:cNvPr>
            <p:cNvSpPr/>
            <p:nvPr/>
          </p:nvSpPr>
          <p:spPr>
            <a:xfrm>
              <a:off x="548640" y="576072"/>
              <a:ext cx="110642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12203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System Architecture — Every Layer Stays Inside the Fence</a:t>
              </a:r>
              <a:endParaRPr lang="en-US" sz="3200" dirty="0"/>
            </a:p>
          </p:txBody>
        </p:sp>
        <p:sp>
          <p:nvSpPr>
            <p:cNvPr id="224" name="Shape 2">
              <a:extLst>
                <a:ext uri="{FF2B5EF4-FFF2-40B4-BE49-F238E27FC236}">
                  <a16:creationId xmlns:a16="http://schemas.microsoft.com/office/drawing/2014/main" id="{A32825F6-741A-FCBD-3B73-49BFEC23EC5D}"/>
                </a:ext>
              </a:extLst>
            </p:cNvPr>
            <p:cNvSpPr/>
            <p:nvPr/>
          </p:nvSpPr>
          <p:spPr>
            <a:xfrm>
              <a:off x="502920" y="1234440"/>
              <a:ext cx="8732520" cy="457200"/>
            </a:xfrm>
            <a:prstGeom prst="roundRect">
              <a:avLst>
                <a:gd name="adj" fmla="val 14000"/>
              </a:avLst>
            </a:prstGeom>
            <a:solidFill>
              <a:srgbClr val="5A6B85"/>
            </a:solidFill>
            <a:ln/>
          </p:spPr>
        </p:sp>
        <p:sp>
          <p:nvSpPr>
            <p:cNvPr id="225" name="Text 3">
              <a:extLst>
                <a:ext uri="{FF2B5EF4-FFF2-40B4-BE49-F238E27FC236}">
                  <a16:creationId xmlns:a16="http://schemas.microsoft.com/office/drawing/2014/main" id="{A2DF9099-955F-8780-EF11-A64ADBB6E80B}"/>
                </a:ext>
              </a:extLst>
            </p:cNvPr>
            <p:cNvSpPr/>
            <p:nvPr/>
          </p:nvSpPr>
          <p:spPr>
            <a:xfrm>
              <a:off x="557784" y="1234440"/>
              <a:ext cx="862279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USER WORKBENCH</a:t>
              </a:r>
              <a:endParaRPr lang="en-US" sz="2000" dirty="0"/>
            </a:p>
          </p:txBody>
        </p:sp>
        <p:pic>
          <p:nvPicPr>
            <p:cNvPr id="226" name="Image 0" descr="/home/claude/sih/icons/arrowdown_slate.png">
              <a:extLst>
                <a:ext uri="{FF2B5EF4-FFF2-40B4-BE49-F238E27FC236}">
                  <a16:creationId xmlns:a16="http://schemas.microsoft.com/office/drawing/2014/main" id="{CC6D4A7E-5665-0E8E-95EE-3DAD5822F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77740" y="1691640"/>
              <a:ext cx="182880" cy="182880"/>
            </a:xfrm>
            <a:prstGeom prst="rect">
              <a:avLst/>
            </a:prstGeom>
          </p:spPr>
        </p:pic>
        <p:sp>
          <p:nvSpPr>
            <p:cNvPr id="227" name="Shape 4">
              <a:extLst>
                <a:ext uri="{FF2B5EF4-FFF2-40B4-BE49-F238E27FC236}">
                  <a16:creationId xmlns:a16="http://schemas.microsoft.com/office/drawing/2014/main" id="{7ED8CC33-C1CD-B93F-1114-372E4C71CAF8}"/>
                </a:ext>
              </a:extLst>
            </p:cNvPr>
            <p:cNvSpPr/>
            <p:nvPr/>
          </p:nvSpPr>
          <p:spPr>
            <a:xfrm>
              <a:off x="521002" y="1901952"/>
              <a:ext cx="8732520" cy="457200"/>
            </a:xfrm>
            <a:prstGeom prst="roundRect">
              <a:avLst>
                <a:gd name="adj" fmla="val 14000"/>
              </a:avLst>
            </a:prstGeom>
            <a:solidFill>
              <a:srgbClr val="1F3A5F"/>
            </a:solidFill>
            <a:ln/>
          </p:spPr>
        </p:sp>
        <p:sp>
          <p:nvSpPr>
            <p:cNvPr id="228" name="Text 5">
              <a:extLst>
                <a:ext uri="{FF2B5EF4-FFF2-40B4-BE49-F238E27FC236}">
                  <a16:creationId xmlns:a16="http://schemas.microsoft.com/office/drawing/2014/main" id="{5EA35A97-9B78-9775-CFDA-2C863AB11B7F}"/>
                </a:ext>
              </a:extLst>
            </p:cNvPr>
            <p:cNvSpPr/>
            <p:nvPr/>
          </p:nvSpPr>
          <p:spPr>
            <a:xfrm>
              <a:off x="557784" y="1920240"/>
              <a:ext cx="8622792" cy="2834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 ORCHESTRATOR</a:t>
              </a:r>
              <a:endParaRPr lang="en-US" sz="1600" dirty="0"/>
            </a:p>
          </p:txBody>
        </p:sp>
        <p:sp>
          <p:nvSpPr>
            <p:cNvPr id="229" name="Text 6">
              <a:extLst>
                <a:ext uri="{FF2B5EF4-FFF2-40B4-BE49-F238E27FC236}">
                  <a16:creationId xmlns:a16="http://schemas.microsoft.com/office/drawing/2014/main" id="{8092FDCC-4CFB-408D-0727-BD76ADE0ED77}"/>
                </a:ext>
              </a:extLst>
            </p:cNvPr>
            <p:cNvSpPr/>
            <p:nvPr/>
          </p:nvSpPr>
          <p:spPr>
            <a:xfrm>
              <a:off x="557784" y="2157984"/>
              <a:ext cx="8622792" cy="1828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CFE3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Plan  →  Act  →  Verify</a:t>
              </a:r>
              <a:endParaRPr lang="en-US" sz="1600" dirty="0"/>
            </a:p>
          </p:txBody>
        </p:sp>
        <p:pic>
          <p:nvPicPr>
            <p:cNvPr id="230" name="Image 1" descr="/home/claude/sih/icons/arrowdown_slate.png">
              <a:extLst>
                <a:ext uri="{FF2B5EF4-FFF2-40B4-BE49-F238E27FC236}">
                  <a16:creationId xmlns:a16="http://schemas.microsoft.com/office/drawing/2014/main" id="{6DF74BA2-BE1F-549D-D77F-77BF42BBB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77740" y="2350008"/>
              <a:ext cx="182880" cy="182880"/>
            </a:xfrm>
            <a:prstGeom prst="rect">
              <a:avLst/>
            </a:prstGeom>
          </p:spPr>
        </p:pic>
        <p:sp>
          <p:nvSpPr>
            <p:cNvPr id="231" name="Shape 7">
              <a:extLst>
                <a:ext uri="{FF2B5EF4-FFF2-40B4-BE49-F238E27FC236}">
                  <a16:creationId xmlns:a16="http://schemas.microsoft.com/office/drawing/2014/main" id="{BFF74930-9A8E-E511-F76B-7766172B9167}"/>
                </a:ext>
              </a:extLst>
            </p:cNvPr>
            <p:cNvSpPr/>
            <p:nvPr/>
          </p:nvSpPr>
          <p:spPr>
            <a:xfrm>
              <a:off x="502920" y="2551176"/>
              <a:ext cx="8732520" cy="457200"/>
            </a:xfrm>
            <a:prstGeom prst="roundRect">
              <a:avLst>
                <a:gd name="adj" fmla="val 14000"/>
              </a:avLst>
            </a:prstGeom>
            <a:solidFill>
              <a:srgbClr val="1F3A5F"/>
            </a:solidFill>
            <a:ln/>
          </p:spPr>
        </p:sp>
        <p:sp>
          <p:nvSpPr>
            <p:cNvPr id="232" name="Text 8">
              <a:extLst>
                <a:ext uri="{FF2B5EF4-FFF2-40B4-BE49-F238E27FC236}">
                  <a16:creationId xmlns:a16="http://schemas.microsoft.com/office/drawing/2014/main" id="{6FE903A3-560F-2250-2794-31C4E677662D}"/>
                </a:ext>
              </a:extLst>
            </p:cNvPr>
            <p:cNvSpPr/>
            <p:nvPr/>
          </p:nvSpPr>
          <p:spPr>
            <a:xfrm>
              <a:off x="557784" y="2551176"/>
              <a:ext cx="862279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 ROUTER</a:t>
              </a:r>
              <a:endParaRPr lang="en-US" sz="2000" dirty="0"/>
            </a:p>
          </p:txBody>
        </p:sp>
        <p:pic>
          <p:nvPicPr>
            <p:cNvPr id="233" name="Image 2" descr="/home/claude/sih/icons/arrowdown_slate.png">
              <a:extLst>
                <a:ext uri="{FF2B5EF4-FFF2-40B4-BE49-F238E27FC236}">
                  <a16:creationId xmlns:a16="http://schemas.microsoft.com/office/drawing/2014/main" id="{826E22EE-DA51-DB17-BF30-5E22E788ED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77740" y="3008376"/>
              <a:ext cx="182880" cy="182880"/>
            </a:xfrm>
            <a:prstGeom prst="rect">
              <a:avLst/>
            </a:prstGeom>
          </p:spPr>
        </p:pic>
        <p:sp>
          <p:nvSpPr>
            <p:cNvPr id="234" name="Shape 9">
              <a:extLst>
                <a:ext uri="{FF2B5EF4-FFF2-40B4-BE49-F238E27FC236}">
                  <a16:creationId xmlns:a16="http://schemas.microsoft.com/office/drawing/2014/main" id="{5BB20E37-0BFD-564F-B780-A97CC6FBE721}"/>
                </a:ext>
              </a:extLst>
            </p:cNvPr>
            <p:cNvSpPr/>
            <p:nvPr/>
          </p:nvSpPr>
          <p:spPr>
            <a:xfrm>
              <a:off x="502920" y="3209544"/>
              <a:ext cx="2819400" cy="457200"/>
            </a:xfrm>
            <a:prstGeom prst="roundRect">
              <a:avLst>
                <a:gd name="adj" fmla="val 14000"/>
              </a:avLst>
            </a:prstGeom>
            <a:solidFill>
              <a:srgbClr val="00A87D"/>
            </a:solidFill>
            <a:ln/>
          </p:spPr>
        </p:sp>
        <p:sp>
          <p:nvSpPr>
            <p:cNvPr id="235" name="Text 10">
              <a:extLst>
                <a:ext uri="{FF2B5EF4-FFF2-40B4-BE49-F238E27FC236}">
                  <a16:creationId xmlns:a16="http://schemas.microsoft.com/office/drawing/2014/main" id="{8F7CF3C9-3350-0134-48E1-5ED73DA050C7}"/>
                </a:ext>
              </a:extLst>
            </p:cNvPr>
            <p:cNvSpPr/>
            <p:nvPr/>
          </p:nvSpPr>
          <p:spPr>
            <a:xfrm>
              <a:off x="557784" y="3209544"/>
              <a:ext cx="27096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REASONING</a:t>
              </a:r>
              <a:endParaRPr lang="en-US" sz="2000" dirty="0"/>
            </a:p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</a:t>
              </a:r>
              <a:endParaRPr lang="en-US" sz="2000" dirty="0"/>
            </a:p>
          </p:txBody>
        </p:sp>
        <p:sp>
          <p:nvSpPr>
            <p:cNvPr id="236" name="Shape 11">
              <a:extLst>
                <a:ext uri="{FF2B5EF4-FFF2-40B4-BE49-F238E27FC236}">
                  <a16:creationId xmlns:a16="http://schemas.microsoft.com/office/drawing/2014/main" id="{6B9BA573-C77D-6560-2D18-E65CA4BC1244}"/>
                </a:ext>
              </a:extLst>
            </p:cNvPr>
            <p:cNvSpPr/>
            <p:nvPr/>
          </p:nvSpPr>
          <p:spPr>
            <a:xfrm>
              <a:off x="3459480" y="3209544"/>
              <a:ext cx="2819400" cy="457200"/>
            </a:xfrm>
            <a:prstGeom prst="roundRect">
              <a:avLst>
                <a:gd name="adj" fmla="val 14000"/>
              </a:avLst>
            </a:prstGeom>
            <a:solidFill>
              <a:srgbClr val="00A87D"/>
            </a:solidFill>
            <a:ln/>
          </p:spPr>
        </p:sp>
        <p:sp>
          <p:nvSpPr>
            <p:cNvPr id="237" name="Text 12">
              <a:extLst>
                <a:ext uri="{FF2B5EF4-FFF2-40B4-BE49-F238E27FC236}">
                  <a16:creationId xmlns:a16="http://schemas.microsoft.com/office/drawing/2014/main" id="{99D8A81C-8622-F37E-BA35-66FB4933B8E3}"/>
                </a:ext>
              </a:extLst>
            </p:cNvPr>
            <p:cNvSpPr/>
            <p:nvPr/>
          </p:nvSpPr>
          <p:spPr>
            <a:xfrm>
              <a:off x="3514344" y="3209544"/>
              <a:ext cx="27096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CODING</a:t>
              </a:r>
              <a:endParaRPr lang="en-US" sz="2000" dirty="0"/>
            </a:p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</a:t>
              </a:r>
              <a:endParaRPr lang="en-US" sz="2000" dirty="0"/>
            </a:p>
          </p:txBody>
        </p:sp>
        <p:sp>
          <p:nvSpPr>
            <p:cNvPr id="238" name="Shape 13">
              <a:extLst>
                <a:ext uri="{FF2B5EF4-FFF2-40B4-BE49-F238E27FC236}">
                  <a16:creationId xmlns:a16="http://schemas.microsoft.com/office/drawing/2014/main" id="{8608734F-76F9-CE4B-CAE0-6B15628D5197}"/>
                </a:ext>
              </a:extLst>
            </p:cNvPr>
            <p:cNvSpPr/>
            <p:nvPr/>
          </p:nvSpPr>
          <p:spPr>
            <a:xfrm>
              <a:off x="6416040" y="3209544"/>
              <a:ext cx="2819400" cy="457200"/>
            </a:xfrm>
            <a:prstGeom prst="roundRect">
              <a:avLst>
                <a:gd name="adj" fmla="val 14000"/>
              </a:avLst>
            </a:prstGeom>
            <a:solidFill>
              <a:srgbClr val="00A87D"/>
            </a:solidFill>
            <a:ln/>
          </p:spPr>
        </p:sp>
        <p:sp>
          <p:nvSpPr>
            <p:cNvPr id="239" name="Text 14">
              <a:extLst>
                <a:ext uri="{FF2B5EF4-FFF2-40B4-BE49-F238E27FC236}">
                  <a16:creationId xmlns:a16="http://schemas.microsoft.com/office/drawing/2014/main" id="{98A880BB-FFAA-3D70-524F-07B4A00E8158}"/>
                </a:ext>
              </a:extLst>
            </p:cNvPr>
            <p:cNvSpPr/>
            <p:nvPr/>
          </p:nvSpPr>
          <p:spPr>
            <a:xfrm>
              <a:off x="6470904" y="3209544"/>
              <a:ext cx="27096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VISION</a:t>
              </a:r>
              <a:endParaRPr lang="en-US" sz="2400" dirty="0"/>
            </a:p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</a:t>
              </a:r>
              <a:endParaRPr lang="en-US" sz="2400" dirty="0"/>
            </a:p>
          </p:txBody>
        </p:sp>
        <p:pic>
          <p:nvPicPr>
            <p:cNvPr id="240" name="Image 3" descr="/home/claude/sih/icons/arrowdown_slate.png">
              <a:extLst>
                <a:ext uri="{FF2B5EF4-FFF2-40B4-BE49-F238E27FC236}">
                  <a16:creationId xmlns:a16="http://schemas.microsoft.com/office/drawing/2014/main" id="{3FD32A75-D90E-456A-6A3A-14EBDBC6F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77740" y="3666744"/>
              <a:ext cx="182880" cy="182880"/>
            </a:xfrm>
            <a:prstGeom prst="rect">
              <a:avLst/>
            </a:prstGeom>
          </p:spPr>
        </p:pic>
        <p:sp>
          <p:nvSpPr>
            <p:cNvPr id="241" name="Shape 15">
              <a:extLst>
                <a:ext uri="{FF2B5EF4-FFF2-40B4-BE49-F238E27FC236}">
                  <a16:creationId xmlns:a16="http://schemas.microsoft.com/office/drawing/2014/main" id="{6833118D-483B-9CC3-08A9-1405B511F990}"/>
                </a:ext>
              </a:extLst>
            </p:cNvPr>
            <p:cNvSpPr/>
            <p:nvPr/>
          </p:nvSpPr>
          <p:spPr>
            <a:xfrm>
              <a:off x="502920" y="3867912"/>
              <a:ext cx="8732520" cy="457200"/>
            </a:xfrm>
            <a:prstGeom prst="roundRect">
              <a:avLst>
                <a:gd name="adj" fmla="val 14000"/>
              </a:avLst>
            </a:prstGeom>
            <a:solidFill>
              <a:srgbClr val="00A87D"/>
            </a:solidFill>
            <a:ln/>
          </p:spPr>
        </p:sp>
        <p:sp>
          <p:nvSpPr>
            <p:cNvPr id="242" name="Text 16">
              <a:extLst>
                <a:ext uri="{FF2B5EF4-FFF2-40B4-BE49-F238E27FC236}">
                  <a16:creationId xmlns:a16="http://schemas.microsoft.com/office/drawing/2014/main" id="{09D3D1E8-7DA4-F85F-2C01-AC2D9E45BAF0}"/>
                </a:ext>
              </a:extLst>
            </p:cNvPr>
            <p:cNvSpPr/>
            <p:nvPr/>
          </p:nvSpPr>
          <p:spPr>
            <a:xfrm>
              <a:off x="557784" y="3867912"/>
              <a:ext cx="862279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LOCAL INFERENCE — </a:t>
              </a:r>
              <a:r>
                <a:rPr lang="en-US" sz="2000" b="1" dirty="0" err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Ollama</a:t>
              </a: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/ </a:t>
              </a:r>
              <a:r>
                <a:rPr lang="en-US" sz="2000" b="1" dirty="0" err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vLLM</a:t>
              </a:r>
              <a:endParaRPr lang="en-US" sz="2000" dirty="0"/>
            </a:p>
          </p:txBody>
        </p:sp>
        <p:pic>
          <p:nvPicPr>
            <p:cNvPr id="243" name="Image 4" descr="/home/claude/sih/icons/arrowdown_slate.png">
              <a:extLst>
                <a:ext uri="{FF2B5EF4-FFF2-40B4-BE49-F238E27FC236}">
                  <a16:creationId xmlns:a16="http://schemas.microsoft.com/office/drawing/2014/main" id="{F4636E4A-063F-A1BC-2D19-129054DC7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77740" y="4325112"/>
              <a:ext cx="182880" cy="182880"/>
            </a:xfrm>
            <a:prstGeom prst="rect">
              <a:avLst/>
            </a:prstGeom>
          </p:spPr>
        </p:pic>
        <p:sp>
          <p:nvSpPr>
            <p:cNvPr id="244" name="Shape 17">
              <a:extLst>
                <a:ext uri="{FF2B5EF4-FFF2-40B4-BE49-F238E27FC236}">
                  <a16:creationId xmlns:a16="http://schemas.microsoft.com/office/drawing/2014/main" id="{C75C092F-ECA5-AFB4-2155-C75C60DDE98C}"/>
                </a:ext>
              </a:extLst>
            </p:cNvPr>
            <p:cNvSpPr/>
            <p:nvPr/>
          </p:nvSpPr>
          <p:spPr>
            <a:xfrm>
              <a:off x="502920" y="4526280"/>
              <a:ext cx="2819400" cy="457200"/>
            </a:xfrm>
            <a:prstGeom prst="roundRect">
              <a:avLst>
                <a:gd name="adj" fmla="val 14000"/>
              </a:avLst>
            </a:prstGeom>
            <a:solidFill>
              <a:srgbClr val="3B6E91"/>
            </a:solidFill>
            <a:ln/>
          </p:spPr>
        </p:sp>
        <p:sp>
          <p:nvSpPr>
            <p:cNvPr id="245" name="Text 18">
              <a:extLst>
                <a:ext uri="{FF2B5EF4-FFF2-40B4-BE49-F238E27FC236}">
                  <a16:creationId xmlns:a16="http://schemas.microsoft.com/office/drawing/2014/main" id="{A6533072-6B00-1A60-21D0-4E29CC8277B1}"/>
                </a:ext>
              </a:extLst>
            </p:cNvPr>
            <p:cNvSpPr/>
            <p:nvPr/>
          </p:nvSpPr>
          <p:spPr>
            <a:xfrm>
              <a:off x="557784" y="4526280"/>
              <a:ext cx="27096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LOCAL RAG /</a:t>
              </a:r>
              <a:endParaRPr lang="en-US" sz="2000" dirty="0"/>
            </a:p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KNOWLEDGE BASE</a:t>
              </a:r>
              <a:endParaRPr lang="en-US" sz="2000" dirty="0"/>
            </a:p>
          </p:txBody>
        </p:sp>
        <p:sp>
          <p:nvSpPr>
            <p:cNvPr id="246" name="Shape 19">
              <a:extLst>
                <a:ext uri="{FF2B5EF4-FFF2-40B4-BE49-F238E27FC236}">
                  <a16:creationId xmlns:a16="http://schemas.microsoft.com/office/drawing/2014/main" id="{392C709C-5947-8898-8D68-AF45E9F6D99E}"/>
                </a:ext>
              </a:extLst>
            </p:cNvPr>
            <p:cNvSpPr/>
            <p:nvPr/>
          </p:nvSpPr>
          <p:spPr>
            <a:xfrm>
              <a:off x="3459480" y="4526280"/>
              <a:ext cx="2819400" cy="457200"/>
            </a:xfrm>
            <a:prstGeom prst="roundRect">
              <a:avLst>
                <a:gd name="adj" fmla="val 14000"/>
              </a:avLst>
            </a:prstGeom>
            <a:solidFill>
              <a:srgbClr val="3B6E91"/>
            </a:solidFill>
            <a:ln/>
          </p:spPr>
        </p:sp>
        <p:sp>
          <p:nvSpPr>
            <p:cNvPr id="247" name="Text 20">
              <a:extLst>
                <a:ext uri="{FF2B5EF4-FFF2-40B4-BE49-F238E27FC236}">
                  <a16:creationId xmlns:a16="http://schemas.microsoft.com/office/drawing/2014/main" id="{2C4AD01B-729A-64A0-9309-A20C23B6CDC2}"/>
                </a:ext>
              </a:extLst>
            </p:cNvPr>
            <p:cNvSpPr/>
            <p:nvPr/>
          </p:nvSpPr>
          <p:spPr>
            <a:xfrm>
              <a:off x="3514344" y="4526280"/>
              <a:ext cx="27096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LOCAL TOOLS +</a:t>
              </a:r>
              <a:endParaRPr lang="en-US" sz="2000" dirty="0"/>
            </a:p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SANDBOX</a:t>
              </a:r>
              <a:endParaRPr lang="en-US" sz="2000" dirty="0"/>
            </a:p>
          </p:txBody>
        </p:sp>
        <p:sp>
          <p:nvSpPr>
            <p:cNvPr id="248" name="Shape 21">
              <a:extLst>
                <a:ext uri="{FF2B5EF4-FFF2-40B4-BE49-F238E27FC236}">
                  <a16:creationId xmlns:a16="http://schemas.microsoft.com/office/drawing/2014/main" id="{0F49B50B-330F-9069-1A48-A26A087E5E99}"/>
                </a:ext>
              </a:extLst>
            </p:cNvPr>
            <p:cNvSpPr/>
            <p:nvPr/>
          </p:nvSpPr>
          <p:spPr>
            <a:xfrm>
              <a:off x="6416040" y="4526280"/>
              <a:ext cx="2819400" cy="457200"/>
            </a:xfrm>
            <a:prstGeom prst="roundRect">
              <a:avLst>
                <a:gd name="adj" fmla="val 14000"/>
              </a:avLst>
            </a:prstGeom>
            <a:solidFill>
              <a:srgbClr val="3B6E91"/>
            </a:solidFill>
            <a:ln/>
          </p:spPr>
        </p:sp>
        <p:sp>
          <p:nvSpPr>
            <p:cNvPr id="249" name="Text 22">
              <a:extLst>
                <a:ext uri="{FF2B5EF4-FFF2-40B4-BE49-F238E27FC236}">
                  <a16:creationId xmlns:a16="http://schemas.microsoft.com/office/drawing/2014/main" id="{87E3699E-B2FC-36F2-19E0-35542034AA58}"/>
                </a:ext>
              </a:extLst>
            </p:cNvPr>
            <p:cNvSpPr/>
            <p:nvPr/>
          </p:nvSpPr>
          <p:spPr>
            <a:xfrm>
              <a:off x="6470904" y="4526280"/>
              <a:ext cx="27096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MULTIMODAL</a:t>
              </a:r>
              <a:endParaRPr lang="en-US" sz="2000" dirty="0"/>
            </a:p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PIPELINE</a:t>
              </a:r>
              <a:endParaRPr lang="en-US" sz="2000" dirty="0"/>
            </a:p>
          </p:txBody>
        </p:sp>
        <p:pic>
          <p:nvPicPr>
            <p:cNvPr id="250" name="Image 5" descr="/home/claude/sih/icons/arrowdown_slate.png">
              <a:extLst>
                <a:ext uri="{FF2B5EF4-FFF2-40B4-BE49-F238E27FC236}">
                  <a16:creationId xmlns:a16="http://schemas.microsoft.com/office/drawing/2014/main" id="{8E4C0281-76C1-4414-1543-81CEEF1DB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77740" y="4983480"/>
              <a:ext cx="182880" cy="182880"/>
            </a:xfrm>
            <a:prstGeom prst="rect">
              <a:avLst/>
            </a:prstGeom>
          </p:spPr>
        </p:pic>
        <p:sp>
          <p:nvSpPr>
            <p:cNvPr id="251" name="Shape 23">
              <a:extLst>
                <a:ext uri="{FF2B5EF4-FFF2-40B4-BE49-F238E27FC236}">
                  <a16:creationId xmlns:a16="http://schemas.microsoft.com/office/drawing/2014/main" id="{D2200168-5C49-36B2-FF73-C3EC5DE4F9F0}"/>
                </a:ext>
              </a:extLst>
            </p:cNvPr>
            <p:cNvSpPr/>
            <p:nvPr/>
          </p:nvSpPr>
          <p:spPr>
            <a:xfrm>
              <a:off x="502920" y="5184648"/>
              <a:ext cx="8732520" cy="457200"/>
            </a:xfrm>
            <a:prstGeom prst="roundRect">
              <a:avLst>
                <a:gd name="adj" fmla="val 14000"/>
              </a:avLst>
            </a:prstGeom>
            <a:solidFill>
              <a:srgbClr val="0F1B3C"/>
            </a:solidFill>
            <a:ln/>
          </p:spPr>
        </p:sp>
        <p:sp>
          <p:nvSpPr>
            <p:cNvPr id="252" name="Text 24">
              <a:extLst>
                <a:ext uri="{FF2B5EF4-FFF2-40B4-BE49-F238E27FC236}">
                  <a16:creationId xmlns:a16="http://schemas.microsoft.com/office/drawing/2014/main" id="{CD5CB975-E71E-5A0B-A25B-DB417392AA7C}"/>
                </a:ext>
              </a:extLst>
            </p:cNvPr>
            <p:cNvSpPr/>
            <p:nvPr/>
          </p:nvSpPr>
          <p:spPr>
            <a:xfrm>
              <a:off x="557784" y="5212080"/>
              <a:ext cx="8622792" cy="2834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ARTIFACT ENGINE</a:t>
              </a:r>
              <a:endParaRPr lang="en-US" sz="1600" dirty="0"/>
            </a:p>
          </p:txBody>
        </p:sp>
        <p:sp>
          <p:nvSpPr>
            <p:cNvPr id="253" name="Text 25">
              <a:extLst>
                <a:ext uri="{FF2B5EF4-FFF2-40B4-BE49-F238E27FC236}">
                  <a16:creationId xmlns:a16="http://schemas.microsoft.com/office/drawing/2014/main" id="{2E71FBB1-A0D3-648B-3150-1BB7A2A677BB}"/>
                </a:ext>
              </a:extLst>
            </p:cNvPr>
            <p:cNvSpPr/>
            <p:nvPr/>
          </p:nvSpPr>
          <p:spPr>
            <a:xfrm>
              <a:off x="557784" y="5449824"/>
              <a:ext cx="8622792" cy="1828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CFE3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DOCX   ·   PPTX   ·   XLSX   ·   Code</a:t>
              </a:r>
              <a:endParaRPr lang="en-US" sz="1600" dirty="0"/>
            </a:p>
          </p:txBody>
        </p:sp>
        <p:pic>
          <p:nvPicPr>
            <p:cNvPr id="254" name="Image 6" descr="/home/claude/sih/icons/arrowdown_slate.png">
              <a:extLst>
                <a:ext uri="{FF2B5EF4-FFF2-40B4-BE49-F238E27FC236}">
                  <a16:creationId xmlns:a16="http://schemas.microsoft.com/office/drawing/2014/main" id="{12168FBA-A9DB-91FC-A091-C57FA552A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77740" y="5641848"/>
              <a:ext cx="182880" cy="182880"/>
            </a:xfrm>
            <a:prstGeom prst="rect">
              <a:avLst/>
            </a:prstGeom>
          </p:spPr>
        </p:pic>
        <p:sp>
          <p:nvSpPr>
            <p:cNvPr id="255" name="Shape 26">
              <a:extLst>
                <a:ext uri="{FF2B5EF4-FFF2-40B4-BE49-F238E27FC236}">
                  <a16:creationId xmlns:a16="http://schemas.microsoft.com/office/drawing/2014/main" id="{32C714EC-FA3A-D973-46C1-BEACDF8327F3}"/>
                </a:ext>
              </a:extLst>
            </p:cNvPr>
            <p:cNvSpPr/>
            <p:nvPr/>
          </p:nvSpPr>
          <p:spPr>
            <a:xfrm>
              <a:off x="502920" y="5843016"/>
              <a:ext cx="8732520" cy="512064"/>
            </a:xfrm>
            <a:prstGeom prst="roundRect">
              <a:avLst>
                <a:gd name="adj" fmla="val 12500"/>
              </a:avLst>
            </a:prstGeom>
            <a:solidFill>
              <a:srgbClr val="0A1230"/>
            </a:solidFill>
            <a:ln/>
          </p:spPr>
        </p:sp>
        <p:sp>
          <p:nvSpPr>
            <p:cNvPr id="256" name="Text 27">
              <a:extLst>
                <a:ext uri="{FF2B5EF4-FFF2-40B4-BE49-F238E27FC236}">
                  <a16:creationId xmlns:a16="http://schemas.microsoft.com/office/drawing/2014/main" id="{F5092817-F1C7-3DDA-2952-AB4DF655FED1}"/>
                </a:ext>
              </a:extLst>
            </p:cNvPr>
            <p:cNvSpPr/>
            <p:nvPr/>
          </p:nvSpPr>
          <p:spPr>
            <a:xfrm>
              <a:off x="557784" y="5870448"/>
              <a:ext cx="8622792" cy="317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AIR-GAPPED ORGANIZATION LAN (MRPL)</a:t>
              </a:r>
              <a:endParaRPr lang="en-US" sz="1600" dirty="0"/>
            </a:p>
          </p:txBody>
        </p:sp>
        <p:sp>
          <p:nvSpPr>
            <p:cNvPr id="257" name="Text 28">
              <a:extLst>
                <a:ext uri="{FF2B5EF4-FFF2-40B4-BE49-F238E27FC236}">
                  <a16:creationId xmlns:a16="http://schemas.microsoft.com/office/drawing/2014/main" id="{5960A8EA-976A-73A2-A1D5-D37EBD23DF00}"/>
                </a:ext>
              </a:extLst>
            </p:cNvPr>
            <p:cNvSpPr/>
            <p:nvPr/>
          </p:nvSpPr>
          <p:spPr>
            <a:xfrm>
              <a:off x="557784" y="6140013"/>
              <a:ext cx="8622792" cy="20482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CFE3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Audited · Zero external calls</a:t>
              </a:r>
              <a:endParaRPr lang="en-US" sz="1600" dirty="0"/>
            </a:p>
          </p:txBody>
        </p:sp>
        <p:sp>
          <p:nvSpPr>
            <p:cNvPr id="258" name="Shape 29">
              <a:extLst>
                <a:ext uri="{FF2B5EF4-FFF2-40B4-BE49-F238E27FC236}">
                  <a16:creationId xmlns:a16="http://schemas.microsoft.com/office/drawing/2014/main" id="{74148978-F93F-F1AD-2094-74A2CD5AEF09}"/>
                </a:ext>
              </a:extLst>
            </p:cNvPr>
            <p:cNvSpPr/>
            <p:nvPr/>
          </p:nvSpPr>
          <p:spPr>
            <a:xfrm>
              <a:off x="9464040" y="1234440"/>
              <a:ext cx="2240280" cy="1417320"/>
            </a:xfrm>
            <a:prstGeom prst="roundRect">
              <a:avLst>
                <a:gd name="adj" fmla="val 5161"/>
              </a:avLst>
            </a:prstGeom>
            <a:solidFill>
              <a:srgbClr val="FDECEC"/>
            </a:solidFill>
            <a:ln w="15875">
              <a:solidFill>
                <a:srgbClr val="E5484D"/>
              </a:solidFill>
              <a:prstDash val="solid"/>
            </a:ln>
          </p:spPr>
        </p:sp>
        <p:pic>
          <p:nvPicPr>
            <p:cNvPr id="259" name="Image 7" descr="/home/claude/sih/icons/lock_red.png">
              <a:extLst>
                <a:ext uri="{FF2B5EF4-FFF2-40B4-BE49-F238E27FC236}">
                  <a16:creationId xmlns:a16="http://schemas.microsoft.com/office/drawing/2014/main" id="{02053AC1-2399-3829-DB4E-97A37A331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28148" y="1371600"/>
              <a:ext cx="512064" cy="512064"/>
            </a:xfrm>
            <a:prstGeom prst="rect">
              <a:avLst/>
            </a:prstGeom>
          </p:spPr>
        </p:pic>
        <p:sp>
          <p:nvSpPr>
            <p:cNvPr id="260" name="Text 30">
              <a:extLst>
                <a:ext uri="{FF2B5EF4-FFF2-40B4-BE49-F238E27FC236}">
                  <a16:creationId xmlns:a16="http://schemas.microsoft.com/office/drawing/2014/main" id="{8378731A-0B32-8DCD-7D37-B6C4FCDAAC07}"/>
                </a:ext>
              </a:extLst>
            </p:cNvPr>
            <p:cNvSpPr/>
            <p:nvPr/>
          </p:nvSpPr>
          <p:spPr>
            <a:xfrm>
              <a:off x="9555480" y="1920240"/>
              <a:ext cx="205740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ts val="1300"/>
                </a:lnSpc>
                <a:buNone/>
              </a:pPr>
              <a:r>
                <a:rPr lang="en-US" sz="1100" b="1">
                  <a:solidFill>
                    <a:srgbClr val="E548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CLOUD API</a:t>
              </a:r>
              <a:endParaRPr lang="en-US" sz="1100"/>
            </a:p>
            <a:p>
              <a:pPr marL="0" indent="0" algn="ctr">
                <a:lnSpc>
                  <a:spcPts val="1300"/>
                </a:lnSpc>
                <a:buNone/>
              </a:pPr>
              <a:r>
                <a:rPr lang="en-US" sz="1100" b="1">
                  <a:solidFill>
                    <a:srgbClr val="E548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EXTERNAL</a:t>
              </a:r>
              <a:endParaRPr lang="en-US" sz="1100"/>
            </a:p>
            <a:p>
              <a:pPr marL="0" indent="0" algn="ctr">
                <a:lnSpc>
                  <a:spcPts val="1300"/>
                </a:lnSpc>
                <a:buNone/>
              </a:pPr>
              <a:r>
                <a:rPr lang="en-US" sz="1100" b="1">
                  <a:solidFill>
                    <a:srgbClr val="E548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FLOW</a:t>
              </a:r>
              <a:endParaRPr lang="en-US" sz="1100" dirty="0"/>
            </a:p>
          </p:txBody>
        </p:sp>
        <p:sp>
          <p:nvSpPr>
            <p:cNvPr id="261" name="Text 31">
              <a:extLst>
                <a:ext uri="{FF2B5EF4-FFF2-40B4-BE49-F238E27FC236}">
                  <a16:creationId xmlns:a16="http://schemas.microsoft.com/office/drawing/2014/main" id="{FEE0F14F-3739-E990-832F-FDAA66DEE9D6}"/>
                </a:ext>
              </a:extLst>
            </p:cNvPr>
            <p:cNvSpPr/>
            <p:nvPr/>
          </p:nvSpPr>
          <p:spPr>
            <a:xfrm>
              <a:off x="9464040" y="2880360"/>
              <a:ext cx="2240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kern="0" spc="150" dirty="0">
                  <a:solidFill>
                    <a:srgbClr val="5A6B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CORE STACK</a:t>
              </a:r>
              <a:endParaRPr lang="en-US" sz="2000" b="1" dirty="0"/>
            </a:p>
          </p:txBody>
        </p:sp>
        <p:sp>
          <p:nvSpPr>
            <p:cNvPr id="262" name="Shape 32">
              <a:extLst>
                <a:ext uri="{FF2B5EF4-FFF2-40B4-BE49-F238E27FC236}">
                  <a16:creationId xmlns:a16="http://schemas.microsoft.com/office/drawing/2014/main" id="{35BC66CF-8286-9012-B206-7EE5908A5D8B}"/>
                </a:ext>
              </a:extLst>
            </p:cNvPr>
            <p:cNvSpPr/>
            <p:nvPr/>
          </p:nvSpPr>
          <p:spPr>
            <a:xfrm>
              <a:off x="9464040" y="3200400"/>
              <a:ext cx="365760" cy="365760"/>
            </a:xfrm>
            <a:prstGeom prst="ellipse">
              <a:avLst/>
            </a:prstGeom>
            <a:solidFill>
              <a:srgbClr val="0F1B3C"/>
            </a:solidFill>
            <a:ln/>
          </p:spPr>
        </p:sp>
        <p:pic>
          <p:nvPicPr>
            <p:cNvPr id="263" name="Image 8" descr="/home/claude/sih/icons/chip_teal.png">
              <a:extLst>
                <a:ext uri="{FF2B5EF4-FFF2-40B4-BE49-F238E27FC236}">
                  <a16:creationId xmlns:a16="http://schemas.microsoft.com/office/drawing/2014/main" id="{B441ED91-8910-7F8F-190E-472AA7D46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46336" y="3282696"/>
              <a:ext cx="201168" cy="201168"/>
            </a:xfrm>
            <a:prstGeom prst="rect">
              <a:avLst/>
            </a:prstGeom>
          </p:spPr>
        </p:pic>
        <p:sp>
          <p:nvSpPr>
            <p:cNvPr id="264" name="Text 33">
              <a:extLst>
                <a:ext uri="{FF2B5EF4-FFF2-40B4-BE49-F238E27FC236}">
                  <a16:creationId xmlns:a16="http://schemas.microsoft.com/office/drawing/2014/main" id="{D7DD1FED-6AED-9182-2327-957AA2B1F8EE}"/>
                </a:ext>
              </a:extLst>
            </p:cNvPr>
            <p:cNvSpPr/>
            <p:nvPr/>
          </p:nvSpPr>
          <p:spPr>
            <a:xfrm>
              <a:off x="9921240" y="3200400"/>
              <a:ext cx="17830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dirty="0" err="1">
                  <a:solidFill>
                    <a:srgbClr val="122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Ollama</a:t>
              </a:r>
              <a:r>
                <a:rPr lang="en-US" dirty="0">
                  <a:solidFill>
                    <a:srgbClr val="122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/ </a:t>
              </a:r>
              <a:r>
                <a:rPr lang="en-US" dirty="0" err="1">
                  <a:solidFill>
                    <a:srgbClr val="122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vLLM</a:t>
              </a:r>
              <a:r>
                <a:rPr lang="en-US" dirty="0">
                  <a:solidFill>
                    <a:srgbClr val="122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inference</a:t>
              </a:r>
              <a:endParaRPr lang="en-US" dirty="0"/>
            </a:p>
          </p:txBody>
        </p:sp>
        <p:sp>
          <p:nvSpPr>
            <p:cNvPr id="265" name="Shape 34">
              <a:extLst>
                <a:ext uri="{FF2B5EF4-FFF2-40B4-BE49-F238E27FC236}">
                  <a16:creationId xmlns:a16="http://schemas.microsoft.com/office/drawing/2014/main" id="{5769CCCF-B589-0E27-66A4-B4DC8B264B2D}"/>
                </a:ext>
              </a:extLst>
            </p:cNvPr>
            <p:cNvSpPr/>
            <p:nvPr/>
          </p:nvSpPr>
          <p:spPr>
            <a:xfrm>
              <a:off x="9464040" y="3639312"/>
              <a:ext cx="365760" cy="365760"/>
            </a:xfrm>
            <a:prstGeom prst="ellipse">
              <a:avLst/>
            </a:prstGeom>
            <a:solidFill>
              <a:srgbClr val="0F1B3C"/>
            </a:solidFill>
            <a:ln/>
          </p:spPr>
        </p:sp>
        <p:pic>
          <p:nvPicPr>
            <p:cNvPr id="266" name="Image 9" descr="/home/claude/sih/icons/database_teal.png">
              <a:extLst>
                <a:ext uri="{FF2B5EF4-FFF2-40B4-BE49-F238E27FC236}">
                  <a16:creationId xmlns:a16="http://schemas.microsoft.com/office/drawing/2014/main" id="{7AA39BEB-EB69-836E-3EFC-9E576FBE5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46336" y="3721608"/>
              <a:ext cx="201168" cy="201168"/>
            </a:xfrm>
            <a:prstGeom prst="rect">
              <a:avLst/>
            </a:prstGeom>
          </p:spPr>
        </p:pic>
        <p:sp>
          <p:nvSpPr>
            <p:cNvPr id="267" name="Text 35">
              <a:extLst>
                <a:ext uri="{FF2B5EF4-FFF2-40B4-BE49-F238E27FC236}">
                  <a16:creationId xmlns:a16="http://schemas.microsoft.com/office/drawing/2014/main" id="{933129AF-2C74-C0A4-2FE0-7DAC0B034A47}"/>
                </a:ext>
              </a:extLst>
            </p:cNvPr>
            <p:cNvSpPr/>
            <p:nvPr/>
          </p:nvSpPr>
          <p:spPr>
            <a:xfrm>
              <a:off x="9921240" y="3639312"/>
              <a:ext cx="17830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122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Local vector DB (RAG)</a:t>
              </a:r>
              <a:endParaRPr lang="en-US" dirty="0"/>
            </a:p>
          </p:txBody>
        </p:sp>
        <p:sp>
          <p:nvSpPr>
            <p:cNvPr id="268" name="Shape 36">
              <a:extLst>
                <a:ext uri="{FF2B5EF4-FFF2-40B4-BE49-F238E27FC236}">
                  <a16:creationId xmlns:a16="http://schemas.microsoft.com/office/drawing/2014/main" id="{C72F1FE9-A5E0-B6F7-D3EA-50185793B821}"/>
                </a:ext>
              </a:extLst>
            </p:cNvPr>
            <p:cNvSpPr/>
            <p:nvPr/>
          </p:nvSpPr>
          <p:spPr>
            <a:xfrm>
              <a:off x="9464040" y="4078224"/>
              <a:ext cx="365760" cy="365760"/>
            </a:xfrm>
            <a:prstGeom prst="ellipse">
              <a:avLst/>
            </a:prstGeom>
            <a:solidFill>
              <a:srgbClr val="0F1B3C"/>
            </a:solidFill>
            <a:ln/>
          </p:spPr>
        </p:sp>
        <p:pic>
          <p:nvPicPr>
            <p:cNvPr id="269" name="Image 10" descr="/home/claude/sih/icons/eye_teal.png">
              <a:extLst>
                <a:ext uri="{FF2B5EF4-FFF2-40B4-BE49-F238E27FC236}">
                  <a16:creationId xmlns:a16="http://schemas.microsoft.com/office/drawing/2014/main" id="{EC2F3859-065F-50FE-4F44-5749EAFA5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546336" y="4160520"/>
              <a:ext cx="201168" cy="201168"/>
            </a:xfrm>
            <a:prstGeom prst="rect">
              <a:avLst/>
            </a:prstGeom>
          </p:spPr>
        </p:pic>
        <p:sp>
          <p:nvSpPr>
            <p:cNvPr id="270" name="Text 37">
              <a:extLst>
                <a:ext uri="{FF2B5EF4-FFF2-40B4-BE49-F238E27FC236}">
                  <a16:creationId xmlns:a16="http://schemas.microsoft.com/office/drawing/2014/main" id="{3BE4AF60-57EA-E8F1-F08F-394016177D4E}"/>
                </a:ext>
              </a:extLst>
            </p:cNvPr>
            <p:cNvSpPr/>
            <p:nvPr/>
          </p:nvSpPr>
          <p:spPr>
            <a:xfrm>
              <a:off x="9921240" y="4078224"/>
              <a:ext cx="17830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122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OCR + open vision model</a:t>
              </a:r>
              <a:endParaRPr lang="en-US" dirty="0"/>
            </a:p>
          </p:txBody>
        </p:sp>
        <p:sp>
          <p:nvSpPr>
            <p:cNvPr id="271" name="Shape 38">
              <a:extLst>
                <a:ext uri="{FF2B5EF4-FFF2-40B4-BE49-F238E27FC236}">
                  <a16:creationId xmlns:a16="http://schemas.microsoft.com/office/drawing/2014/main" id="{878D58B0-2AB2-0E8C-75F1-94B96FA9BE48}"/>
                </a:ext>
              </a:extLst>
            </p:cNvPr>
            <p:cNvSpPr/>
            <p:nvPr/>
          </p:nvSpPr>
          <p:spPr>
            <a:xfrm>
              <a:off x="9464040" y="4517136"/>
              <a:ext cx="365760" cy="365760"/>
            </a:xfrm>
            <a:prstGeom prst="ellipse">
              <a:avLst/>
            </a:prstGeom>
            <a:solidFill>
              <a:srgbClr val="0F1B3C"/>
            </a:solidFill>
            <a:ln/>
          </p:spPr>
        </p:sp>
        <p:pic>
          <p:nvPicPr>
            <p:cNvPr id="272" name="Image 11" descr="/home/claude/sih/icons/sandbox_teal.png">
              <a:extLst>
                <a:ext uri="{FF2B5EF4-FFF2-40B4-BE49-F238E27FC236}">
                  <a16:creationId xmlns:a16="http://schemas.microsoft.com/office/drawing/2014/main" id="{73E6F931-F84E-DC07-C467-E5827DD51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46336" y="4599432"/>
              <a:ext cx="201168" cy="201168"/>
            </a:xfrm>
            <a:prstGeom prst="rect">
              <a:avLst/>
            </a:prstGeom>
          </p:spPr>
        </p:pic>
        <p:sp>
          <p:nvSpPr>
            <p:cNvPr id="273" name="Text 39">
              <a:extLst>
                <a:ext uri="{FF2B5EF4-FFF2-40B4-BE49-F238E27FC236}">
                  <a16:creationId xmlns:a16="http://schemas.microsoft.com/office/drawing/2014/main" id="{5752438F-6F7D-CF0C-F744-CE8E9362B337}"/>
                </a:ext>
              </a:extLst>
            </p:cNvPr>
            <p:cNvSpPr/>
            <p:nvPr/>
          </p:nvSpPr>
          <p:spPr>
            <a:xfrm>
              <a:off x="9921240" y="4517136"/>
              <a:ext cx="17830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122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Sandboxed code exec</a:t>
              </a:r>
              <a:endParaRPr lang="en-US" dirty="0"/>
            </a:p>
          </p:txBody>
        </p:sp>
        <p:sp>
          <p:nvSpPr>
            <p:cNvPr id="274" name="Shape 40">
              <a:extLst>
                <a:ext uri="{FF2B5EF4-FFF2-40B4-BE49-F238E27FC236}">
                  <a16:creationId xmlns:a16="http://schemas.microsoft.com/office/drawing/2014/main" id="{84ED3D6F-DE94-4D1A-0AB5-BECD63E82315}"/>
                </a:ext>
              </a:extLst>
            </p:cNvPr>
            <p:cNvSpPr/>
            <p:nvPr/>
          </p:nvSpPr>
          <p:spPr>
            <a:xfrm>
              <a:off x="9464040" y="4956048"/>
              <a:ext cx="365760" cy="365760"/>
            </a:xfrm>
            <a:prstGeom prst="ellipse">
              <a:avLst/>
            </a:prstGeom>
            <a:solidFill>
              <a:srgbClr val="0F1B3C"/>
            </a:solidFill>
            <a:ln/>
          </p:spPr>
        </p:sp>
        <p:pic>
          <p:nvPicPr>
            <p:cNvPr id="275" name="Image 12" descr="/home/claude/sih/icons/audit_teal.png">
              <a:extLst>
                <a:ext uri="{FF2B5EF4-FFF2-40B4-BE49-F238E27FC236}">
                  <a16:creationId xmlns:a16="http://schemas.microsoft.com/office/drawing/2014/main" id="{929D3CF3-8088-5BCA-020D-9090B0452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546336" y="5038344"/>
              <a:ext cx="201168" cy="201168"/>
            </a:xfrm>
            <a:prstGeom prst="rect">
              <a:avLst/>
            </a:prstGeom>
          </p:spPr>
        </p:pic>
        <p:sp>
          <p:nvSpPr>
            <p:cNvPr id="276" name="Text 41">
              <a:extLst>
                <a:ext uri="{FF2B5EF4-FFF2-40B4-BE49-F238E27FC236}">
                  <a16:creationId xmlns:a16="http://schemas.microsoft.com/office/drawing/2014/main" id="{74C8BB51-D7A8-9382-C22E-688166E98447}"/>
                </a:ext>
              </a:extLst>
            </p:cNvPr>
            <p:cNvSpPr/>
            <p:nvPr/>
          </p:nvSpPr>
          <p:spPr>
            <a:xfrm>
              <a:off x="9921240" y="4956048"/>
              <a:ext cx="2084357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122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Network audit / zero-egress log</a:t>
              </a:r>
              <a:endParaRPr lang="en-US" dirty="0"/>
            </a:p>
          </p:txBody>
        </p:sp>
        <p:sp>
          <p:nvSpPr>
            <p:cNvPr id="277" name="Text 43">
              <a:extLst>
                <a:ext uri="{FF2B5EF4-FFF2-40B4-BE49-F238E27FC236}">
                  <a16:creationId xmlns:a16="http://schemas.microsoft.com/office/drawing/2014/main" id="{A46A5143-68FD-3D09-2911-262A88922DF9}"/>
                </a:ext>
              </a:extLst>
            </p:cNvPr>
            <p:cNvSpPr/>
            <p:nvPr/>
          </p:nvSpPr>
          <p:spPr>
            <a:xfrm>
              <a:off x="11521440" y="6528816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>
                  <a:solidFill>
                    <a:srgbClr val="5A6B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6B9309BD-1C6A-DBE6-B0E1-3ECBD3928F57}"/>
              </a:ext>
            </a:extLst>
          </p:cNvPr>
          <p:cNvGrpSpPr/>
          <p:nvPr/>
        </p:nvGrpSpPr>
        <p:grpSpPr>
          <a:xfrm>
            <a:off x="533400" y="495300"/>
            <a:ext cx="17221200" cy="10233660"/>
            <a:chOff x="457200" y="320040"/>
            <a:chExt cx="11521440" cy="6483096"/>
          </a:xfrm>
        </p:grpSpPr>
        <p:sp>
          <p:nvSpPr>
            <p:cNvPr id="46" name="Text 0">
              <a:extLst>
                <a:ext uri="{FF2B5EF4-FFF2-40B4-BE49-F238E27FC236}">
                  <a16:creationId xmlns:a16="http://schemas.microsoft.com/office/drawing/2014/main" id="{00F839B7-E14D-89F1-EB51-62AF1F2C9A61}"/>
                </a:ext>
              </a:extLst>
            </p:cNvPr>
            <p:cNvSpPr/>
            <p:nvPr/>
          </p:nvSpPr>
          <p:spPr>
            <a:xfrm>
              <a:off x="548640" y="320040"/>
              <a:ext cx="7315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200" b="1" kern="0" spc="200" dirty="0">
                  <a:solidFill>
                    <a:srgbClr val="00E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FEASIBILITY &amp; VIABILITY</a:t>
              </a:r>
              <a:endParaRPr lang="en-US" sz="3200" dirty="0"/>
            </a:p>
          </p:txBody>
        </p:sp>
        <p:sp>
          <p:nvSpPr>
            <p:cNvPr id="48" name="Text 1">
              <a:extLst>
                <a:ext uri="{FF2B5EF4-FFF2-40B4-BE49-F238E27FC236}">
                  <a16:creationId xmlns:a16="http://schemas.microsoft.com/office/drawing/2014/main" id="{81645683-3D2B-44CE-16D1-F59AAE134EEB}"/>
                </a:ext>
              </a:extLst>
            </p:cNvPr>
            <p:cNvSpPr/>
            <p:nvPr/>
          </p:nvSpPr>
          <p:spPr>
            <a:xfrm>
              <a:off x="548640" y="576072"/>
              <a:ext cx="110642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700" b="1" dirty="0">
                  <a:solidFill>
                    <a:srgbClr val="12203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Buildable Today, Scalable Tomorrow</a:t>
              </a:r>
              <a:endParaRPr lang="en-US" sz="2700" dirty="0"/>
            </a:p>
          </p:txBody>
        </p:sp>
        <p:sp>
          <p:nvSpPr>
            <p:cNvPr id="49" name="Shape 2">
              <a:extLst>
                <a:ext uri="{FF2B5EF4-FFF2-40B4-BE49-F238E27FC236}">
                  <a16:creationId xmlns:a16="http://schemas.microsoft.com/office/drawing/2014/main" id="{29CB25C7-E664-AB73-20D7-E3A3F5932488}"/>
                </a:ext>
              </a:extLst>
            </p:cNvPr>
            <p:cNvSpPr/>
            <p:nvPr/>
          </p:nvSpPr>
          <p:spPr>
            <a:xfrm>
              <a:off x="548640" y="1234440"/>
              <a:ext cx="5440680" cy="178308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12700">
              <a:solidFill>
                <a:srgbClr val="D9E1EC"/>
              </a:solidFill>
              <a:prstDash val="solid"/>
            </a:ln>
            <a:effectLst>
              <a:outerShdw blurRad="76200" dist="25400" dir="5400000" algn="bl" rotWithShape="0">
                <a:srgbClr val="9CACC7">
                  <a:alpha val="30000"/>
                </a:srgbClr>
              </a:outerShdw>
            </a:effectLst>
          </p:spPr>
        </p:sp>
        <p:sp>
          <p:nvSpPr>
            <p:cNvPr id="50" name="Shape 3">
              <a:extLst>
                <a:ext uri="{FF2B5EF4-FFF2-40B4-BE49-F238E27FC236}">
                  <a16:creationId xmlns:a16="http://schemas.microsoft.com/office/drawing/2014/main" id="{AA7F6A6E-3831-FD24-2CB3-5300F529FD87}"/>
                </a:ext>
              </a:extLst>
            </p:cNvPr>
            <p:cNvSpPr/>
            <p:nvPr/>
          </p:nvSpPr>
          <p:spPr>
            <a:xfrm>
              <a:off x="749808" y="1417320"/>
              <a:ext cx="457200" cy="457200"/>
            </a:xfrm>
            <a:prstGeom prst="ellipse">
              <a:avLst/>
            </a:prstGeom>
            <a:solidFill>
              <a:srgbClr val="0F1B3C"/>
            </a:solidFill>
            <a:ln/>
          </p:spPr>
        </p:sp>
        <p:pic>
          <p:nvPicPr>
            <p:cNvPr id="51" name="Image 0" descr="/home/claude/sih/icons/gear_teal.png">
              <a:extLst>
                <a:ext uri="{FF2B5EF4-FFF2-40B4-BE49-F238E27FC236}">
                  <a16:creationId xmlns:a16="http://schemas.microsoft.com/office/drawing/2014/main" id="{4AB69E0B-EC10-5361-625D-019C9D3F3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9536" y="1527048"/>
              <a:ext cx="237744" cy="237744"/>
            </a:xfrm>
            <a:prstGeom prst="rect">
              <a:avLst/>
            </a:prstGeom>
          </p:spPr>
        </p:pic>
        <p:sp>
          <p:nvSpPr>
            <p:cNvPr id="52" name="Text 4">
              <a:extLst>
                <a:ext uri="{FF2B5EF4-FFF2-40B4-BE49-F238E27FC236}">
                  <a16:creationId xmlns:a16="http://schemas.microsoft.com/office/drawing/2014/main" id="{1F6C8532-5154-5626-E027-28DEE7CE690F}"/>
                </a:ext>
              </a:extLst>
            </p:cNvPr>
            <p:cNvSpPr/>
            <p:nvPr/>
          </p:nvSpPr>
          <p:spPr>
            <a:xfrm>
              <a:off x="1335024" y="1435608"/>
              <a:ext cx="44805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22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Technical Feasibility</a:t>
              </a:r>
              <a:endParaRPr lang="en-US" sz="2000" dirty="0"/>
            </a:p>
          </p:txBody>
        </p:sp>
        <p:sp>
          <p:nvSpPr>
            <p:cNvPr id="53" name="Shape 5">
              <a:extLst>
                <a:ext uri="{FF2B5EF4-FFF2-40B4-BE49-F238E27FC236}">
                  <a16:creationId xmlns:a16="http://schemas.microsoft.com/office/drawing/2014/main" id="{AEC33676-167F-AF5B-705D-AF050A571086}"/>
                </a:ext>
              </a:extLst>
            </p:cNvPr>
            <p:cNvSpPr/>
            <p:nvPr/>
          </p:nvSpPr>
          <p:spPr>
            <a:xfrm>
              <a:off x="804672" y="2029968"/>
              <a:ext cx="73152" cy="73152"/>
            </a:xfrm>
            <a:prstGeom prst="ellipse">
              <a:avLst/>
            </a:prstGeom>
            <a:solidFill>
              <a:srgbClr val="00E5A8"/>
            </a:solidFill>
            <a:ln/>
          </p:spPr>
        </p:sp>
        <p:sp>
          <p:nvSpPr>
            <p:cNvPr id="54" name="Text 6">
              <a:extLst>
                <a:ext uri="{FF2B5EF4-FFF2-40B4-BE49-F238E27FC236}">
                  <a16:creationId xmlns:a16="http://schemas.microsoft.com/office/drawing/2014/main" id="{EA3E52B9-B9D5-99E1-70E9-8D8FB1882BAF}"/>
                </a:ext>
              </a:extLst>
            </p:cNvPr>
            <p:cNvSpPr/>
            <p:nvPr/>
          </p:nvSpPr>
          <p:spPr>
            <a:xfrm>
              <a:off x="987552" y="1947672"/>
              <a:ext cx="48006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5A6B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Open-weight models deployable locally today</a:t>
              </a:r>
              <a:endParaRPr lang="en-US" sz="2000" dirty="0"/>
            </a:p>
          </p:txBody>
        </p:sp>
        <p:sp>
          <p:nvSpPr>
            <p:cNvPr id="55" name="Shape 7">
              <a:extLst>
                <a:ext uri="{FF2B5EF4-FFF2-40B4-BE49-F238E27FC236}">
                  <a16:creationId xmlns:a16="http://schemas.microsoft.com/office/drawing/2014/main" id="{BECE5B4D-0406-EC6F-3575-53452CD4ACC4}"/>
                </a:ext>
              </a:extLst>
            </p:cNvPr>
            <p:cNvSpPr/>
            <p:nvPr/>
          </p:nvSpPr>
          <p:spPr>
            <a:xfrm>
              <a:off x="804672" y="2359152"/>
              <a:ext cx="73152" cy="73152"/>
            </a:xfrm>
            <a:prstGeom prst="ellipse">
              <a:avLst/>
            </a:prstGeom>
            <a:solidFill>
              <a:srgbClr val="00E5A8"/>
            </a:solidFill>
            <a:ln/>
          </p:spPr>
        </p:sp>
        <p:sp>
          <p:nvSpPr>
            <p:cNvPr id="56" name="Text 8">
              <a:extLst>
                <a:ext uri="{FF2B5EF4-FFF2-40B4-BE49-F238E27FC236}">
                  <a16:creationId xmlns:a16="http://schemas.microsoft.com/office/drawing/2014/main" id="{2ACA7F44-B2BB-B92E-40A2-E94563E678D4}"/>
                </a:ext>
              </a:extLst>
            </p:cNvPr>
            <p:cNvSpPr/>
            <p:nvPr/>
          </p:nvSpPr>
          <p:spPr>
            <a:xfrm>
              <a:off x="987552" y="2276856"/>
              <a:ext cx="48006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5A6B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Mature inference runtimes + local vector DBs</a:t>
              </a:r>
              <a:endParaRPr lang="en-US" sz="2000" dirty="0"/>
            </a:p>
          </p:txBody>
        </p:sp>
        <p:sp>
          <p:nvSpPr>
            <p:cNvPr id="57" name="Shape 9">
              <a:extLst>
                <a:ext uri="{FF2B5EF4-FFF2-40B4-BE49-F238E27FC236}">
                  <a16:creationId xmlns:a16="http://schemas.microsoft.com/office/drawing/2014/main" id="{67F853C6-266F-76C2-EF49-D6C42168A1E5}"/>
                </a:ext>
              </a:extLst>
            </p:cNvPr>
            <p:cNvSpPr/>
            <p:nvPr/>
          </p:nvSpPr>
          <p:spPr>
            <a:xfrm>
              <a:off x="804672" y="2688336"/>
              <a:ext cx="73152" cy="73152"/>
            </a:xfrm>
            <a:prstGeom prst="ellipse">
              <a:avLst/>
            </a:prstGeom>
            <a:solidFill>
              <a:srgbClr val="00E5A8"/>
            </a:solidFill>
            <a:ln/>
          </p:spPr>
        </p:sp>
        <p:sp>
          <p:nvSpPr>
            <p:cNvPr id="58" name="Text 10">
              <a:extLst>
                <a:ext uri="{FF2B5EF4-FFF2-40B4-BE49-F238E27FC236}">
                  <a16:creationId xmlns:a16="http://schemas.microsoft.com/office/drawing/2014/main" id="{3648E726-CDC3-2B99-156F-410DB83AD913}"/>
                </a:ext>
              </a:extLst>
            </p:cNvPr>
            <p:cNvSpPr/>
            <p:nvPr/>
          </p:nvSpPr>
          <p:spPr>
            <a:xfrm>
              <a:off x="987552" y="2606040"/>
              <a:ext cx="48006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5A6B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OCR/vision models run on modest GPUs</a:t>
              </a:r>
              <a:endParaRPr lang="en-US" sz="2000" dirty="0"/>
            </a:p>
          </p:txBody>
        </p:sp>
        <p:sp>
          <p:nvSpPr>
            <p:cNvPr id="59" name="Shape 11">
              <a:extLst>
                <a:ext uri="{FF2B5EF4-FFF2-40B4-BE49-F238E27FC236}">
                  <a16:creationId xmlns:a16="http://schemas.microsoft.com/office/drawing/2014/main" id="{6386F62B-7A5A-7BEF-C6EC-06ADCDAA6E56}"/>
                </a:ext>
              </a:extLst>
            </p:cNvPr>
            <p:cNvSpPr/>
            <p:nvPr/>
          </p:nvSpPr>
          <p:spPr>
            <a:xfrm>
              <a:off x="6309360" y="1234440"/>
              <a:ext cx="5440680" cy="178308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12700">
              <a:solidFill>
                <a:srgbClr val="D9E1EC"/>
              </a:solidFill>
              <a:prstDash val="solid"/>
            </a:ln>
            <a:effectLst>
              <a:outerShdw blurRad="76200" dist="25400" dir="5400000" algn="bl" rotWithShape="0">
                <a:srgbClr val="9CACC7">
                  <a:alpha val="30000"/>
                </a:srgbClr>
              </a:outerShdw>
            </a:effectLst>
          </p:spPr>
        </p:sp>
        <p:sp>
          <p:nvSpPr>
            <p:cNvPr id="60" name="Shape 12">
              <a:extLst>
                <a:ext uri="{FF2B5EF4-FFF2-40B4-BE49-F238E27FC236}">
                  <a16:creationId xmlns:a16="http://schemas.microsoft.com/office/drawing/2014/main" id="{02B4BA1B-295C-6736-AB9D-7E407B04DD3E}"/>
                </a:ext>
              </a:extLst>
            </p:cNvPr>
            <p:cNvSpPr/>
            <p:nvPr/>
          </p:nvSpPr>
          <p:spPr>
            <a:xfrm>
              <a:off x="6510528" y="1417320"/>
              <a:ext cx="457200" cy="457200"/>
            </a:xfrm>
            <a:prstGeom prst="ellipse">
              <a:avLst/>
            </a:prstGeom>
            <a:solidFill>
              <a:srgbClr val="0F1B3C"/>
            </a:solidFill>
            <a:ln/>
          </p:spPr>
        </p:sp>
        <p:pic>
          <p:nvPicPr>
            <p:cNvPr id="61" name="Image 1" descr="/home/claude/sih/icons/server_teal.png">
              <a:extLst>
                <a:ext uri="{FF2B5EF4-FFF2-40B4-BE49-F238E27FC236}">
                  <a16:creationId xmlns:a16="http://schemas.microsoft.com/office/drawing/2014/main" id="{DAC80CB0-1184-D7D7-0BE4-97B5751B3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20256" y="1527048"/>
              <a:ext cx="237744" cy="237744"/>
            </a:xfrm>
            <a:prstGeom prst="rect">
              <a:avLst/>
            </a:prstGeom>
          </p:spPr>
        </p:pic>
        <p:sp>
          <p:nvSpPr>
            <p:cNvPr id="62" name="Text 13">
              <a:extLst>
                <a:ext uri="{FF2B5EF4-FFF2-40B4-BE49-F238E27FC236}">
                  <a16:creationId xmlns:a16="http://schemas.microsoft.com/office/drawing/2014/main" id="{75590CD0-67F6-EAE4-ABC1-EEF2F8CAE72C}"/>
                </a:ext>
              </a:extLst>
            </p:cNvPr>
            <p:cNvSpPr/>
            <p:nvPr/>
          </p:nvSpPr>
          <p:spPr>
            <a:xfrm>
              <a:off x="7095744" y="1435608"/>
              <a:ext cx="44805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22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Deployment Feasibility</a:t>
              </a:r>
              <a:endParaRPr lang="en-US" sz="2000" dirty="0"/>
            </a:p>
          </p:txBody>
        </p:sp>
        <p:sp>
          <p:nvSpPr>
            <p:cNvPr id="63" name="Shape 14">
              <a:extLst>
                <a:ext uri="{FF2B5EF4-FFF2-40B4-BE49-F238E27FC236}">
                  <a16:creationId xmlns:a16="http://schemas.microsoft.com/office/drawing/2014/main" id="{5E6E9C0A-D861-ED40-1C42-BEC6FDF2D344}"/>
                </a:ext>
              </a:extLst>
            </p:cNvPr>
            <p:cNvSpPr/>
            <p:nvPr/>
          </p:nvSpPr>
          <p:spPr>
            <a:xfrm>
              <a:off x="6565392" y="2029968"/>
              <a:ext cx="73152" cy="73152"/>
            </a:xfrm>
            <a:prstGeom prst="ellipse">
              <a:avLst/>
            </a:prstGeom>
            <a:solidFill>
              <a:srgbClr val="5AB0FF"/>
            </a:solidFill>
            <a:ln/>
          </p:spPr>
        </p:sp>
        <p:sp>
          <p:nvSpPr>
            <p:cNvPr id="64" name="Text 15">
              <a:extLst>
                <a:ext uri="{FF2B5EF4-FFF2-40B4-BE49-F238E27FC236}">
                  <a16:creationId xmlns:a16="http://schemas.microsoft.com/office/drawing/2014/main" id="{9A251008-E83E-231F-398C-42CD69C55009}"/>
                </a:ext>
              </a:extLst>
            </p:cNvPr>
            <p:cNvSpPr/>
            <p:nvPr/>
          </p:nvSpPr>
          <p:spPr>
            <a:xfrm>
              <a:off x="6748272" y="1947672"/>
              <a:ext cx="48006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5A6B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MVP on a single workstation / server</a:t>
              </a:r>
              <a:endParaRPr lang="en-US" sz="2000" dirty="0"/>
            </a:p>
          </p:txBody>
        </p:sp>
        <p:sp>
          <p:nvSpPr>
            <p:cNvPr id="65" name="Shape 16">
              <a:extLst>
                <a:ext uri="{FF2B5EF4-FFF2-40B4-BE49-F238E27FC236}">
                  <a16:creationId xmlns:a16="http://schemas.microsoft.com/office/drawing/2014/main" id="{84096B70-4EDA-FF58-5550-58E79DEC8381}"/>
                </a:ext>
              </a:extLst>
            </p:cNvPr>
            <p:cNvSpPr/>
            <p:nvPr/>
          </p:nvSpPr>
          <p:spPr>
            <a:xfrm>
              <a:off x="6565392" y="2359152"/>
              <a:ext cx="73152" cy="73152"/>
            </a:xfrm>
            <a:prstGeom prst="ellipse">
              <a:avLst/>
            </a:prstGeom>
            <a:solidFill>
              <a:srgbClr val="5AB0FF"/>
            </a:solidFill>
            <a:ln/>
          </p:spPr>
        </p:sp>
        <p:sp>
          <p:nvSpPr>
            <p:cNvPr id="66" name="Text 17">
              <a:extLst>
                <a:ext uri="{FF2B5EF4-FFF2-40B4-BE49-F238E27FC236}">
                  <a16:creationId xmlns:a16="http://schemas.microsoft.com/office/drawing/2014/main" id="{EBC59D3F-8216-E74B-85C1-58A94D07ABDC}"/>
                </a:ext>
              </a:extLst>
            </p:cNvPr>
            <p:cNvSpPr/>
            <p:nvPr/>
          </p:nvSpPr>
          <p:spPr>
            <a:xfrm>
              <a:off x="6748272" y="2276856"/>
              <a:ext cx="48006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5A6B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Scales to multi-GPU infrastructure</a:t>
              </a:r>
              <a:endParaRPr lang="en-US" sz="2000" dirty="0"/>
            </a:p>
          </p:txBody>
        </p:sp>
        <p:sp>
          <p:nvSpPr>
            <p:cNvPr id="67" name="Shape 18">
              <a:extLst>
                <a:ext uri="{FF2B5EF4-FFF2-40B4-BE49-F238E27FC236}">
                  <a16:creationId xmlns:a16="http://schemas.microsoft.com/office/drawing/2014/main" id="{325FB5F4-A4DA-C458-4A45-DDE6F9A6E626}"/>
                </a:ext>
              </a:extLst>
            </p:cNvPr>
            <p:cNvSpPr/>
            <p:nvPr/>
          </p:nvSpPr>
          <p:spPr>
            <a:xfrm>
              <a:off x="6565392" y="2688336"/>
              <a:ext cx="73152" cy="73152"/>
            </a:xfrm>
            <a:prstGeom prst="ellipse">
              <a:avLst/>
            </a:prstGeom>
            <a:solidFill>
              <a:srgbClr val="5AB0FF"/>
            </a:solidFill>
            <a:ln/>
          </p:spPr>
        </p:sp>
        <p:sp>
          <p:nvSpPr>
            <p:cNvPr id="68" name="Text 19">
              <a:extLst>
                <a:ext uri="{FF2B5EF4-FFF2-40B4-BE49-F238E27FC236}">
                  <a16:creationId xmlns:a16="http://schemas.microsoft.com/office/drawing/2014/main" id="{FC71B4C4-7113-B3D6-7FDE-A2A82BDE1205}"/>
                </a:ext>
              </a:extLst>
            </p:cNvPr>
            <p:cNvSpPr/>
            <p:nvPr/>
          </p:nvSpPr>
          <p:spPr>
            <a:xfrm>
              <a:off x="6748272" y="2606040"/>
              <a:ext cx="48006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5A6B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Fully air-gapped LAN deployment</a:t>
              </a:r>
              <a:endParaRPr lang="en-US" sz="2000" dirty="0"/>
            </a:p>
          </p:txBody>
        </p:sp>
        <p:sp>
          <p:nvSpPr>
            <p:cNvPr id="69" name="Shape 20">
              <a:extLst>
                <a:ext uri="{FF2B5EF4-FFF2-40B4-BE49-F238E27FC236}">
                  <a16:creationId xmlns:a16="http://schemas.microsoft.com/office/drawing/2014/main" id="{9BDD2D5F-F050-6341-4A73-D98D21A5518E}"/>
                </a:ext>
              </a:extLst>
            </p:cNvPr>
            <p:cNvSpPr/>
            <p:nvPr/>
          </p:nvSpPr>
          <p:spPr>
            <a:xfrm>
              <a:off x="548639" y="3227832"/>
              <a:ext cx="5440680" cy="1837945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12700">
              <a:solidFill>
                <a:srgbClr val="D9E1EC"/>
              </a:solidFill>
              <a:prstDash val="solid"/>
            </a:ln>
            <a:effectLst>
              <a:outerShdw blurRad="76200" dist="25400" dir="5400000" algn="bl" rotWithShape="0">
                <a:srgbClr val="9CACC7">
                  <a:alpha val="30000"/>
                </a:srgbClr>
              </a:outerShdw>
            </a:effectLst>
          </p:spPr>
        </p:sp>
        <p:sp>
          <p:nvSpPr>
            <p:cNvPr id="70" name="Shape 21">
              <a:extLst>
                <a:ext uri="{FF2B5EF4-FFF2-40B4-BE49-F238E27FC236}">
                  <a16:creationId xmlns:a16="http://schemas.microsoft.com/office/drawing/2014/main" id="{33444CEA-CA40-4815-AB8E-B37F76104909}"/>
                </a:ext>
              </a:extLst>
            </p:cNvPr>
            <p:cNvSpPr/>
            <p:nvPr/>
          </p:nvSpPr>
          <p:spPr>
            <a:xfrm>
              <a:off x="749808" y="3474720"/>
              <a:ext cx="457200" cy="457200"/>
            </a:xfrm>
            <a:prstGeom prst="ellipse">
              <a:avLst/>
            </a:prstGeom>
            <a:solidFill>
              <a:srgbClr val="0F1B3C"/>
            </a:solidFill>
            <a:ln/>
          </p:spPr>
        </p:sp>
        <p:pic>
          <p:nvPicPr>
            <p:cNvPr id="71" name="Image 2" descr="/home/claude/sih/icons/lock_teal.png">
              <a:extLst>
                <a:ext uri="{FF2B5EF4-FFF2-40B4-BE49-F238E27FC236}">
                  <a16:creationId xmlns:a16="http://schemas.microsoft.com/office/drawing/2014/main" id="{D4EF8A88-4B63-C1BF-5A7B-90405EB98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9536" y="3584448"/>
              <a:ext cx="237744" cy="237744"/>
            </a:xfrm>
            <a:prstGeom prst="rect">
              <a:avLst/>
            </a:prstGeom>
          </p:spPr>
        </p:pic>
        <p:sp>
          <p:nvSpPr>
            <p:cNvPr id="72" name="Text 22">
              <a:extLst>
                <a:ext uri="{FF2B5EF4-FFF2-40B4-BE49-F238E27FC236}">
                  <a16:creationId xmlns:a16="http://schemas.microsoft.com/office/drawing/2014/main" id="{65642672-67F4-A964-7C45-DB4AF67EB6E9}"/>
                </a:ext>
              </a:extLst>
            </p:cNvPr>
            <p:cNvSpPr/>
            <p:nvPr/>
          </p:nvSpPr>
          <p:spPr>
            <a:xfrm>
              <a:off x="1335024" y="3493008"/>
              <a:ext cx="44805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22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Operational Feasibility</a:t>
              </a:r>
              <a:endParaRPr lang="en-US" sz="2000" dirty="0"/>
            </a:p>
          </p:txBody>
        </p:sp>
        <p:sp>
          <p:nvSpPr>
            <p:cNvPr id="73" name="Shape 23">
              <a:extLst>
                <a:ext uri="{FF2B5EF4-FFF2-40B4-BE49-F238E27FC236}">
                  <a16:creationId xmlns:a16="http://schemas.microsoft.com/office/drawing/2014/main" id="{EA33F802-1B7A-FD6F-DE28-EB709C4ECBAD}"/>
                </a:ext>
              </a:extLst>
            </p:cNvPr>
            <p:cNvSpPr/>
            <p:nvPr/>
          </p:nvSpPr>
          <p:spPr>
            <a:xfrm>
              <a:off x="804672" y="4087368"/>
              <a:ext cx="73152" cy="73152"/>
            </a:xfrm>
            <a:prstGeom prst="ellipse">
              <a:avLst/>
            </a:prstGeom>
            <a:solidFill>
              <a:srgbClr val="FFB454"/>
            </a:solidFill>
            <a:ln/>
          </p:spPr>
        </p:sp>
        <p:sp>
          <p:nvSpPr>
            <p:cNvPr id="74" name="Text 24">
              <a:extLst>
                <a:ext uri="{FF2B5EF4-FFF2-40B4-BE49-F238E27FC236}">
                  <a16:creationId xmlns:a16="http://schemas.microsoft.com/office/drawing/2014/main" id="{C6014A87-8730-953C-A27F-BC770686E69E}"/>
                </a:ext>
              </a:extLst>
            </p:cNvPr>
            <p:cNvSpPr/>
            <p:nvPr/>
          </p:nvSpPr>
          <p:spPr>
            <a:xfrm>
              <a:off x="987552" y="4005072"/>
              <a:ext cx="48006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5A6B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Role-based access control</a:t>
              </a:r>
              <a:endParaRPr lang="en-US" sz="2000" dirty="0"/>
            </a:p>
          </p:txBody>
        </p:sp>
        <p:sp>
          <p:nvSpPr>
            <p:cNvPr id="75" name="Shape 25">
              <a:extLst>
                <a:ext uri="{FF2B5EF4-FFF2-40B4-BE49-F238E27FC236}">
                  <a16:creationId xmlns:a16="http://schemas.microsoft.com/office/drawing/2014/main" id="{5E8D555E-5E64-35F1-2C60-E7D07EFB5D54}"/>
                </a:ext>
              </a:extLst>
            </p:cNvPr>
            <p:cNvSpPr/>
            <p:nvPr/>
          </p:nvSpPr>
          <p:spPr>
            <a:xfrm>
              <a:off x="804672" y="4416552"/>
              <a:ext cx="73152" cy="73152"/>
            </a:xfrm>
            <a:prstGeom prst="ellipse">
              <a:avLst/>
            </a:prstGeom>
            <a:solidFill>
              <a:srgbClr val="FFB454"/>
            </a:solidFill>
            <a:ln/>
          </p:spPr>
        </p:sp>
        <p:sp>
          <p:nvSpPr>
            <p:cNvPr id="76" name="Text 26">
              <a:extLst>
                <a:ext uri="{FF2B5EF4-FFF2-40B4-BE49-F238E27FC236}">
                  <a16:creationId xmlns:a16="http://schemas.microsoft.com/office/drawing/2014/main" id="{C9428818-D844-01DD-8DB2-C3FD71B2BF04}"/>
                </a:ext>
              </a:extLst>
            </p:cNvPr>
            <p:cNvSpPr/>
            <p:nvPr/>
          </p:nvSpPr>
          <p:spPr>
            <a:xfrm>
              <a:off x="987552" y="4334256"/>
              <a:ext cx="48006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5A6B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Full audit logs of every agent action</a:t>
              </a:r>
              <a:endParaRPr lang="en-US" sz="2000" dirty="0"/>
            </a:p>
          </p:txBody>
        </p:sp>
        <p:sp>
          <p:nvSpPr>
            <p:cNvPr id="77" name="Shape 27">
              <a:extLst>
                <a:ext uri="{FF2B5EF4-FFF2-40B4-BE49-F238E27FC236}">
                  <a16:creationId xmlns:a16="http://schemas.microsoft.com/office/drawing/2014/main" id="{91B8869B-5990-1900-C639-2D5A0686CCC9}"/>
                </a:ext>
              </a:extLst>
            </p:cNvPr>
            <p:cNvSpPr/>
            <p:nvPr/>
          </p:nvSpPr>
          <p:spPr>
            <a:xfrm>
              <a:off x="804672" y="4745736"/>
              <a:ext cx="73152" cy="73152"/>
            </a:xfrm>
            <a:prstGeom prst="ellipse">
              <a:avLst/>
            </a:prstGeom>
            <a:solidFill>
              <a:srgbClr val="FFB454"/>
            </a:solidFill>
            <a:ln/>
          </p:spPr>
        </p:sp>
        <p:sp>
          <p:nvSpPr>
            <p:cNvPr id="78" name="Text 28">
              <a:extLst>
                <a:ext uri="{FF2B5EF4-FFF2-40B4-BE49-F238E27FC236}">
                  <a16:creationId xmlns:a16="http://schemas.microsoft.com/office/drawing/2014/main" id="{F6F16BE7-DE15-88E4-2C4C-9C49106C45F0}"/>
                </a:ext>
              </a:extLst>
            </p:cNvPr>
            <p:cNvSpPr/>
            <p:nvPr/>
          </p:nvSpPr>
          <p:spPr>
            <a:xfrm>
              <a:off x="987552" y="4663440"/>
              <a:ext cx="48006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5A6B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Sandboxed, permission-scoped execution</a:t>
              </a:r>
              <a:endParaRPr lang="en-US" sz="2000" dirty="0"/>
            </a:p>
          </p:txBody>
        </p:sp>
        <p:sp>
          <p:nvSpPr>
            <p:cNvPr id="79" name="Shape 29">
              <a:extLst>
                <a:ext uri="{FF2B5EF4-FFF2-40B4-BE49-F238E27FC236}">
                  <a16:creationId xmlns:a16="http://schemas.microsoft.com/office/drawing/2014/main" id="{03EE7312-0BB2-2992-1584-9BC450ED24BA}"/>
                </a:ext>
              </a:extLst>
            </p:cNvPr>
            <p:cNvSpPr/>
            <p:nvPr/>
          </p:nvSpPr>
          <p:spPr>
            <a:xfrm>
              <a:off x="6309360" y="3291840"/>
              <a:ext cx="5440680" cy="178308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12700">
              <a:solidFill>
                <a:srgbClr val="D9E1EC"/>
              </a:solidFill>
              <a:prstDash val="solid"/>
            </a:ln>
            <a:effectLst>
              <a:outerShdw blurRad="76200" dist="25400" dir="5400000" algn="bl" rotWithShape="0">
                <a:srgbClr val="9CACC7">
                  <a:alpha val="30000"/>
                </a:srgbClr>
              </a:outerShdw>
            </a:effectLst>
          </p:spPr>
        </p:sp>
        <p:sp>
          <p:nvSpPr>
            <p:cNvPr id="80" name="Shape 30">
              <a:extLst>
                <a:ext uri="{FF2B5EF4-FFF2-40B4-BE49-F238E27FC236}">
                  <a16:creationId xmlns:a16="http://schemas.microsoft.com/office/drawing/2014/main" id="{21FB4C24-FA02-8893-D762-DAD48758C456}"/>
                </a:ext>
              </a:extLst>
            </p:cNvPr>
            <p:cNvSpPr/>
            <p:nvPr/>
          </p:nvSpPr>
          <p:spPr>
            <a:xfrm>
              <a:off x="6510528" y="3474720"/>
              <a:ext cx="457200" cy="457200"/>
            </a:xfrm>
            <a:prstGeom prst="ellipse">
              <a:avLst/>
            </a:prstGeom>
            <a:solidFill>
              <a:srgbClr val="0F1B3C"/>
            </a:solidFill>
            <a:ln/>
          </p:spPr>
        </p:sp>
        <p:pic>
          <p:nvPicPr>
            <p:cNvPr id="81" name="Image 3" descr="/home/claude/sih/icons/expand_teal.png">
              <a:extLst>
                <a:ext uri="{FF2B5EF4-FFF2-40B4-BE49-F238E27FC236}">
                  <a16:creationId xmlns:a16="http://schemas.microsoft.com/office/drawing/2014/main" id="{5B6F982A-9363-63B3-E84F-D806BE21B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20256" y="3584448"/>
              <a:ext cx="237744" cy="237744"/>
            </a:xfrm>
            <a:prstGeom prst="rect">
              <a:avLst/>
            </a:prstGeom>
          </p:spPr>
        </p:pic>
        <p:sp>
          <p:nvSpPr>
            <p:cNvPr id="82" name="Text 31">
              <a:extLst>
                <a:ext uri="{FF2B5EF4-FFF2-40B4-BE49-F238E27FC236}">
                  <a16:creationId xmlns:a16="http://schemas.microsoft.com/office/drawing/2014/main" id="{377134FC-9A24-52AA-B2F3-26105AB9C9BC}"/>
                </a:ext>
              </a:extLst>
            </p:cNvPr>
            <p:cNvSpPr/>
            <p:nvPr/>
          </p:nvSpPr>
          <p:spPr>
            <a:xfrm>
              <a:off x="7095744" y="3493008"/>
              <a:ext cx="44805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22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Scalability / Future</a:t>
              </a:r>
              <a:endParaRPr lang="en-US" sz="2000" dirty="0"/>
            </a:p>
          </p:txBody>
        </p:sp>
        <p:sp>
          <p:nvSpPr>
            <p:cNvPr id="83" name="Shape 32">
              <a:extLst>
                <a:ext uri="{FF2B5EF4-FFF2-40B4-BE49-F238E27FC236}">
                  <a16:creationId xmlns:a16="http://schemas.microsoft.com/office/drawing/2014/main" id="{CD1D41F3-BE50-D490-E8AB-32F4614078A6}"/>
                </a:ext>
              </a:extLst>
            </p:cNvPr>
            <p:cNvSpPr/>
            <p:nvPr/>
          </p:nvSpPr>
          <p:spPr>
            <a:xfrm>
              <a:off x="6565392" y="4087368"/>
              <a:ext cx="73152" cy="73152"/>
            </a:xfrm>
            <a:prstGeom prst="ellipse">
              <a:avLst/>
            </a:prstGeom>
            <a:solidFill>
              <a:srgbClr val="C792EA"/>
            </a:solidFill>
            <a:ln/>
          </p:spPr>
        </p:sp>
        <p:sp>
          <p:nvSpPr>
            <p:cNvPr id="84" name="Text 33">
              <a:extLst>
                <a:ext uri="{FF2B5EF4-FFF2-40B4-BE49-F238E27FC236}">
                  <a16:creationId xmlns:a16="http://schemas.microsoft.com/office/drawing/2014/main" id="{43D53C95-DA3A-819E-EECC-5E4C0ED27FB5}"/>
                </a:ext>
              </a:extLst>
            </p:cNvPr>
            <p:cNvSpPr/>
            <p:nvPr/>
          </p:nvSpPr>
          <p:spPr>
            <a:xfrm>
              <a:off x="6748272" y="4005072"/>
              <a:ext cx="48006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5A6B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Add new open-weight models, no re-architecture</a:t>
              </a:r>
              <a:endParaRPr lang="en-US" sz="2000" dirty="0"/>
            </a:p>
          </p:txBody>
        </p:sp>
        <p:sp>
          <p:nvSpPr>
            <p:cNvPr id="85" name="Shape 34">
              <a:extLst>
                <a:ext uri="{FF2B5EF4-FFF2-40B4-BE49-F238E27FC236}">
                  <a16:creationId xmlns:a16="http://schemas.microsoft.com/office/drawing/2014/main" id="{91A74E5C-A072-0AA9-FD3D-5E355F16ECF1}"/>
                </a:ext>
              </a:extLst>
            </p:cNvPr>
            <p:cNvSpPr/>
            <p:nvPr/>
          </p:nvSpPr>
          <p:spPr>
            <a:xfrm>
              <a:off x="6565392" y="4416552"/>
              <a:ext cx="73152" cy="73152"/>
            </a:xfrm>
            <a:prstGeom prst="ellipse">
              <a:avLst/>
            </a:prstGeom>
            <a:solidFill>
              <a:srgbClr val="C792EA"/>
            </a:solidFill>
            <a:ln/>
          </p:spPr>
        </p:sp>
        <p:sp>
          <p:nvSpPr>
            <p:cNvPr id="86" name="Text 35">
              <a:extLst>
                <a:ext uri="{FF2B5EF4-FFF2-40B4-BE49-F238E27FC236}">
                  <a16:creationId xmlns:a16="http://schemas.microsoft.com/office/drawing/2014/main" id="{50AC20C9-716C-A5A0-2280-EF472690932A}"/>
                </a:ext>
              </a:extLst>
            </p:cNvPr>
            <p:cNvSpPr/>
            <p:nvPr/>
          </p:nvSpPr>
          <p:spPr>
            <a:xfrm>
              <a:off x="6748272" y="4334256"/>
              <a:ext cx="48006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5A6B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Add new tools, formats, knowledge bases</a:t>
              </a:r>
              <a:endParaRPr lang="en-US" sz="2000" dirty="0"/>
            </a:p>
          </p:txBody>
        </p:sp>
        <p:sp>
          <p:nvSpPr>
            <p:cNvPr id="87" name="Shape 36">
              <a:extLst>
                <a:ext uri="{FF2B5EF4-FFF2-40B4-BE49-F238E27FC236}">
                  <a16:creationId xmlns:a16="http://schemas.microsoft.com/office/drawing/2014/main" id="{8CA032A8-651C-D152-7F25-6E388BFFBD9F}"/>
                </a:ext>
              </a:extLst>
            </p:cNvPr>
            <p:cNvSpPr/>
            <p:nvPr/>
          </p:nvSpPr>
          <p:spPr>
            <a:xfrm>
              <a:off x="6565392" y="4745736"/>
              <a:ext cx="73152" cy="73152"/>
            </a:xfrm>
            <a:prstGeom prst="ellipse">
              <a:avLst/>
            </a:prstGeom>
            <a:solidFill>
              <a:srgbClr val="C792EA"/>
            </a:solidFill>
            <a:ln/>
          </p:spPr>
        </p:sp>
        <p:sp>
          <p:nvSpPr>
            <p:cNvPr id="88" name="Text 37">
              <a:extLst>
                <a:ext uri="{FF2B5EF4-FFF2-40B4-BE49-F238E27FC236}">
                  <a16:creationId xmlns:a16="http://schemas.microsoft.com/office/drawing/2014/main" id="{CBDA5697-0979-CB1F-E6D6-A7C35C3501A1}"/>
                </a:ext>
              </a:extLst>
            </p:cNvPr>
            <p:cNvSpPr/>
            <p:nvPr/>
          </p:nvSpPr>
          <p:spPr>
            <a:xfrm>
              <a:off x="6748272" y="4663440"/>
              <a:ext cx="48006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5A6B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Grows: workstation → server → cluster</a:t>
              </a:r>
              <a:endParaRPr lang="en-US" sz="2000" dirty="0"/>
            </a:p>
          </p:txBody>
        </p:sp>
        <p:sp>
          <p:nvSpPr>
            <p:cNvPr id="89" name="Shape 38">
              <a:extLst>
                <a:ext uri="{FF2B5EF4-FFF2-40B4-BE49-F238E27FC236}">
                  <a16:creationId xmlns:a16="http://schemas.microsoft.com/office/drawing/2014/main" id="{B0C38905-8C84-222C-89BA-42E7C682C2D3}"/>
                </a:ext>
              </a:extLst>
            </p:cNvPr>
            <p:cNvSpPr/>
            <p:nvPr/>
          </p:nvSpPr>
          <p:spPr>
            <a:xfrm>
              <a:off x="457200" y="5623560"/>
              <a:ext cx="11292840" cy="822960"/>
            </a:xfrm>
            <a:prstGeom prst="roundRect">
              <a:avLst>
                <a:gd name="adj" fmla="val 8889"/>
              </a:avLst>
            </a:prstGeom>
            <a:solidFill>
              <a:srgbClr val="E9F0F7"/>
            </a:solidFill>
            <a:ln/>
          </p:spPr>
        </p:sp>
        <p:sp>
          <p:nvSpPr>
            <p:cNvPr id="90" name="Shape 39">
              <a:extLst>
                <a:ext uri="{FF2B5EF4-FFF2-40B4-BE49-F238E27FC236}">
                  <a16:creationId xmlns:a16="http://schemas.microsoft.com/office/drawing/2014/main" id="{B90882F3-47EF-2C44-1237-4B5016F938AE}"/>
                </a:ext>
              </a:extLst>
            </p:cNvPr>
            <p:cNvSpPr/>
            <p:nvPr/>
          </p:nvSpPr>
          <p:spPr>
            <a:xfrm>
              <a:off x="777240" y="5742432"/>
              <a:ext cx="3429000" cy="585216"/>
            </a:xfrm>
            <a:prstGeom prst="roundRect">
              <a:avLst>
                <a:gd name="adj" fmla="val 12500"/>
              </a:avLst>
            </a:prstGeom>
            <a:solidFill>
              <a:srgbClr val="1F3A5F"/>
            </a:solidFill>
            <a:ln/>
          </p:spPr>
        </p:sp>
        <p:sp>
          <p:nvSpPr>
            <p:cNvPr id="91" name="Text 40">
              <a:extLst>
                <a:ext uri="{FF2B5EF4-FFF2-40B4-BE49-F238E27FC236}">
                  <a16:creationId xmlns:a16="http://schemas.microsoft.com/office/drawing/2014/main" id="{4EE34957-E8E7-EB9B-C273-C2E4A162D620}"/>
                </a:ext>
              </a:extLst>
            </p:cNvPr>
            <p:cNvSpPr/>
            <p:nvPr/>
          </p:nvSpPr>
          <p:spPr>
            <a:xfrm>
              <a:off x="914400" y="5797296"/>
              <a:ext cx="315468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kern="0" spc="100" dirty="0">
                  <a:solidFill>
                    <a:srgbClr val="00E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MVP</a:t>
              </a:r>
              <a:endParaRPr lang="en-US" sz="2000" dirty="0"/>
            </a:p>
          </p:txBody>
        </p:sp>
        <p:sp>
          <p:nvSpPr>
            <p:cNvPr id="92" name="Text 41">
              <a:extLst>
                <a:ext uri="{FF2B5EF4-FFF2-40B4-BE49-F238E27FC236}">
                  <a16:creationId xmlns:a16="http://schemas.microsoft.com/office/drawing/2014/main" id="{7054C819-0933-2753-B35B-1F1359A5B380}"/>
                </a:ext>
              </a:extLst>
            </p:cNvPr>
            <p:cNvSpPr/>
            <p:nvPr/>
          </p:nvSpPr>
          <p:spPr>
            <a:xfrm>
              <a:off x="914400" y="6007608"/>
              <a:ext cx="31546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Local Workstation</a:t>
              </a:r>
              <a:endParaRPr lang="en-US" sz="2000" dirty="0"/>
            </a:p>
          </p:txBody>
        </p:sp>
        <p:sp>
          <p:nvSpPr>
            <p:cNvPr id="93" name="Text 42">
              <a:extLst>
                <a:ext uri="{FF2B5EF4-FFF2-40B4-BE49-F238E27FC236}">
                  <a16:creationId xmlns:a16="http://schemas.microsoft.com/office/drawing/2014/main" id="{7FA9ED62-B9CE-80E2-B8CA-627748207B67}"/>
                </a:ext>
              </a:extLst>
            </p:cNvPr>
            <p:cNvSpPr/>
            <p:nvPr/>
          </p:nvSpPr>
          <p:spPr>
            <a:xfrm>
              <a:off x="4206240" y="5742432"/>
              <a:ext cx="457200" cy="5852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5A6B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600" dirty="0"/>
            </a:p>
          </p:txBody>
        </p:sp>
        <p:sp>
          <p:nvSpPr>
            <p:cNvPr id="94" name="Shape 43">
              <a:extLst>
                <a:ext uri="{FF2B5EF4-FFF2-40B4-BE49-F238E27FC236}">
                  <a16:creationId xmlns:a16="http://schemas.microsoft.com/office/drawing/2014/main" id="{C608E8B6-818B-B1C6-DFFC-1B6296E87BC3}"/>
                </a:ext>
              </a:extLst>
            </p:cNvPr>
            <p:cNvSpPr/>
            <p:nvPr/>
          </p:nvSpPr>
          <p:spPr>
            <a:xfrm>
              <a:off x="4663440" y="5742432"/>
              <a:ext cx="3429000" cy="585216"/>
            </a:xfrm>
            <a:prstGeom prst="roundRect">
              <a:avLst>
                <a:gd name="adj" fmla="val 12500"/>
              </a:avLst>
            </a:prstGeom>
            <a:solidFill>
              <a:srgbClr val="00A87D"/>
            </a:solidFill>
            <a:ln/>
          </p:spPr>
        </p:sp>
        <p:sp>
          <p:nvSpPr>
            <p:cNvPr id="95" name="Text 44">
              <a:extLst>
                <a:ext uri="{FF2B5EF4-FFF2-40B4-BE49-F238E27FC236}">
                  <a16:creationId xmlns:a16="http://schemas.microsoft.com/office/drawing/2014/main" id="{665EEE20-42BD-0E00-36A7-74D3FF243C3D}"/>
                </a:ext>
              </a:extLst>
            </p:cNvPr>
            <p:cNvSpPr/>
            <p:nvPr/>
          </p:nvSpPr>
          <p:spPr>
            <a:xfrm>
              <a:off x="4800600" y="5797296"/>
              <a:ext cx="315468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kern="0" spc="100" dirty="0">
                  <a:solidFill>
                    <a:srgbClr val="00E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PRODUCTION</a:t>
              </a:r>
              <a:endParaRPr lang="en-US" sz="2000" dirty="0"/>
            </a:p>
          </p:txBody>
        </p:sp>
        <p:sp>
          <p:nvSpPr>
            <p:cNvPr id="96" name="Text 45">
              <a:extLst>
                <a:ext uri="{FF2B5EF4-FFF2-40B4-BE49-F238E27FC236}">
                  <a16:creationId xmlns:a16="http://schemas.microsoft.com/office/drawing/2014/main" id="{6BFD8634-73D8-72BD-9819-B7C006A7630D}"/>
                </a:ext>
              </a:extLst>
            </p:cNvPr>
            <p:cNvSpPr/>
            <p:nvPr/>
          </p:nvSpPr>
          <p:spPr>
            <a:xfrm>
              <a:off x="4800600" y="6007608"/>
              <a:ext cx="31546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On-Prem GPU Server</a:t>
              </a:r>
              <a:endParaRPr lang="en-US" sz="2000" dirty="0"/>
            </a:p>
          </p:txBody>
        </p:sp>
        <p:sp>
          <p:nvSpPr>
            <p:cNvPr id="97" name="Text 46">
              <a:extLst>
                <a:ext uri="{FF2B5EF4-FFF2-40B4-BE49-F238E27FC236}">
                  <a16:creationId xmlns:a16="http://schemas.microsoft.com/office/drawing/2014/main" id="{328D8A82-1B8F-7C71-34A6-676E5593FB9A}"/>
                </a:ext>
              </a:extLst>
            </p:cNvPr>
            <p:cNvSpPr/>
            <p:nvPr/>
          </p:nvSpPr>
          <p:spPr>
            <a:xfrm>
              <a:off x="8092440" y="5742432"/>
              <a:ext cx="457200" cy="5852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5A6B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600" dirty="0"/>
            </a:p>
          </p:txBody>
        </p:sp>
        <p:sp>
          <p:nvSpPr>
            <p:cNvPr id="98" name="Shape 47">
              <a:extLst>
                <a:ext uri="{FF2B5EF4-FFF2-40B4-BE49-F238E27FC236}">
                  <a16:creationId xmlns:a16="http://schemas.microsoft.com/office/drawing/2014/main" id="{AF653AE4-33E5-3133-086A-2410E1BC469D}"/>
                </a:ext>
              </a:extLst>
            </p:cNvPr>
            <p:cNvSpPr/>
            <p:nvPr/>
          </p:nvSpPr>
          <p:spPr>
            <a:xfrm>
              <a:off x="8549640" y="5742432"/>
              <a:ext cx="3429000" cy="585216"/>
            </a:xfrm>
            <a:prstGeom prst="roundRect">
              <a:avLst>
                <a:gd name="adj" fmla="val 12500"/>
              </a:avLst>
            </a:prstGeom>
            <a:solidFill>
              <a:srgbClr val="0F1B3C"/>
            </a:solidFill>
            <a:ln/>
          </p:spPr>
        </p:sp>
        <p:sp>
          <p:nvSpPr>
            <p:cNvPr id="99" name="Text 48">
              <a:extLst>
                <a:ext uri="{FF2B5EF4-FFF2-40B4-BE49-F238E27FC236}">
                  <a16:creationId xmlns:a16="http://schemas.microsoft.com/office/drawing/2014/main" id="{7C7AEAC6-60BE-552B-8326-B792BBF60D8D}"/>
                </a:ext>
              </a:extLst>
            </p:cNvPr>
            <p:cNvSpPr/>
            <p:nvPr/>
          </p:nvSpPr>
          <p:spPr>
            <a:xfrm>
              <a:off x="8686800" y="5797296"/>
              <a:ext cx="315468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kern="0" spc="100" dirty="0">
                  <a:solidFill>
                    <a:srgbClr val="00E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ENTERPRISE</a:t>
              </a:r>
              <a:endParaRPr lang="en-US" sz="2000" dirty="0"/>
            </a:p>
          </p:txBody>
        </p:sp>
        <p:sp>
          <p:nvSpPr>
            <p:cNvPr id="100" name="Text 49">
              <a:extLst>
                <a:ext uri="{FF2B5EF4-FFF2-40B4-BE49-F238E27FC236}">
                  <a16:creationId xmlns:a16="http://schemas.microsoft.com/office/drawing/2014/main" id="{27372489-2826-AE85-FCFE-B47D59F6A3CD}"/>
                </a:ext>
              </a:extLst>
            </p:cNvPr>
            <p:cNvSpPr/>
            <p:nvPr/>
          </p:nvSpPr>
          <p:spPr>
            <a:xfrm>
              <a:off x="8686800" y="6007608"/>
              <a:ext cx="31546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Air-Gapped Multi-User Deployment</a:t>
              </a:r>
              <a:endParaRPr lang="en-US" sz="2000" dirty="0"/>
            </a:p>
          </p:txBody>
        </p:sp>
        <p:sp>
          <p:nvSpPr>
            <p:cNvPr id="101" name="Text 51">
              <a:extLst>
                <a:ext uri="{FF2B5EF4-FFF2-40B4-BE49-F238E27FC236}">
                  <a16:creationId xmlns:a16="http://schemas.microsoft.com/office/drawing/2014/main" id="{E6805A0A-74A1-300B-F1E2-275D8040F46C}"/>
                </a:ext>
              </a:extLst>
            </p:cNvPr>
            <p:cNvSpPr/>
            <p:nvPr/>
          </p:nvSpPr>
          <p:spPr>
            <a:xfrm>
              <a:off x="11521440" y="6528816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5A6B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900" dirty="0"/>
            </a:p>
          </p:txBody>
        </p:sp>
      </p:grpSp>
      <p:pic>
        <p:nvPicPr>
          <p:cNvPr id="103" name="Picture 102">
            <a:extLst>
              <a:ext uri="{FF2B5EF4-FFF2-40B4-BE49-F238E27FC236}">
                <a16:creationId xmlns:a16="http://schemas.microsoft.com/office/drawing/2014/main" id="{39428B8F-E5F7-961C-7CC6-DB4A8A2A75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06600" y="120964"/>
            <a:ext cx="3581400" cy="16445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4108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19329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4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193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SIH26117  |  Sovereign On-Premise Agentic AI Workbench  |  MRPL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901724" y="2606040"/>
            <a:ext cx="14484096" cy="0"/>
          </a:xfrm>
          <a:prstGeom prst="line">
            <a:avLst/>
          </a:prstGeom>
          <a:noFill/>
          <a:ln w="9525">
            <a:solidFill>
              <a:srgbClr val="1E2761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90728" y="1371600"/>
            <a:ext cx="22219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several local models at once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01724" y="2633472"/>
            <a:ext cx="0" cy="315468"/>
          </a:xfrm>
          <a:prstGeom prst="line">
            <a:avLst/>
          </a:prstGeom>
          <a:noFill/>
          <a:ln w="9525">
            <a:solidFill>
              <a:srgbClr val="1E2761"/>
            </a:solidFill>
            <a:prstDash val="dash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90728" y="2948940"/>
            <a:ext cx="2221992" cy="2674620"/>
          </a:xfrm>
          <a:prstGeom prst="hexagon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0456" y="3195828"/>
            <a:ext cx="2002536" cy="182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/ vLLM:</a:t>
            </a:r>
            <a:endParaRPr lang="en-US" sz="1425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Multi-Model Serving</a:t>
            </a:r>
            <a:endParaRPr lang="en-US" sz="1425" dirty="0"/>
          </a:p>
        </p:txBody>
      </p:sp>
      <p:sp>
        <p:nvSpPr>
          <p:cNvPr id="11" name="Text 9">
            <a:hlinkClick r:id="rId3"/>
          </p:cNvPr>
          <p:cNvSpPr txBox="1"/>
          <p:nvPr/>
        </p:nvSpPr>
        <p:spPr>
          <a:xfrm>
            <a:off x="790728" y="507492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 rot="5400000">
            <a:off x="3026436" y="4203954"/>
            <a:ext cx="164592" cy="16459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04744" y="1371600"/>
            <a:ext cx="22219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weights now match cloud-tier quality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15740" y="2633472"/>
            <a:ext cx="0" cy="315468"/>
          </a:xfrm>
          <a:prstGeom prst="line">
            <a:avLst/>
          </a:prstGeom>
          <a:noFill/>
          <a:ln w="9525">
            <a:solidFill>
              <a:srgbClr val="1E2761"/>
            </a:solidFill>
            <a:prstDash val="dash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04744" y="2948940"/>
            <a:ext cx="2221992" cy="2674620"/>
          </a:xfrm>
          <a:prstGeom prst="hexagon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14472" y="3195828"/>
            <a:ext cx="2002536" cy="182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Family:</a:t>
            </a:r>
            <a:endParaRPr lang="en-US" sz="1425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Reason, Code, Vision</a:t>
            </a:r>
            <a:endParaRPr lang="en-US" sz="1425" dirty="0"/>
          </a:p>
        </p:txBody>
      </p:sp>
      <p:sp>
        <p:nvSpPr>
          <p:cNvPr id="17" name="Text 15">
            <a:hlinkClick r:id="rId4"/>
          </p:cNvPr>
          <p:cNvSpPr txBox="1"/>
          <p:nvPr/>
        </p:nvSpPr>
        <p:spPr>
          <a:xfrm>
            <a:off x="3204744" y="507492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 rot="5400000">
            <a:off x="5440452" y="4203954"/>
            <a:ext cx="164592" cy="16459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18760" y="1371600"/>
            <a:ext cx="22219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tasks into plan-act-observe loops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29756" y="2633472"/>
            <a:ext cx="0" cy="315468"/>
          </a:xfrm>
          <a:prstGeom prst="line">
            <a:avLst/>
          </a:prstGeom>
          <a:noFill/>
          <a:ln w="9525">
            <a:solidFill>
              <a:srgbClr val="1E2761"/>
            </a:solidFill>
            <a:prstDash val="dash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618760" y="2948940"/>
            <a:ext cx="2221992" cy="2674620"/>
          </a:xfrm>
          <a:prstGeom prst="hexagon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28488" y="3195828"/>
            <a:ext cx="2002536" cy="182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</a:t>
            </a:r>
            <a:endParaRPr lang="en-US" sz="1425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Planning &amp; Tool Calls</a:t>
            </a:r>
            <a:endParaRPr lang="en-US" sz="1425" dirty="0"/>
          </a:p>
        </p:txBody>
      </p:sp>
      <p:sp>
        <p:nvSpPr>
          <p:cNvPr id="23" name="Text 21">
            <a:hlinkClick r:id="rId5"/>
          </p:cNvPr>
          <p:cNvSpPr txBox="1"/>
          <p:nvPr/>
        </p:nvSpPr>
        <p:spPr>
          <a:xfrm>
            <a:off x="5618760" y="507492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 rot="5400000">
            <a:off x="7854468" y="4203954"/>
            <a:ext cx="164592" cy="16459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32776" y="1371600"/>
            <a:ext cx="22219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scans and drawings without the cloud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3772" y="2633472"/>
            <a:ext cx="0" cy="315468"/>
          </a:xfrm>
          <a:prstGeom prst="line">
            <a:avLst/>
          </a:prstGeom>
          <a:noFill/>
          <a:ln w="9525">
            <a:solidFill>
              <a:srgbClr val="1E2761"/>
            </a:solidFill>
            <a:prstDash val="dash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032776" y="2948940"/>
            <a:ext cx="2221992" cy="2674620"/>
          </a:xfrm>
          <a:prstGeom prst="hexagon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42504" y="3195828"/>
            <a:ext cx="2002536" cy="182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PaddleOCR:</a:t>
            </a:r>
            <a:endParaRPr lang="en-US" sz="1425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Scan &amp; Handwriting Read</a:t>
            </a:r>
            <a:endParaRPr lang="en-US" sz="1425" dirty="0"/>
          </a:p>
        </p:txBody>
      </p:sp>
      <p:sp>
        <p:nvSpPr>
          <p:cNvPr id="29" name="Text 27">
            <a:hlinkClick r:id="rId6"/>
          </p:cNvPr>
          <p:cNvSpPr txBox="1"/>
          <p:nvPr/>
        </p:nvSpPr>
        <p:spPr>
          <a:xfrm>
            <a:off x="8032776" y="507492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 rot="5400000">
            <a:off x="10268484" y="4203954"/>
            <a:ext cx="164592" cy="16459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446792" y="1371600"/>
            <a:ext cx="22219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answers in local knowledge, fast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1557788" y="2633472"/>
            <a:ext cx="0" cy="315468"/>
          </a:xfrm>
          <a:prstGeom prst="line">
            <a:avLst/>
          </a:prstGeom>
          <a:noFill/>
          <a:ln w="9525">
            <a:solidFill>
              <a:srgbClr val="1E2761"/>
            </a:solidFill>
            <a:prstDash val="dash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446792" y="2948940"/>
            <a:ext cx="2221992" cy="2674620"/>
          </a:xfrm>
          <a:prstGeom prst="hexagon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556520" y="3195828"/>
            <a:ext cx="2002536" cy="182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Qdrant:</a:t>
            </a:r>
            <a:endParaRPr lang="en-US" sz="1425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 DB for RAG</a:t>
            </a:r>
            <a:endParaRPr lang="en-US" sz="1425" dirty="0"/>
          </a:p>
        </p:txBody>
      </p:sp>
      <p:sp>
        <p:nvSpPr>
          <p:cNvPr id="35" name="Text 33">
            <a:hlinkClick r:id="rId7"/>
          </p:cNvPr>
          <p:cNvSpPr txBox="1"/>
          <p:nvPr/>
        </p:nvSpPr>
        <p:spPr>
          <a:xfrm>
            <a:off x="10446792" y="507492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 rot="5400000">
            <a:off x="12682500" y="4203954"/>
            <a:ext cx="164592" cy="16459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2860808" y="1371600"/>
            <a:ext cx="22219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technique behind our RAG design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3971804" y="2633472"/>
            <a:ext cx="0" cy="315468"/>
          </a:xfrm>
          <a:prstGeom prst="line">
            <a:avLst/>
          </a:prstGeom>
          <a:noFill/>
          <a:ln w="9525">
            <a:solidFill>
              <a:srgbClr val="1E2761"/>
            </a:solidFill>
            <a:prstDash val="dash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2860808" y="2948940"/>
            <a:ext cx="2221992" cy="2674620"/>
          </a:xfrm>
          <a:prstGeom prst="hexagon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2970536" y="3195828"/>
            <a:ext cx="2002536" cy="182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et al., 2020:</a:t>
            </a:r>
            <a:endParaRPr lang="en-US" sz="1425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425" dirty="0"/>
          </a:p>
        </p:txBody>
      </p:sp>
      <p:sp>
        <p:nvSpPr>
          <p:cNvPr id="41" name="Text 39">
            <a:hlinkClick r:id="rId8"/>
          </p:cNvPr>
          <p:cNvSpPr txBox="1"/>
          <p:nvPr/>
        </p:nvSpPr>
        <p:spPr>
          <a:xfrm>
            <a:off x="12860808" y="507492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 rot="5400000">
            <a:off x="15096516" y="4203954"/>
            <a:ext cx="164592" cy="16459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5274824" y="1371600"/>
            <a:ext cx="22219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data must legally stay on-prem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6385820" y="2633472"/>
            <a:ext cx="0" cy="315468"/>
          </a:xfrm>
          <a:prstGeom prst="line">
            <a:avLst/>
          </a:prstGeom>
          <a:noFill/>
          <a:ln w="9525">
            <a:solidFill>
              <a:srgbClr val="1E2761"/>
            </a:solidFill>
            <a:prstDash val="dash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5274824" y="2948940"/>
            <a:ext cx="2221992" cy="2674620"/>
          </a:xfrm>
          <a:prstGeom prst="hexagon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5384552" y="3195828"/>
            <a:ext cx="2002536" cy="182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Act, 2023:</a:t>
            </a:r>
            <a:endParaRPr lang="en-US" sz="1425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Data-Localisation Mandate</a:t>
            </a:r>
            <a:endParaRPr lang="en-US" sz="1425" dirty="0"/>
          </a:p>
        </p:txBody>
      </p:sp>
      <p:sp>
        <p:nvSpPr>
          <p:cNvPr id="47" name="Text 45">
            <a:hlinkClick r:id="rId9"/>
          </p:cNvPr>
          <p:cNvSpPr txBox="1"/>
          <p:nvPr/>
        </p:nvSpPr>
        <p:spPr>
          <a:xfrm>
            <a:off x="15274824" y="507492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0" y="6035040"/>
            <a:ext cx="18287542" cy="4251960"/>
          </a:xfrm>
          <a:prstGeom prst="rect">
            <a:avLst/>
          </a:prstGeom>
          <a:solidFill>
            <a:srgbClr val="9C9A93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14127480" y="628192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900" b="1" dirty="0">
                <a:solidFill>
                  <a:srgbClr val="C9C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/ UX</a:t>
            </a:r>
            <a:endParaRPr lang="en-US" sz="3900" dirty="0"/>
          </a:p>
        </p:txBody>
      </p:sp>
      <p:sp>
        <p:nvSpPr>
          <p:cNvPr id="50" name="Shape 48"/>
          <p:cNvSpPr/>
          <p:nvPr/>
        </p:nvSpPr>
        <p:spPr>
          <a:xfrm>
            <a:off x="14538960" y="7063740"/>
            <a:ext cx="1508760" cy="1234440"/>
          </a:xfrm>
          <a:prstGeom prst="line">
            <a:avLst/>
          </a:prstGeom>
          <a:noFill/>
          <a:ln w="38100">
            <a:solidFill>
              <a:srgbClr val="C9C7C0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371600" y="6652260"/>
            <a:ext cx="7680960" cy="322326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1577340" y="6858000"/>
            <a:ext cx="7269480" cy="54864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577340" y="6858000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AI WORKBENCH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2194560" y="7584948"/>
            <a:ext cx="6172200" cy="617220"/>
          </a:xfrm>
          <a:prstGeom prst="roundRect">
            <a:avLst>
              <a:gd name="adj" fmla="val 13333"/>
            </a:avLst>
          </a:prstGeom>
          <a:solidFill>
            <a:srgbClr val="EAF0FC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2359152" y="7584948"/>
            <a:ext cx="58978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“Draft an approval note from this scanned report.”</a:t>
            </a:r>
            <a:endParaRPr lang="en-US" sz="1425" dirty="0"/>
          </a:p>
        </p:txBody>
      </p:sp>
      <p:sp>
        <p:nvSpPr>
          <p:cNvPr id="56" name="Shape 54"/>
          <p:cNvSpPr/>
          <p:nvPr/>
        </p:nvSpPr>
        <p:spPr>
          <a:xfrm>
            <a:off x="1577340" y="8353044"/>
            <a:ext cx="2880360" cy="41148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1577340" y="835304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→ Qwen2.5-14B + RAG</a:t>
            </a:r>
            <a:endParaRPr lang="en-US" sz="1125" dirty="0"/>
          </a:p>
        </p:txBody>
      </p:sp>
      <p:sp>
        <p:nvSpPr>
          <p:cNvPr id="58" name="Shape 56"/>
          <p:cNvSpPr/>
          <p:nvPr/>
        </p:nvSpPr>
        <p:spPr>
          <a:xfrm>
            <a:off x="1577340" y="8915400"/>
            <a:ext cx="7269480" cy="795528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755648" y="8983980"/>
            <a:ext cx="6912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 </a:t>
            </a: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scan → search SOP → draft → verify</a:t>
            </a:r>
            <a:endParaRPr lang="en-US" sz="1350" dirty="0"/>
          </a:p>
        </p:txBody>
      </p:sp>
      <p:sp>
        <p:nvSpPr>
          <p:cNvPr id="60" name="Shape 58"/>
          <p:cNvSpPr/>
          <p:nvPr/>
        </p:nvSpPr>
        <p:spPr>
          <a:xfrm>
            <a:off x="7543800" y="6172200"/>
            <a:ext cx="4800600" cy="20574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818120" y="63779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AUDIT MONITOR</a:t>
            </a:r>
            <a:endParaRPr lang="en-US" sz="1425" dirty="0"/>
          </a:p>
        </p:txBody>
      </p:sp>
      <p:sp>
        <p:nvSpPr>
          <p:cNvPr id="62" name="Shape 60"/>
          <p:cNvSpPr/>
          <p:nvPr/>
        </p:nvSpPr>
        <p:spPr>
          <a:xfrm>
            <a:off x="7818120" y="6926580"/>
            <a:ext cx="178308" cy="178308"/>
          </a:xfrm>
          <a:prstGeom prst="ellipse">
            <a:avLst/>
          </a:prstGeom>
          <a:solidFill>
            <a:srgbClr val="3CB371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8119872" y="683056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secure</a:t>
            </a:r>
            <a:endParaRPr lang="en-US" sz="1425" dirty="0"/>
          </a:p>
        </p:txBody>
      </p:sp>
      <p:sp>
        <p:nvSpPr>
          <p:cNvPr id="64" name="Text 62"/>
          <p:cNvSpPr txBox="1"/>
          <p:nvPr/>
        </p:nvSpPr>
        <p:spPr>
          <a:xfrm>
            <a:off x="7818120" y="73380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requests today:  0</a:t>
            </a:r>
            <a:endParaRPr lang="en-US" sz="1425" dirty="0"/>
          </a:p>
        </p:txBody>
      </p:sp>
      <p:sp>
        <p:nvSpPr>
          <p:cNvPr id="65" name="Text 63"/>
          <p:cNvSpPr txBox="1"/>
          <p:nvPr/>
        </p:nvSpPr>
        <p:spPr>
          <a:xfrm>
            <a:off x="7818120" y="772210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 + tool calls served on-premise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1371600" y="9875520"/>
            <a:ext cx="1165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E9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UI concept for the on-prem workbench console — not a live product screenshot</a:t>
            </a:r>
            <a:endParaRPr lang="en-US" sz="1350" dirty="0"/>
          </a:p>
        </p:txBody>
      </p:sp>
      <p:sp>
        <p:nvSpPr>
          <p:cNvPr id="67" name="Shape 65"/>
          <p:cNvSpPr/>
          <p:nvPr/>
        </p:nvSpPr>
        <p:spPr>
          <a:xfrm>
            <a:off x="0" y="10218420"/>
            <a:ext cx="18287542" cy="6858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CEA65F10-E827-E7B1-1104-DF317BC8B3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538960" y="42863"/>
            <a:ext cx="3600450" cy="18002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</TotalTime>
  <Words>507</Words>
  <Application>Microsoft Office PowerPoint</Application>
  <PresentationFormat>Custom</PresentationFormat>
  <Paragraphs>148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SimSun</vt:lpstr>
      <vt:lpstr>Arial</vt:lpstr>
      <vt:lpstr>Arial MT</vt:lpstr>
      <vt:lpstr>Calibri</vt:lpstr>
      <vt:lpstr>Cambria</vt:lpstr>
      <vt:lpstr>Lucida Sans Unicode</vt:lpstr>
      <vt:lpstr>Roboto</vt:lpstr>
      <vt:lpstr>Shantell Sans</vt:lpstr>
      <vt:lpstr>Times New Roman</vt:lpstr>
      <vt:lpstr>Office Theme</vt:lpstr>
      <vt:lpstr>Office Theme</vt:lpstr>
      <vt:lpstr>Office Theme</vt:lpstr>
      <vt:lpstr>SMART INDIA HACKATHON 2025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Lanezy PPT</dc:title>
  <dc:creator>Devang Singh</dc:creator>
  <cp:keywords>DAGyRk44MmQ,BAFWb94jM3U</cp:keywords>
  <cp:lastModifiedBy>raj patel</cp:lastModifiedBy>
  <cp:revision>10</cp:revision>
  <dcterms:created xsi:type="dcterms:W3CDTF">2026-09-04T08:23:36Z</dcterms:created>
  <dcterms:modified xsi:type="dcterms:W3CDTF">2026-09-09T14:57:31Z</dcterms:modified>
</cp:coreProperties>
</file>